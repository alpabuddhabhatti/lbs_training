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3" r:id="rId34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4" r:id="rId35"/>
    <p:sldId id="285" r:id="rId36"/>
    <p:sldId id="286" r:id="rId37"/>
    <p:sldId id="292" r:id="rId43"/>
    <p:sldId id="293" r:id="rId44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7" r:id="rId38"/>
    <p:sldId id="288" r:id="rId39"/>
    <p:sldId id="289" r:id="rId40"/>
    <p:sldId id="290" r:id="rId41"/>
    <p:sldId id="291" r:id="rId42"/>
    <p:sldId id="294" r:id="rId45"/>
    <p:sldId id="295" r:id="rId46"/>
    <p:sldId id="296" r:id="rId47"/>
    <p:sldId id="297" r:id="rId4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34.xml"/><Relationship Id="rId21" Type="http://schemas.openxmlformats.org/officeDocument/2006/relationships/slide" Target="slides/slide35.xml"/><Relationship Id="rId22" Type="http://schemas.openxmlformats.org/officeDocument/2006/relationships/slide" Target="slides/slide36.xml"/><Relationship Id="rId23" Type="http://schemas.openxmlformats.org/officeDocument/2006/relationships/slide" Target="slides/slide37.xml"/><Relationship Id="rId24" Type="http://schemas.openxmlformats.org/officeDocument/2006/relationships/slide" Target="slides/slide38.xml"/><Relationship Id="rId25" Type="http://schemas.openxmlformats.org/officeDocument/2006/relationships/slide" Target="slides/slide39.xml"/><Relationship Id="rId26" Type="http://schemas.openxmlformats.org/officeDocument/2006/relationships/slide" Target="slides/slide40.xml"/><Relationship Id="rId27" Type="http://schemas.openxmlformats.org/officeDocument/2006/relationships/slide" Target="slides/slide41.xml"/><Relationship Id="rId28" Type="http://schemas.openxmlformats.org/officeDocument/2006/relationships/slide" Target="slides/slide42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Build connected, intelligent Azure applications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Azure fundamentals to messaging, practical integration and Microsoft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10927080" cy="2286000"/>
          </a:xfrm>
          <a:prstGeom prst="roundRect">
            <a:avLst>
              <a:gd name="adj" fmla="val 6400"/>
            </a:avLst>
          </a:prstGeom>
          <a:solidFill>
            <a:srgbClr val="101D35"/>
          </a:solidFill>
          <a:ln w="12700">
            <a:solidFill>
              <a:srgbClr val="101D3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281635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 →  Create  →  Demonstrate  →  Explain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1143000" y="50749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Experienced developers • Azure beginners • Fictional building-society scenario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learning journey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09:45–17:30 • Instructor demonstration followed by guided practice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10515600" cy="466344"/>
          </a:xfrm>
          <a:prstGeom prst="roundRect">
            <a:avLst>
              <a:gd name="adj" fmla="val 3137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9264" y="2039112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09:45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76272" y="2029968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recap and architecture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2532888"/>
            <a:ext cx="10515600" cy="466344"/>
          </a:xfrm>
          <a:prstGeom prst="roundRect">
            <a:avLst>
              <a:gd name="adj" fmla="val 31373"/>
            </a:avLst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9264" y="260604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10:25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76272" y="2596896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Service Bus: why, what and how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3099816"/>
            <a:ext cx="10515600" cy="466344"/>
          </a:xfrm>
          <a:prstGeom prst="roundRect">
            <a:avLst>
              <a:gd name="adj" fmla="val 3137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9264" y="3172968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11:45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76272" y="316382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lab + short SQL / Functions demo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3666744"/>
            <a:ext cx="10515600" cy="466344"/>
          </a:xfrm>
          <a:prstGeom prst="roundRect">
            <a:avLst>
              <a:gd name="adj" fmla="val 31373"/>
            </a:avLst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9264" y="3739896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76272" y="3730752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Azure AI: services and selection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4233672"/>
            <a:ext cx="10515600" cy="466344"/>
          </a:xfrm>
          <a:prstGeom prst="roundRect">
            <a:avLst>
              <a:gd name="adj" fmla="val 3137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69264" y="4306824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176272" y="429768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 practical walkthrough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" y="4800600"/>
            <a:ext cx="10515600" cy="466344"/>
          </a:xfrm>
          <a:prstGeom prst="roundRect">
            <a:avLst>
              <a:gd name="adj" fmla="val 31373"/>
            </a:avLst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69264" y="4873752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16:00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176272" y="4864608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scenario and design discussion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40" y="5367528"/>
            <a:ext cx="10515600" cy="466344"/>
          </a:xfrm>
          <a:prstGeom prst="roundRect">
            <a:avLst>
              <a:gd name="adj" fmla="val 3137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69264" y="544068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17:00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176272" y="5431536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and safe cleanup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Day 1 recap | Azure foundations, identity, compute and monitoring</a:t>
            </a:r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refresher: the Azure services and concepts already introduced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993392"/>
            <a:ext cx="5303520" cy="1143000"/>
          </a:xfrm>
          <a:prstGeom prst="roundRect">
            <a:avLst>
              <a:gd name="adj" fmla="val 12800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" y="1993392"/>
            <a:ext cx="64008" cy="114300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157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service models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Pizza analogy: IaaS, PaaS, SaaS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993392"/>
            <a:ext cx="5303520" cy="1143000"/>
          </a:xfrm>
          <a:prstGeom prst="roundRect">
            <a:avLst>
              <a:gd name="adj" fmla="val 12800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72200" y="1993392"/>
            <a:ext cx="64008" cy="1143000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2157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organisation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tenant: identity | Management group → subscription → RG → resource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300984"/>
            <a:ext cx="5303520" cy="1143000"/>
          </a:xfrm>
          <a:prstGeom prst="roundRect">
            <a:avLst>
              <a:gd name="adj" fmla="val 12800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5800" y="3300984"/>
            <a:ext cx="64008" cy="114300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400" y="391363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identity, app registration, service principal and enterprise application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3300984"/>
            <a:ext cx="5303520" cy="1143000"/>
          </a:xfrm>
          <a:prstGeom prst="roundRect">
            <a:avLst>
              <a:gd name="adj" fmla="val 12800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172200" y="3300984"/>
            <a:ext cx="64008" cy="1143000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and orchestration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00800" y="39593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Functions and Logic Apps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4608576"/>
            <a:ext cx="5303520" cy="1143000"/>
          </a:xfrm>
          <a:prstGeom prst="roundRect">
            <a:avLst>
              <a:gd name="adj" fmla="val 12800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85800" y="4608576"/>
            <a:ext cx="64008" cy="114300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4773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testing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14400" y="52669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Storage and Azure Load Testing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72200" y="4608576"/>
            <a:ext cx="5303520" cy="1143000"/>
          </a:xfrm>
          <a:prstGeom prst="roundRect">
            <a:avLst>
              <a:gd name="adj" fmla="val 12800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72200" y="4608576"/>
            <a:ext cx="64008" cy="1143000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0" y="4773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400800" y="52669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Analytics workspace and Application Insights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pizza analogy: who manages what?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way to distinguish IaaS, PaaS and SaaS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2679192" cy="2377440"/>
          </a:xfrm>
          <a:prstGeom prst="roundRect">
            <a:avLst>
              <a:gd name="adj" fmla="val 6154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286000"/>
            <a:ext cx="64008" cy="237744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450592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944368"/>
            <a:ext cx="22219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manage almost everything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02736" y="2286000"/>
            <a:ext cx="2679192" cy="2377440"/>
          </a:xfrm>
          <a:prstGeom prst="roundRect">
            <a:avLst>
              <a:gd name="adj" fmla="val 6154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02736" y="2286000"/>
            <a:ext cx="64008" cy="237744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31336" y="2450592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IaaS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831336" y="2944368"/>
            <a:ext cx="22219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runs infrastructure; you manage OS and application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73952" y="2286000"/>
            <a:ext cx="2679192" cy="2377440"/>
          </a:xfrm>
          <a:prstGeom prst="roundRect">
            <a:avLst>
              <a:gd name="adj" fmla="val 6154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73952" y="2286000"/>
            <a:ext cx="64008" cy="237744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02552" y="2450592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PaaS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702552" y="2944368"/>
            <a:ext cx="22219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manages platform; you focus on application and data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345168" y="2286000"/>
            <a:ext cx="2679192" cy="2377440"/>
          </a:xfrm>
          <a:prstGeom prst="roundRect">
            <a:avLst>
              <a:gd name="adj" fmla="val 6154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45168" y="2286000"/>
            <a:ext cx="64008" cy="2377440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573768" y="2450592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573768" y="2944368"/>
            <a:ext cx="22219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operates the complete application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166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Where do Azure Functions, Azure Virtual Machines and Microsoft 365 fit?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hierarchy: know where you are working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= identity boundary; management groups organise subscriptions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62432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tenant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03580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directory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98725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891333" y="242316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28493" y="262432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group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9349" y="303580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scope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9978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5142586" y="242316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79746" y="262432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70602" y="303580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+ access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01230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7393838" y="242316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30998" y="262432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group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21854" y="303580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resource container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52483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9645091" y="242316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782251" y="262432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73107" y="303580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instance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754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arrows are conceptual: the tenant is not an Azure RBAC parent scope.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Identity: four terms developers must distinguish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the app definition, its identity or permissions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440680" cy="1399032"/>
          </a:xfrm>
          <a:prstGeom prst="roundRect">
            <a:avLst>
              <a:gd name="adj" fmla="val 10458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057400"/>
            <a:ext cx="64008" cy="1399032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2219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registration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71576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an application in Microsoft Entra ID.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2057400"/>
            <a:ext cx="5440680" cy="1399032"/>
          </a:xfrm>
          <a:prstGeom prst="roundRect">
            <a:avLst>
              <a:gd name="adj" fmla="val 10458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46520" y="2057400"/>
            <a:ext cx="64008" cy="1399032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0" y="22219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principal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75120" y="271576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Tenant-local security identity for an application.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5440680" cy="1399032"/>
          </a:xfrm>
          <a:prstGeom prst="roundRect">
            <a:avLst>
              <a:gd name="adj" fmla="val 10458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657600"/>
            <a:ext cx="64008" cy="1399032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38221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application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representation of a service principal.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3657600"/>
            <a:ext cx="5440680" cy="1399032"/>
          </a:xfrm>
          <a:prstGeom prst="roundRect">
            <a:avLst>
              <a:gd name="adj" fmla="val 10458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46520" y="3657600"/>
            <a:ext cx="64008" cy="1399032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75120" y="38221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identity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75120" y="431596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Azure-managed identity for workloads; avoids storing credentials.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Day 1 recap | Functions, Logic Apps, Storage, Load Testing and monitoring</a:t>
            </a:r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possible application flow—not a claim that every integration was deployed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62432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03580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Sends request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61538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3454146" y="242316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91306" y="262432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Function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2162" y="303580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Executes code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75604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6268212" y="242316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5372" y="262432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Storage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96228" y="303580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files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89670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9082278" y="242316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219438" y="262432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Apps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10294" y="303580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Coordinates actions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51560" y="4663440"/>
            <a:ext cx="10058400" cy="914400"/>
          </a:xfrm>
          <a:prstGeom prst="roundRect">
            <a:avLst>
              <a:gd name="adj" fmla="val 16000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53312" y="487375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Insights + Log Analytics help investigate performance and failures.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quick questions before we move 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in pairs for three minutes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057400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06424" y="1965960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choose a Function rather than manage a virtual machine?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276148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06424" y="2670048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a managed identity different from a stored client secret?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3465576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06424" y="3374136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a Logic App help orchestrate?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4169664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06424" y="4078224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would you store an uploaded document?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4873752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06424" y="4782312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you investigate a slow or failing request?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53C2F1"/>
                </a:solidFill>
              </a:rPr>
              <a:t>DAY 1 RECAP  /  CONNECT THE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900" b="1">
                <a:solidFill>
                  <a:srgbClr val="FFFFFF"/>
                </a:solidFill>
              </a:rPr>
              <a:t>From Azure basics to a connected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FOUNDATIONS &amp; IDENTITY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• Pizza analogy: IaaS / PaaS / SaaS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• Tenant → subscription → resource group → resource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• App registration → service principal → enterprise app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• Managed identity + scoped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874519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APPLICATION &amp; OPERATIONS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• Azure Functions: event-driven code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• Logic Apps: workflow orchestration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• Blob Storage: unstructured files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• Azure Load Testing: performance evidence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EF4FC"/>
                </a:solidFill>
              </a:rPr>
              <a:t>• Application Insights + Log Analytics: telemetry / KQL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53C2F1"/>
                </a:solidFill>
              </a:rPr>
              <a:t>TODAY: Service Bus demo is deployed. AI enrichment is a separate walkthrough / future extension.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9224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768C1"/>
                </a:solidFill>
                <a:latin typeface="Aptos"/>
              </a:defRPr>
            </a:pPr>
            <a:r>
              <a:rPr/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mortgage application takes too long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Imagine every request waits for document validation and downstream processing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67004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08152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Submits 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61538" y="29077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3454146" y="246888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91306" y="267004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2162" y="308152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Waits for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75604" y="29077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6268212" y="246888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5372" y="267004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96228" y="308152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Processes file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89670" y="29077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9082278" y="246888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219438" y="267004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10294" y="308152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result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5840" y="4617720"/>
            <a:ext cx="10104120" cy="960120"/>
          </a:xfrm>
          <a:prstGeom prst="roundRect">
            <a:avLst>
              <a:gd name="adj" fmla="val 15238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71600" y="482803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when 500 applications arrive at once—or validation is temporarily unavailable?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SERVICE BUS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Azure Service Bus?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fully managed enterprise message broker for reliable asynchronous communication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5257800" cy="2331720"/>
          </a:xfrm>
          <a:prstGeom prst="roundRect">
            <a:avLst>
              <a:gd name="adj" fmla="val 6275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148840"/>
            <a:ext cx="64008" cy="23317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3134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807208"/>
            <a:ext cx="4800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sends a small message describing work to be done. It does not need to wait for processing.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257800" cy="2331720"/>
          </a:xfrm>
          <a:prstGeom prst="roundRect">
            <a:avLst>
              <a:gd name="adj" fmla="val 6275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72200" y="2148840"/>
            <a:ext cx="64008" cy="2331720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23134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2807208"/>
            <a:ext cx="4800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separate worker receives the message, processes it and settles it after successful handling.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491947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queue is a buffer between the two components.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SERVICE BUS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 a message queue?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tightly coupled and decoupled application designs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257800" cy="2743200"/>
          </a:xfrm>
          <a:prstGeom prst="roundRect">
            <a:avLst>
              <a:gd name="adj" fmla="val 533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194560"/>
            <a:ext cx="64008" cy="2743200"/>
          </a:xfrm>
          <a:prstGeom prst="rect">
            <a:avLst/>
          </a:prstGeom>
          <a:solidFill>
            <a:srgbClr val="F6A640"/>
          </a:solidFill>
          <a:ln w="12700">
            <a:solidFill>
              <a:srgbClr val="F6A64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3591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queue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48006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waits for downstream work. Slow processing delays the user; a dependency outage can cause request failures.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194560"/>
            <a:ext cx="5257800" cy="2743200"/>
          </a:xfrm>
          <a:prstGeom prst="roundRect">
            <a:avLst>
              <a:gd name="adj" fmla="val 533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72200" y="2194560"/>
            <a:ext cx="64008" cy="2743200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23591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Service Bus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2852928"/>
            <a:ext cx="48006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accepts work and sends a message. A worker processes it later; queued messages help absorb bursts.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3949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message accepted ≠ business process completed.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SERVICE BUS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concepts: namespace, queue, topic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pattern and tier: topics/subscriptions require Standard or Premium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029968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Namespace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6883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Top-level container for Service Bus messaging entities.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029968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2029968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29400" y="26883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Competing consumers share work; a message may be redelivered.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648456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648456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+ subscription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0120" y="43068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once; independent subscriptions can receive copies.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3648456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3648456"/>
            <a:ext cx="64008" cy="1417320"/>
          </a:xfrm>
          <a:prstGeom prst="rect">
            <a:avLst/>
          </a:prstGeom>
          <a:solidFill>
            <a:srgbClr val="F6A640"/>
          </a:solidFill>
          <a:ln w="12700">
            <a:solidFill>
              <a:srgbClr val="F6A64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2940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Dead-letter queue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29400" y="43068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Holds messages requiring investigation after delivery/processing problems.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SERVICE BUS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architecture for a building society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only a job identifier and non-sensitive reference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688336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099816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Accepts application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61538" y="292608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3454146" y="2487168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91306" y="2688336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Bus queue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2162" y="3099816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work message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75604" y="292608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6268212" y="2487168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5372" y="2688336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/ Function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96228" y="3099816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Processes asynchronously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89670" y="292608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9082278" y="2487168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219438" y="2688336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store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10294" y="3099816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outcome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47365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message: { "applicationId": "DEMO-1042", "action": "validate" }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SERVICE BUS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semantics: what can go wrong?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messaging still requires careful application design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011680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At-least-once delivery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67004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message may be delivered again after a failure or expired lock.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Peek vs receive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29400" y="267004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Peek inspects without removing. Receive obtains a message for processing.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630168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630168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/ abandon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0120" y="42885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PeekLock, complete after success; abandon or let lock expire to retry.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3630168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3630168"/>
            <a:ext cx="64008" cy="1417320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2940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29400" y="42885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message/job IDs so duplicate delivery does not duplicate business actions.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Service Bus namespace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Instructor-led Azure Portal demo • use only an approved subscription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06424" y="1920240"/>
            <a:ext cx="10277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for Service Bus → Create.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2688336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06424" y="2596896"/>
            <a:ext cx="10277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subscription, approved resource group and region.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3364992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06424" y="3273552"/>
            <a:ext cx="10277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a globally unique namespace name.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404164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06424" y="3950208"/>
            <a:ext cx="10277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approved pricing tier; check features and cost.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4718304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06424" y="4626864"/>
            <a:ext cx="10277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+ create, then open the namespace.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5623560"/>
            <a:ext cx="10149840" cy="438912"/>
          </a:xfrm>
          <a:prstGeom prst="roundRect">
            <a:avLst>
              <a:gd name="adj" fmla="val 3333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97280" y="5687568"/>
            <a:ext cx="9875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 or policy blocked? Stop and ask the resource owner—do not bypass controls.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queue and configure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Namespace → Queues → + Queue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029968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Name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6883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approved disposable training queue.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029968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2029968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Settings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29400" y="26883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max size, TTL and lock duration. Duplicate detection requires a supported tier.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648456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648456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Access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0120" y="43068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approved Microsoft Entra data-plane RBAC where configured.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3648456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3648456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2940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Verify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29400" y="43068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queue overview and confirm it is empty and isolated.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→ Peek → Receive →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Bus Explorer • dedicated queue with no competing consumer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67004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08152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fictional JSON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61538" y="29077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3454146" y="246888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91306" y="267004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2162" y="308152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message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75604" y="29077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6268212" y="246888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5372" y="267004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96228" y="308152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PeekLock mode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89670" y="29077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9082278" y="2468880"/>
            <a:ext cx="2484882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219438" y="2670048"/>
            <a:ext cx="2210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10294" y="3081528"/>
            <a:ext cx="2228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 after success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" y="4572000"/>
            <a:ext cx="10195560" cy="1005840"/>
          </a:xfrm>
          <a:prstGeom prst="roundRect">
            <a:avLst>
              <a:gd name="adj" fmla="val 14545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80160" y="480974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criteria: identify your message, explain its state and verify the chosen receive mode.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turn: test a message safely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10–15 minutes • record the evidence, not secrets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06424" y="1920240"/>
            <a:ext cx="102321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your assigned namespace and isolated queue.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2724912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06424" y="2633472"/>
            <a:ext cx="102321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one fictional application reference and note its MessageId.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3438144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06424" y="3346704"/>
            <a:ext cx="102321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Peek and locate the message without removing it.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4151376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06424" y="4059936"/>
            <a:ext cx="102321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using the approved mode and settle your own message.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486460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06424" y="4773168"/>
            <a:ext cx="102321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sending does not prove processing succeeded.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TRACKER | WORKING AZURE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versions: do not confuse the demos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fictional UTF-8 text only; neither version makes financial decisions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Original local 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In-memory store and worker. Port 5193. Data is not durable across restarts.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Separate Azure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Local Razor UI on 5293; real SQL, Service Bus and hosted .NET 10 Functions.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What Completed 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The sample passed deterministic format checks. No OCR, AI or identity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What stays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The website has no sign-in and is loopback-only. Do not publish it unchanged.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TRACKER | WORKING AZURE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Deployed demo: SQL outbox → queue → Function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website accepts work; a later SQL update records the processing outcome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337560" cy="114300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1D35"/>
                </a:solidFill>
                <a:latin typeface="Aptos"/>
              </a:defRPr>
            </a:pPr>
            <a:r>
              <a:t>1  Local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3063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Upload .txt</a:t>
            </a:r>
          </a:p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Port 5293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337560" cy="114300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1D35"/>
                </a:solidFill>
                <a:latin typeface="Aptos"/>
              </a:defRPr>
            </a:pPr>
            <a:r>
              <a:t>2  Azure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43200"/>
            <a:ext cx="3063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Document + outbox</a:t>
            </a:r>
          </a:p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One transaction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40280"/>
            <a:ext cx="3337560" cy="114300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1D35"/>
                </a:solidFill>
                <a:latin typeface="Aptos"/>
              </a:defRPr>
            </a:pPr>
            <a:r>
              <a:t>3  Dispatcher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743200"/>
            <a:ext cx="3063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Every 15 seconds</a:t>
            </a:r>
          </a:p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Read pending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2587752"/>
            <a:ext cx="274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768C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2587752"/>
            <a:ext cx="274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768C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337560" cy="114300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23360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1D35"/>
                </a:solidFill>
                <a:latin typeface="Aptos"/>
              </a:defRPr>
            </a:pPr>
            <a:r>
              <a:t>6  SQL final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3063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Completed / Needs review</a:t>
            </a:r>
          </a:p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Clear uploaded 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931920"/>
            <a:ext cx="3337560" cy="114300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023360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1D35"/>
                </a:solidFill>
                <a:latin typeface="Aptos"/>
              </a:defRPr>
            </a:pPr>
            <a:r>
              <a:t>5  Processor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434840"/>
            <a:ext cx="3063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Read SQL text</a:t>
            </a:r>
          </a:p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Validate and settle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931920"/>
            <a:ext cx="3337560" cy="114300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4023360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1D35"/>
                </a:solidFill>
                <a:latin typeface="Aptos"/>
              </a:defRPr>
            </a:pPr>
            <a:r>
              <a:t>4  Service Bus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434840"/>
            <a:ext cx="3063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Identifier-only message</a:t>
            </a:r>
          </a:p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Retry / dead-letter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474720"/>
            <a:ext cx="5486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768C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8" y="4279392"/>
            <a:ext cx="274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768C1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7368" y="4279392"/>
            <a:ext cx="274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768C1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86400"/>
            <a:ext cx="106070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768C1"/>
                </a:solidFill>
                <a:latin typeface="Aptos"/>
              </a:defRPr>
            </a:pPr>
            <a:r>
              <a:t>Send first, then mark dispatched. Redelivery is possible; finalization is idempotent.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TRACKER | WORKING AZURE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checks: network, identity and permission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identity removes stored credentials; it does not bypass a firewall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Network: can I connect?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SQL firewall/public access permits or rejects the connection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Identity: who am 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Hosted Functions use system-assigned managed identity and Entra tokens.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SQL authorization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A contained external user plus table GRANTs permits SELECT / UPDATE.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Service Bus authorization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Queue-scoped Data Sender and Data Receiver allow message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768C1"/>
                </a:solidFill>
                <a:latin typeface="Aptos"/>
              </a:defRPr>
            </a:pPr>
            <a:r>
              <a:t>A valid identity can still fail network access. An open network does not grant data access.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APPENDIX | IDENTITY, OPERATIONS AND HOMEWORK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SQL: the Function needs an external database user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 created in firstdb by an authorized Entra administrator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744200" cy="233172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10287000" cy="2148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3047"/>
                </a:solidFill>
                <a:latin typeface="Consolas"/>
              </a:defRPr>
            </a:pPr>
            <a:r>
              <a:t>CREATE USER [fristAzureFunctionApp] FROM EXTERNAL PROVIDER;</a:t>
            </a:r>
          </a:p>
          <a:p>
            <a:pPr>
              <a:spcAft>
                <a:spcPts val="200"/>
              </a:spcAft>
              <a:defRPr sz="1700" b="0">
                <a:solidFill>
                  <a:srgbClr val="1E3047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 b="0">
                <a:solidFill>
                  <a:srgbClr val="1E3047"/>
                </a:solidFill>
                <a:latin typeface="Consolas"/>
              </a:defRPr>
            </a:pPr>
            <a:r>
              <a:t>GRANT SELECT, UPDATE ON OBJECT::lbs_training.Documents</a:t>
            </a:r>
          </a:p>
          <a:p>
            <a:pPr>
              <a:spcAft>
                <a:spcPts val="200"/>
              </a:spcAft>
              <a:defRPr sz="1700" b="0">
                <a:solidFill>
                  <a:srgbClr val="1E3047"/>
                </a:solidFill>
                <a:latin typeface="Consolas"/>
              </a:defRPr>
            </a:pPr>
            <a:r>
              <a:t>    TO [fristAzureFunctionApp];</a:t>
            </a:r>
          </a:p>
          <a:p>
            <a:pPr>
              <a:spcAft>
                <a:spcPts val="200"/>
              </a:spcAft>
              <a:defRPr sz="1700" b="0">
                <a:solidFill>
                  <a:srgbClr val="1E3047"/>
                </a:solidFill>
                <a:latin typeface="Consolas"/>
              </a:defRPr>
            </a:pPr>
            <a:r>
              <a:t>GRANT SELECT, UPDATE ON OBJECT::lbs_training.Outbox</a:t>
            </a:r>
          </a:p>
          <a:p>
            <a:pPr>
              <a:spcAft>
                <a:spcPts val="200"/>
              </a:spcAft>
              <a:defRPr sz="1700" b="0">
                <a:solidFill>
                  <a:srgbClr val="1E3047"/>
                </a:solidFill>
                <a:latin typeface="Consolas"/>
              </a:defRPr>
            </a:pPr>
            <a:r>
              <a:t>    TO [fristAzureFunctionApp];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1060704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01D35"/>
                </a:solidFill>
                <a:latin typeface="Aptos"/>
              </a:defRPr>
            </a:pPr>
            <a:r>
              <a:t>Enabling identity alone does not create this user.</a:t>
            </a:r>
          </a:p>
          <a:p>
            <a:pPr>
              <a:spcAft>
                <a:spcPts val="700"/>
              </a:spcAft>
              <a:defRPr sz="1900" b="0">
                <a:solidFill>
                  <a:srgbClr val="101D35"/>
                </a:solidFill>
                <a:latin typeface="Aptos"/>
              </a:defRPr>
            </a:pPr>
            <a:r>
              <a:t>The external user maps the workload identity; SQL grants authorize its table operations.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APPENDIX | IDENTITY, OPERATIONS AND HOMEWORK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needs which permissions?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narrowest scope; browser users and workload identities are different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Local website /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Azure CLI identity: SELECT + INSERT Documents; INSERT Outbox. Current lab login is an elevated admin.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Hosted Function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SELECT + UPDATE on Documents and Outbox. No INSERT, DELETE or db_owner is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Hosted messaging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Data Sender + Data Receiver on document-processing. No broad subscription role is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Future Azure 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Separate web managed identity and SQL user. No Service Bus data role: it writes the outbox.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APPENDIX | IDENTITY, OPERATIONS AND HOMEWORK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network lesson: valid identity, blocked IP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Incident: processor invoked, but SQL rejected the connection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Observed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SQL logs: client IP 85.210.45.84 was not allowed. The document stayed Queued.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Why exact IP rules 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Flex workers used changing addresses, including addresses absent from the reported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Owner's no-VNet lab choice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Enabled SQL: Allow Azure services and resources to access this server.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Security 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Allows Azure-origin connection attempts from other subscriptions too. SQL identity and grants still apply.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APPENDIX | IDENTITY, OPERATIONS AND HOMEWORK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“Allow Azure services” is not a universal trust rule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exceptions have different meanings in different Azure products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Azure SQL exception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Broad Azure-origin access; not limited to this Function, tenant, RG or subscription.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Service Bus trusted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A service-specific supported list and scenarios. Not every Function is automatically exempt.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Storage trusted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A separate Storage rule. It does not configure SQL or Service Bus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Lab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No VNet requested. No messaging/storage exception was changed to fix this SQL incident.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APPENDIX | IDENTITY, OPERATIONS AND HOMEWORK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Function settings: identity-based connections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 underscores separate configuration sections; preserve existing host storage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744200" cy="521207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21992"/>
            <a:ext cx="54864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01D35"/>
                </a:solidFill>
                <a:latin typeface="Consolas"/>
              </a:defRPr>
            </a:pPr>
            <a:r>
              <a:t>Sql__Server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21992"/>
            <a:ext cx="4846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3047"/>
                </a:solidFill>
                <a:latin typeface="Consolas"/>
              </a:defRPr>
            </a:pPr>
            <a:r>
              <a:t>firstsqlserver2026.database.windows.net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10744200" cy="521207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16352"/>
            <a:ext cx="54864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01D35"/>
                </a:solidFill>
                <a:latin typeface="Consolas"/>
              </a:defRPr>
            </a:pPr>
            <a:r>
              <a:t>Sql__Database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16352"/>
            <a:ext cx="4846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3047"/>
                </a:solidFill>
                <a:latin typeface="Consolas"/>
              </a:defRPr>
            </a:pPr>
            <a:r>
              <a:t>firstdb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0744200" cy="521207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0712"/>
            <a:ext cx="54864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01D35"/>
                </a:solidFill>
                <a:latin typeface="Consolas"/>
              </a:defRPr>
            </a:pPr>
            <a:r>
              <a:t>ServiceBusConnection__fullyQualifiedNamespace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10712"/>
            <a:ext cx="4846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3047"/>
                </a:solidFill>
                <a:latin typeface="Consolas"/>
              </a:defRPr>
            </a:pPr>
            <a:r>
              <a:t>fristazureservicebus.servicebus.windows.net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744200" cy="521207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05072"/>
            <a:ext cx="54864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01D35"/>
                </a:solidFill>
                <a:latin typeface="Consolas"/>
              </a:defRPr>
            </a:pPr>
            <a:r>
              <a:t>ServiceBusConnection__credential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05072"/>
            <a:ext cx="4846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3047"/>
                </a:solidFill>
                <a:latin typeface="Consolas"/>
              </a:defRPr>
            </a:pPr>
            <a:r>
              <a:t>managedidentity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26280"/>
            <a:ext cx="10744200" cy="521207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2"/>
            <a:ext cx="54864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01D35"/>
                </a:solidFill>
                <a:latin typeface="Consolas"/>
              </a:defRPr>
            </a:pPr>
            <a:r>
              <a:t>QueueName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99432"/>
            <a:ext cx="4846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3047"/>
                </a:solidFill>
                <a:latin typeface="Consolas"/>
              </a:defRPr>
            </a:pPr>
            <a:r>
              <a:t>document-processing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768C1"/>
                </a:solidFill>
                <a:latin typeface="Aptos"/>
              </a:defRPr>
            </a:pPr>
            <a:r>
              <a:t>Both Functions must be present: DispatchTrainingDocuments and ProcessTrainingDocument.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TRACKER | WORKING AZURE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demo: one upload, end-to-end evidence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Azure-backed website at http://127.0.0.1:5293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1  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Confirm account, firstdb, queue, identity and both hosted Functions. Use fictional samples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2 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Sample 01 + LBS-DEMO-1001. Capture the document GUID from the details URL.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3  Observe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Refresh Queued → Completed. Show processor telemetry, not just timer success.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4  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SQL stores the job; Service Bus delivers the identifier; Function finalizes SQL and clears text.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TRACKER | WORKING AZURE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result: new uploads completed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Owner-supplied evidence | 29 October 2026, around 22:05 UTC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pic>
        <p:nvPicPr>
          <p:cNvPr id="9" name="Picture 8" descr="Pasted Imag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86000"/>
            <a:ext cx="7315200" cy="2176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66760" y="2331720"/>
            <a:ext cx="3017520" cy="2651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01D35"/>
                </a:solidFill>
                <a:latin typeface="Aptos"/>
              </a:defRPr>
            </a:pPr>
            <a:r>
              <a:t>Four successful sample-01 jobs.</a:t>
            </a:r>
          </a:p>
          <a:p>
            <a:pPr>
              <a:spcAft>
                <a:spcPts val="700"/>
              </a:spcAft>
              <a:defRPr sz="1900" b="0">
                <a:solidFill>
                  <a:srgbClr val="101D3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900" b="0">
                <a:solidFill>
                  <a:srgbClr val="101D35"/>
                </a:solidFill>
                <a:latin typeface="Aptos"/>
              </a:defRPr>
            </a:pPr>
            <a:r>
              <a:t>Evidence of these runs, not a new ten-case regression or production certification.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768C1"/>
                </a:solidFill>
                <a:latin typeface="Aptos"/>
              </a:defRPr>
            </a:pPr>
            <a:r>
              <a:t>Old Queued rows can remain if their messages were already dead-lettered. Recovery is separate.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APPENDIX | IDENTITY, OPERATIONS AND HOMEWORK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Testing: validate outcomes, not just delivery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Completed + seven Needs review for a fresh approved ten-case run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Expected sample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01, 05, 06 → Completed. 02, 03, 04, 07, 08, 09, 10 → Needs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Offline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Test doubles cover validation, redelivery and failure paths. They do not prove Azure connectivity.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Live acceptance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Test-Live.ps1 -SubmitTrainingData writes ten real records and checks expected final statuses.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Persistence /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Restart UI; records remain. Finalized SQL rows have CompletedAt and DocumentText NULL.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APPENDIX | IDENTITY, OPERATIONS AND HOMEWORK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Troubleshooting and dead-letter recovery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first; fix the root cause before replaying approved identifiers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Look at the processor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ProcessTrainingDocument requests/exceptions. A healthy timer can dispatch zero while old jobs are dead-lettered.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Read the error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IP not allowed → network. Login failed → identity. Permission denied → SQL grants or messaging roles.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Inspect without consuming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Use Peek. Queue Active means enabled, not healthy; outgoing metrics include retries.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Replay safely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Approved IDs only: send replacement, confirm broker acceptance, then complete the locked DLQ message.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APPENDIX | IDENTITY, OPERATIONS AND HOMEWORK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attendees: guest identity is not RG access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steps: invite into Entra, then assign a scoped Azure resource role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Invite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Entra ID → Users → Invite external user. Guest accepts with their own account.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Assign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Training → IAM → Reader for observation. Contributor can change/delete resources; avoid Owner.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Verify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RG role covers that RG, not the whole subscription. Check inherited and group-based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Separate data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SQL user + grants and queue Data Sender/Receiver are separate. Website users need app authorization.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APPENDIX | IDENTITY, OPERATIONS AND HOMEWORK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Homework: host the website securely in Azure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enhancement only; current UI is still local and unauthenticated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Secure the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Entra sign-in, approved-user restrictions and per-document authorization. Test denied access too.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Host the website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88336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Approved App Service with supported .NET 10 configuration. Separate web managed identity.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Grant SQL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Web identity: SELECT + INSERT Documents; INSERT Outbox. Reuse existing Functions and queue.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67328"/>
            <a:ext cx="5166360" cy="150876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77056"/>
            <a:ext cx="480060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1D35"/>
                </a:solidFill>
                <a:latin typeface="Aptos"/>
              </a:defRPr>
            </a:pPr>
            <a:r>
              <a:t>Operational follow-up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52544"/>
            <a:ext cx="4800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3047"/>
                </a:solidFill>
                <a:latin typeface="Aptos"/>
              </a:defRPr>
            </a:pPr>
            <a:r>
              <a:t>Ten-case regression, approved DLQ recovery, alerts, retention, cost review and rollback.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messaging to intelligent processing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 moves work; AI can help interpret or classify its content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67004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08152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request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98725" y="29077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891333" y="246888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28493" y="267004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Bus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9349" y="308152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Queues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9978" y="29077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5142586" y="246888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79746" y="267004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70602" y="308152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Orchestrates steps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01230" y="29077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7393838" y="246888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30998" y="267004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21854" y="308152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Analyses content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52483" y="29077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9645091" y="246888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782251" y="267004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73107" y="308152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Approves decisions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81888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assists the workflow; identity, data protection, validation and human oversight still matter.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AZURE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mean by Azure AI services?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services based on the problem—not because AI is available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011680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 Document Intelligence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67004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structured fields from forms and documents.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 Language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29400" y="267004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text, classify content or detect entities.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630168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630168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 Search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0120" y="42885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and retrieve relevant enterprise information.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3630168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3630168"/>
            <a:ext cx="64008" cy="1417320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2940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 / Azure OpenAI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29400" y="42885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generative AI experiences using deployed models and governed access.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AZURE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AI service should we choose?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business requirement to the appropriate capability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10561320" cy="704088"/>
          </a:xfrm>
          <a:prstGeom prst="roundRect">
            <a:avLst>
              <a:gd name="adj" fmla="val 2077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224942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 mortgage PDF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25312" y="224942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Document Intelligence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962656"/>
            <a:ext cx="10561320" cy="704088"/>
          </a:xfrm>
          <a:prstGeom prst="roundRect">
            <a:avLst>
              <a:gd name="adj" fmla="val 20779"/>
            </a:avLst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10896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answers in approved policies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25312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Azure AI Search + a language model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822192"/>
            <a:ext cx="10561320" cy="704088"/>
          </a:xfrm>
          <a:prstGeom prst="roundRect">
            <a:avLst>
              <a:gd name="adj" fmla="val 2077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05840" y="396849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Summarise an applicant’s note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25312" y="396849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Generative model with safeguards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681728"/>
            <a:ext cx="10561320" cy="704088"/>
          </a:xfrm>
          <a:prstGeom prst="roundRect">
            <a:avLst>
              <a:gd name="adj" fmla="val 20779"/>
            </a:avLst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82803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ambiguous extraction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25312" y="48280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Confidence checks + human review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and test an Azure AI resource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route: document extraction using fictional sample documents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02996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06424" y="1938528"/>
            <a:ext cx="10277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approved subscription, region, resource and access.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68680" y="271576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06424" y="2624328"/>
            <a:ext cx="10277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open the approved Document Intelligence resource.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68680" y="340156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06424" y="3310128"/>
            <a:ext cx="10277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Document Intelligence Studio or supported portal experience.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68680" y="408736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06424" y="3995928"/>
            <a:ext cx="10277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Read or Layout; upload the supplied fictional PDF.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68680" y="477316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06424" y="4681728"/>
            <a:ext cx="10277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analysis; inspect extracted fields, confidence and limitations.</a:t>
            </a:r>
            <a:endParaRPr lang="en-US" sz="1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 DEMONSTRATION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learners observe?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output is evidence to review—not an automatic business approval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5257800" cy="2468880"/>
          </a:xfrm>
          <a:prstGeom prst="roundRect">
            <a:avLst>
              <a:gd name="adj" fmla="val 5926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148840"/>
            <a:ext cx="64008" cy="2468880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3134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Model-specific results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807208"/>
            <a:ext cx="48006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Read: text. Layout: structure and tables. Semantic fields depend on the model/features.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257800" cy="2468880"/>
          </a:xfrm>
          <a:prstGeom prst="roundRect">
            <a:avLst>
              <a:gd name="adj" fmla="val 5926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72200" y="2148840"/>
            <a:ext cx="64008" cy="2468880"/>
          </a:xfrm>
          <a:prstGeom prst="rect">
            <a:avLst/>
          </a:prstGeom>
          <a:solidFill>
            <a:srgbClr val="F6A640"/>
          </a:solidFill>
          <a:ln w="12700">
            <a:solidFill>
              <a:srgbClr val="F6A64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23134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limitations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2807208"/>
            <a:ext cx="48006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mistakes, missing fields, confidence uncertainty, sensitive data and operational cost.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09320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Which fields would require human confirmation before a lending decision?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Putting Service Bus and Azure AI together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target architecture—not an already deployed integration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62432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/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03580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job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98725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891333" y="242316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28493" y="262432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Storage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9349" y="303580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Holds document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9978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5142586" y="242316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79746" y="262432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Bus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70602" y="303580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Queues reference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01230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7393838" y="242316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AF8F8"/>
          </a:solidFill>
          <a:ln w="12700">
            <a:solidFill>
              <a:srgbClr val="EAF8F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30998" y="262432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21854" y="303580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AI service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52483" y="286207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9645091" y="2423160"/>
            <a:ext cx="1922069" cy="1188720"/>
          </a:xfrm>
          <a:prstGeom prst="roundRect">
            <a:avLst>
              <a:gd name="adj" fmla="val 12308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782251" y="2624328"/>
            <a:ext cx="1647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UI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73107" y="3035808"/>
            <a:ext cx="16660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result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4617720"/>
            <a:ext cx="10241280" cy="1005840"/>
          </a:xfrm>
          <a:prstGeom prst="roundRect">
            <a:avLst>
              <a:gd name="adj" fmla="val 14545"/>
            </a:avLst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234440" y="483717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design also needs Entra identities, durable status, retries, telemetry and access controls.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READINESS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know the workflow is healthy?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yesterday’s monitoring services into the design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011680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Insights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67004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traces, failures, dependencies and latency.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Analytics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29400" y="267004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correlated operational logs using KQL.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630168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630168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Load Testing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0120" y="42885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an approved workload under controlled traffic.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3630168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3630168"/>
            <a:ext cx="64008" cy="141732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2940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Management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29400" y="42885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spend, forecasts, budgets and resource-level cost drivers.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architecture without the slides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fictional mortgage-processing scenario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103120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06424" y="2011680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Service Bus useful when downstream processing is slow?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280720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06424" y="2715768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difference between a queue and a topic?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3511296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06424" y="3419856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Peek remove a message? What does Complete do?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4215384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06424" y="4123944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Azure AI service would extract fields from a form?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4919472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06424" y="4828032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would you look for failures, latency and costs?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8D1"/>
          </a:solidFill>
          <a:ln w="12700">
            <a:solidFill>
              <a:srgbClr val="2EB8D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learned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cloud fundamentals to a practical, governed integration design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LBS  |  Azure Developer Training  |  Day 2  |  V3 Attendee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8252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3429000" cy="2148840"/>
          </a:xfrm>
          <a:prstGeom prst="roundRect">
            <a:avLst>
              <a:gd name="adj" fmla="val 6809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2240280"/>
            <a:ext cx="64008" cy="214884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404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5840" y="2898648"/>
            <a:ext cx="29718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hierarchy, identity, compute, storage and monitoring.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79976" y="2240280"/>
            <a:ext cx="3429000" cy="2148840"/>
          </a:xfrm>
          <a:prstGeom prst="roundRect">
            <a:avLst>
              <a:gd name="adj" fmla="val 6809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79976" y="2240280"/>
            <a:ext cx="64008" cy="2148840"/>
          </a:xfrm>
          <a:prstGeom prst="rect">
            <a:avLst/>
          </a:prstGeom>
          <a:solidFill>
            <a:srgbClr val="198D76"/>
          </a:solidFill>
          <a:ln w="12700">
            <a:solidFill>
              <a:srgbClr val="198D7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08576" y="2404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08576" y="2898648"/>
            <a:ext cx="29718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Understand, create and inspect a Service Bus queue.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73568" y="2240280"/>
            <a:ext cx="3429000" cy="2148840"/>
          </a:xfrm>
          <a:prstGeom prst="roundRect">
            <a:avLst>
              <a:gd name="adj" fmla="val 6809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973568" y="2240280"/>
            <a:ext cx="64008" cy="2148840"/>
          </a:xfrm>
          <a:prstGeom prst="rect">
            <a:avLst/>
          </a:prstGeom>
          <a:solidFill>
            <a:srgbClr val="1768C1"/>
          </a:solidFill>
          <a:ln w="12700">
            <a:solidFill>
              <a:srgbClr val="1768C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02168" y="2404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02168" y="2898648"/>
            <a:ext cx="29718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 Azure AI service and explain a safe demo.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optional appendix demos cover identity, operations and secure Azure website homework.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| Azure Integration and Microsoft AI</dc:title>
  <dc:subject>Day 2 Azure developer instructor-led training</dc:subject>
  <dc:creator>Azure Training</dc:creator>
  <cp:lastModifiedBy>Azure Training</cp:lastModifiedBy>
  <cp:revision>1</cp:revision>
  <dcterms:created xsi:type="dcterms:W3CDTF">2026-10-29T21:05:01Z</dcterms:created>
  <dcterms:modified xsi:type="dcterms:W3CDTF">2026-10-29T21:05:01Z</dcterms:modified>
</cp:coreProperties>
</file>