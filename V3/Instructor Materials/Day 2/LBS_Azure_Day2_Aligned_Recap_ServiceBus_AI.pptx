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83" r:id="rId34"/>
    <p:sldId id="264" r:id="rId10"/>
    <p:sldId id="265" r:id="rId11"/>
    <p:sldId id="266" r:id="rId12"/>
    <p:sldId id="267" r:id="rId13"/>
    <p:sldId id="268" r:id="rId14"/>
    <p:sldId id="269" r:id="rId15"/>
    <p:sldId id="270" r:id="rId16"/>
    <p:sldId id="271" r:id="rId17"/>
    <p:sldId id="272" r:id="rId18"/>
    <p:sldId id="273" r:id="rId19"/>
    <p:sldId id="284" r:id="rId35"/>
    <p:sldId id="285" r:id="rId36"/>
    <p:sldId id="286" r:id="rId37"/>
    <p:sldId id="292" r:id="rId43"/>
    <p:sldId id="293" r:id="rId44"/>
    <p:sldId id="274" r:id="rId20"/>
    <p:sldId id="275" r:id="rId21"/>
    <p:sldId id="276" r:id="rId22"/>
    <p:sldId id="277" r:id="rId23"/>
    <p:sldId id="278" r:id="rId24"/>
    <p:sldId id="279" r:id="rId25"/>
    <p:sldId id="280" r:id="rId26"/>
    <p:sldId id="281" r:id="rId27"/>
    <p:sldId id="282" r:id="rId28"/>
    <p:sldId id="287" r:id="rId38"/>
    <p:sldId id="288" r:id="rId39"/>
    <p:sldId id="289" r:id="rId40"/>
    <p:sldId id="290" r:id="rId41"/>
    <p:sldId id="291" r:id="rId42"/>
    <p:sldId id="294" r:id="rId45"/>
    <p:sldId id="295" r:id="rId46"/>
    <p:sldId id="296" r:id="rId47"/>
    <p:sldId id="297" r:id="rId4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34.xml"/><Relationship Id="rId21" Type="http://schemas.openxmlformats.org/officeDocument/2006/relationships/slide" Target="slides/slide35.xml"/><Relationship Id="rId22" Type="http://schemas.openxmlformats.org/officeDocument/2006/relationships/slide" Target="slides/slide36.xml"/><Relationship Id="rId23" Type="http://schemas.openxmlformats.org/officeDocument/2006/relationships/slide" Target="slides/slide37.xml"/><Relationship Id="rId24" Type="http://schemas.openxmlformats.org/officeDocument/2006/relationships/slide" Target="slides/slide38.xml"/><Relationship Id="rId25" Type="http://schemas.openxmlformats.org/officeDocument/2006/relationships/slide" Target="slides/slide39.xml"/><Relationship Id="rId26" Type="http://schemas.openxmlformats.org/officeDocument/2006/relationships/slide" Target="slides/slide40.xml"/><Relationship Id="rId27" Type="http://schemas.openxmlformats.org/officeDocument/2006/relationships/slide" Target="slides/slide41.xml"/><Relationship Id="rId28" Type="http://schemas.openxmlformats.org/officeDocument/2006/relationships/slide" Target="slides/slide42.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building-society scenario. Emphasise conceptual explanations before portal clicks.</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Times are proposed and may be adjusted to the live demo pace. Breaks and lunch can be inserted as needed.</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learners to explain one service in their own words. Clarify that an app registration is an application identity definition; the service principal is its tenant-local representation, surfaced under Enterprise applications.</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Clarify the diagram: the Entra tenant is an identity directory, not an Azure RBAC parent scope above management groups. Management group/subscription/resource group/resource form the Azure resource-governance hierarchy. Confirm the subscription's associated tenant before assigning access.</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creating an app registration generally creates its service principal in the home tenant, visible under Enterprise applications. Other tenants can have their own service principals. Managed identity is preferable for supported Azure-hosted workloads.</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Azure Load Testing separately: it generates controlled traffic for an approved target; Application Insights provides telemetry; Log Analytics stores and queries relevant logs.</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diagram is a proposed target design. The standalone Service Bus Explorer exercise does not automatically connect the queue to the local tracker or Function.</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Portal labels can change. Verify supported tiers, network access and pricing for the tenant before live delivery. Creating a namespace can incur cost.</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the mode offered by the actual Explorer. ReceiveAndDelete removes immediately and must not be treated as PeekLock. Never purge shared queues or use production data.</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service naming and portal experience evolve; confirm which services are enabled in the training tenant. Avoid claiming all AI services are available without approval.</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an instructor-provided fictional document. Availability of Studio and model options depends on tenant and region. Do not upload actual customer documents.</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AI/Blob architecture is illustrative. The deployed Document Tracker instead stores temporary training text in SQL, uses a transactional SQL outbox and Service Bus, and performs deterministic format validation. No OCR, AI, Blob upload or lending decision is implemented in that demo.</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Cleanup only owned disposable resources with approval. Do not delete shared resource groups or monitoring data.</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sibling LbsDocumentTracker.Azure project, not the original. See ARCHITECTURE-AND-OPERATIONS.md sections 1-3. Demonstrate the correct URL http://127.0.0.1:5293 and use SampleData/01-valid-application.txt with LBS-DEMO-1001.</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Resources: RG Training; SQL firstsqlserver2026 / firstdb (Central US); Function fristAzureFunctionApp (UK South, Flex); Service Bus fristAzureServiceBus / document-processing (UK South). 'frist' is the actual spelling. Web submission commits Documents and Outbox in one transaction. Dispatcher reads up to 20 rows every 15 seconds, sends then marks dispatched. Processor conditionally finalizes and clears DocumentText. No distributed exactly-once transaction. Cross-region latency/cost should be reviewed.</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Functions/Program.cs explicitly chooses ManagedIdentityCredential(SystemAssigned) when hosted; Development chooses AzureCliCredential. Web uses AzureCliCredential locally. SQL repository requests https://database.windows.net/.default and enforces encryption with certificate validation. Do not claim all infrastructure is secretless: existing host/deployment storage configuration was preserved.</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setup, not an instruction to rerun CREATE USER. Review Database/function-access.sql: it checks firstdb, creates only if absent, verifies the identity SID and grants access. Do not guess a SQL SID from the managed identity object ID. User creation used FROM EXTERNAL PROVIDER. SQL resource IAM Contributor/Owner is not a substitute for SQL table grants. Runtime needs no db_owner or schema ownership. Verify via sys.database_principals and sys.database_permissions as documented in the architecture guide.</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Functions share one identity, so its SQL rights are the union of dispatcher and processor needs. The current local CLI account was already SQL Entra administrator; listed web grants are the least-privileged target, not a claim that admin rights were removed. Contributor controls resources but is not a Service Bus data role. Role assignments require an authorized operator and may take time to propagate.</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Portal: SQL server firstsqlserver2026 &gt; Networking &gt; Public access &gt; Selected networks &gt; Exceptions &gt; Allow Azure services and resources to access this server &gt; Save. Special rule start/end 0.0.0.0, commonly AllowAllWindowsAzureIps. Not an unrestricted internet range, but broad Azure-origin access. Laptop normally still needs its own approved public IP rule. No new cloud changes are authorized by showing this slide. Source: https://learn.microsoft.com/en-us/azure/azure-sql/database/firewall-configure</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https://learn.microsoft.com/en-us/azure/service-bus-messaging/service-bus-ip-filtering and SQL firewall documentation. Advanced Service Bus network controls are tier-dependent; the namespace was observed as Basic. Do not assume Premium networking features exist. For production, review tighter approved network isolation. Never say managed identity bypasses these policies.</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only. Do not display secrets in the Portal. Existing AzureWebJobsStorage, deployment storage and App Insights connection settings were preserved. Do not add a competing ServiceBusConnection SAS string. Flex runtime selection is in functionAppConfig.runtime. Do not set the hosted app to Development, which selects CLI credentials in application code.</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LbsDocumentTracker.Azure: az login; set ASPNETCORE_ENVIRONMENT and DOTNET_ENVIRONMENT to Development in local PowerShell; dotnet run --project .\Web\LbsDocumentTracker.Azure.Web.csproj. Do not restart a second UI if port 5293 already belongs to the user's running app. Repeated references are allowed and create different GUIDs. Do not confuse original port 5193 with Azure version 5293. Starting the web app does not deploy Functions.</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 provided by owner, not a fresh automated run. Four sample-01 records submitted at 22:01:42, 22:03:50, 22:04:40 and 22:05:21 show Completed after the owner reported enabling SQL's Azure-services exception. This does not prove DLQ zero or old-job recovery. Earlier complete acceptance run passed, later IP-based retest failed. Preserve this timeline.</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Commands from Azure project root: dotnet build .\LbsDocumentTracker.Azure.slnx; dotnet run --project .\Checks\LbsDocumentTracker.Azure.Checks.csproj -- "$PWD\SampleData"; .\Test-Live.ps1 -SubmitTrainingData only after approval. Live script uses local 5293, antiforgery and a shared 3-minute deadline after submission. Latest screenshots only demonstrate sample 01; full ten-case post-change regression remains homework. Use captured GUIDs, not whole-database totals. SQL backups may retain cleared content.</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 Insights KQL: exceptions | where timestamp &gt; ago(30m) | project timestamp, operation_Name, outerMessage | order by timestamp desc | take 20. Requests: requests | where timestamp &gt; ago(30m) | where name contains "ProcessTrainingDocument" | project timestamp, name, success, duration | take 20. Logs can be delayed/sampled. Malformed message -&gt; InvalidDocumentMessage; technical errors retry toward max delivery count 10, lock 1 minute. Needs review is normal business rejection. Peek does not lock or settle. A reviewed PeekLock replay workflow and approval are required. No automatic DLQ replay is implemented.</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EXTERNAL-USER-ACCESS.md. Guest Inviter / tenant policy controls invitations; roleAssignments/write (e.g. Owner, User Access Administrator or RBAC Administrator) controls Azure role assignment. Contributor alone cannot assign roles. Guest membership does not prove subscription access. Use IAM Check access at subscription and Training. Remove assignments, separate SQL/data access and approved group memberships after training; do not delete a tenant guest used elsewhere without identity-owner review.</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ARCHITECTURE-AND-OPERATIONS.md sections 13-14. Do not deploy by merely removing loopback guards or setting Azure to Development. Add an explicit secure hosted mode. Preserve current local defaults and tests. App Service needs its own SQL contained user; no queue role is needed for the web because it writes the SQL outbox. No VNet is required for the owner's current lab choice; stricter production networking is separate optional approved work. Test-Live.ps1 does not support hosted Entra auth unchanged. Documentation: ARCHITECTURE-AND-OPERATIONS.md and EXTERNAL-USER-ACCESS.md in the Azure project.</a:t>
            </a:r>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V3 delivery: core slides 1-33 follow the uploaded Day 2 agenda. Use only a short tracker demonstration within the morning Service Bus slot. Protect 13:30 AI services and 14:30 AI practical. Slides 34-42 are optional reference/demo material; do not displace the afternoon AI sessions.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WELCOME</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Day 2 | Build connected, intelligent Azure applications</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From Azure fundamentals to messaging, practical integration and Microsoft AI</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01</a:t>
            </a:r>
            <a:endParaRPr lang="en-US" sz="1000" dirty="0"/>
          </a:p>
        </p:txBody>
      </p:sp>
      <p:sp>
        <p:nvSpPr>
          <p:cNvPr id="9" name="Shape 7"/>
          <p:cNvSpPr/>
          <p:nvPr/>
        </p:nvSpPr>
        <p:spPr>
          <a:xfrm>
            <a:off x="640080" y="2240280"/>
            <a:ext cx="10927080" cy="2286000"/>
          </a:xfrm>
          <a:prstGeom prst="roundRect">
            <a:avLst>
              <a:gd name="adj" fmla="val 6400"/>
            </a:avLst>
          </a:prstGeom>
          <a:solidFill>
            <a:srgbClr val="101D35"/>
          </a:solidFill>
          <a:ln w="12700">
            <a:solidFill>
              <a:srgbClr val="101D35"/>
            </a:solidFill>
            <a:prstDash val="solid"/>
          </a:ln>
        </p:spPr>
        <p:txBody>
          <a:bodyPr/>
          <a:p/>
        </p:txBody>
      </p:sp>
      <p:sp>
        <p:nvSpPr>
          <p:cNvPr id="10" name="Text 8"/>
          <p:cNvSpPr/>
          <p:nvPr/>
        </p:nvSpPr>
        <p:spPr>
          <a:xfrm>
            <a:off x="1024128" y="2816352"/>
            <a:ext cx="10058400" cy="914400"/>
          </a:xfrm>
          <a:prstGeom prst="rect">
            <a:avLst/>
          </a:prstGeom>
          <a:noFill/>
          <a:ln/>
        </p:spPr>
        <p:txBody>
          <a:bodyPr wrap="square" lIns="0" tIns="0" rIns="0" bIns="0" rtlCol="0" anchor="ctr"/>
          <a:lstStyle/>
          <a:p>
            <a:pPr algn="ctr" indent="0" marL="0">
              <a:buNone/>
            </a:pPr>
            <a:r>
              <a:rPr lang="en-US" sz="2900" b="1" dirty="0">
                <a:solidFill>
                  <a:srgbClr val="FFFFFF"/>
                </a:solidFill>
                <a:latin typeface="Aptos" pitchFamily="34" charset="0"/>
                <a:ea typeface="Aptos" pitchFamily="34" charset="-122"/>
                <a:cs typeface="Aptos" pitchFamily="34" charset="-120"/>
              </a:rPr>
              <a:t>Understand  →  Create  →  Demonstrate  →  Explain</a:t>
            </a:r>
            <a:endParaRPr lang="en-US" sz="2900" dirty="0"/>
          </a:p>
        </p:txBody>
      </p:sp>
      <p:sp>
        <p:nvSpPr>
          <p:cNvPr id="11" name="Text 9"/>
          <p:cNvSpPr/>
          <p:nvPr/>
        </p:nvSpPr>
        <p:spPr>
          <a:xfrm>
            <a:off x="1143000" y="5074920"/>
            <a:ext cx="9784080" cy="457200"/>
          </a:xfrm>
          <a:prstGeom prst="rect">
            <a:avLst/>
          </a:prstGeom>
          <a:noFill/>
          <a:ln/>
        </p:spPr>
        <p:txBody>
          <a:bodyPr wrap="square" lIns="0" tIns="0" rIns="0" bIns="0" rtlCol="0" anchor="ctr"/>
          <a:lstStyle/>
          <a:p>
            <a:pPr algn="ctr" indent="0" marL="0">
              <a:buNone/>
            </a:pPr>
            <a:r>
              <a:rPr lang="en-US" sz="1800" dirty="0">
                <a:solidFill>
                  <a:srgbClr val="587087"/>
                </a:solidFill>
                <a:latin typeface="Aptos" pitchFamily="34" charset="0"/>
                <a:ea typeface="Aptos" pitchFamily="34" charset="-122"/>
                <a:cs typeface="Aptos" pitchFamily="34" charset="-120"/>
              </a:rPr>
              <a:t>Experienced developers • Azure beginners • Fictional building-society scenario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AGENDA</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Today’s learning journey</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09:45–17:30 • Instructor demonstration followed by guided practice</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02</a:t>
            </a:r>
            <a:endParaRPr lang="en-US" sz="1000" dirty="0"/>
          </a:p>
        </p:txBody>
      </p:sp>
      <p:sp>
        <p:nvSpPr>
          <p:cNvPr id="9" name="Shape 7"/>
          <p:cNvSpPr/>
          <p:nvPr/>
        </p:nvSpPr>
        <p:spPr>
          <a:xfrm>
            <a:off x="777240" y="1965960"/>
            <a:ext cx="10515600" cy="466344"/>
          </a:xfrm>
          <a:prstGeom prst="roundRect">
            <a:avLst>
              <a:gd name="adj" fmla="val 31373"/>
            </a:avLst>
          </a:prstGeom>
          <a:solidFill>
            <a:srgbClr val="EAF2FB"/>
          </a:solidFill>
          <a:ln w="12700">
            <a:solidFill>
              <a:srgbClr val="EAF2FB"/>
            </a:solidFill>
            <a:prstDash val="solid"/>
          </a:ln>
        </p:spPr>
        <p:txBody>
          <a:bodyPr/>
          <a:p/>
        </p:txBody>
      </p:sp>
      <p:sp>
        <p:nvSpPr>
          <p:cNvPr id="10" name="Text 8"/>
          <p:cNvSpPr/>
          <p:nvPr/>
        </p:nvSpPr>
        <p:spPr>
          <a:xfrm>
            <a:off x="969264" y="2039112"/>
            <a:ext cx="1005840" cy="283464"/>
          </a:xfrm>
          <a:prstGeom prst="rect">
            <a:avLst/>
          </a:prstGeom>
          <a:noFill/>
          <a:ln/>
        </p:spPr>
        <p:txBody>
          <a:bodyPr wrap="square" lIns="0" tIns="0" rIns="0" bIns="0" rtlCol="0" anchor="ctr"/>
          <a:lstStyle/>
          <a:p>
            <a:pPr indent="0" marL="0">
              <a:buNone/>
            </a:pPr>
            <a:r>
              <a:rPr lang="en-US" sz="1500" b="1" dirty="0">
                <a:solidFill>
                  <a:srgbClr val="1768C1"/>
                </a:solidFill>
                <a:latin typeface="Aptos" pitchFamily="34" charset="0"/>
                <a:ea typeface="Aptos" pitchFamily="34" charset="-122"/>
                <a:cs typeface="Aptos" pitchFamily="34" charset="-120"/>
              </a:rPr>
              <a:t>09:45</a:t>
            </a:r>
            <a:endParaRPr lang="en-US" sz="1500" dirty="0"/>
          </a:p>
        </p:txBody>
      </p:sp>
      <p:sp>
        <p:nvSpPr>
          <p:cNvPr id="11" name="Text 9"/>
          <p:cNvSpPr/>
          <p:nvPr/>
        </p:nvSpPr>
        <p:spPr>
          <a:xfrm>
            <a:off x="2176272" y="2029968"/>
            <a:ext cx="8686800" cy="301752"/>
          </a:xfrm>
          <a:prstGeom prst="rect">
            <a:avLst/>
          </a:prstGeom>
          <a:noFill/>
          <a:ln/>
        </p:spPr>
        <p:txBody>
          <a:bodyPr wrap="square" lIns="0" tIns="0" rIns="0" bIns="0" rtlCol="0" anchor="ctr"/>
          <a:lstStyle/>
          <a:p>
            <a:pPr indent="0" marL="0">
              <a:buNone/>
            </a:pPr>
            <a:r>
              <a:rPr lang="en-US" sz="1600" dirty="0">
                <a:solidFill>
                  <a:srgbClr val="1E3047"/>
                </a:solidFill>
                <a:latin typeface="Aptos" pitchFamily="34" charset="0"/>
                <a:ea typeface="Aptos" pitchFamily="34" charset="-122"/>
                <a:cs typeface="Aptos" pitchFamily="34" charset="-120"/>
              </a:rPr>
              <a:t>Day 1 recap and architecture</a:t>
            </a:r>
            <a:endParaRPr lang="en-US" sz="1600" dirty="0"/>
          </a:p>
        </p:txBody>
      </p:sp>
      <p:sp>
        <p:nvSpPr>
          <p:cNvPr id="12" name="Shape 10"/>
          <p:cNvSpPr/>
          <p:nvPr/>
        </p:nvSpPr>
        <p:spPr>
          <a:xfrm>
            <a:off x="777240" y="2532888"/>
            <a:ext cx="10515600" cy="466344"/>
          </a:xfrm>
          <a:prstGeom prst="roundRect">
            <a:avLst>
              <a:gd name="adj" fmla="val 31373"/>
            </a:avLst>
          </a:prstGeom>
          <a:solidFill>
            <a:srgbClr val="F6F9FC"/>
          </a:solidFill>
          <a:ln w="12700">
            <a:solidFill>
              <a:srgbClr val="F6F9FC"/>
            </a:solidFill>
            <a:prstDash val="solid"/>
          </a:ln>
        </p:spPr>
        <p:txBody>
          <a:bodyPr/>
          <a:p/>
        </p:txBody>
      </p:sp>
      <p:sp>
        <p:nvSpPr>
          <p:cNvPr id="13" name="Text 11"/>
          <p:cNvSpPr/>
          <p:nvPr/>
        </p:nvSpPr>
        <p:spPr>
          <a:xfrm>
            <a:off x="969264" y="2606040"/>
            <a:ext cx="1005840" cy="283464"/>
          </a:xfrm>
          <a:prstGeom prst="rect">
            <a:avLst/>
          </a:prstGeom>
          <a:noFill/>
          <a:ln/>
        </p:spPr>
        <p:txBody>
          <a:bodyPr wrap="square" lIns="0" tIns="0" rIns="0" bIns="0" rtlCol="0" anchor="ctr"/>
          <a:lstStyle/>
          <a:p>
            <a:pPr indent="0" marL="0">
              <a:buNone/>
            </a:pPr>
            <a:r>
              <a:rPr lang="en-US" sz="1500" b="1" dirty="0">
                <a:solidFill>
                  <a:srgbClr val="1768C1"/>
                </a:solidFill>
                <a:latin typeface="Aptos" pitchFamily="34" charset="0"/>
                <a:ea typeface="Aptos" pitchFamily="34" charset="-122"/>
                <a:cs typeface="Aptos" pitchFamily="34" charset="-120"/>
              </a:rPr>
              <a:t>10:25</a:t>
            </a:r>
            <a:endParaRPr lang="en-US" sz="1500" dirty="0"/>
          </a:p>
        </p:txBody>
      </p:sp>
      <p:sp>
        <p:nvSpPr>
          <p:cNvPr id="14" name="Text 12"/>
          <p:cNvSpPr/>
          <p:nvPr/>
        </p:nvSpPr>
        <p:spPr>
          <a:xfrm>
            <a:off x="2176272" y="2596896"/>
            <a:ext cx="8686800" cy="301752"/>
          </a:xfrm>
          <a:prstGeom prst="rect">
            <a:avLst/>
          </a:prstGeom>
          <a:noFill/>
          <a:ln/>
        </p:spPr>
        <p:txBody>
          <a:bodyPr wrap="square" lIns="0" tIns="0" rIns="0" bIns="0" rtlCol="0" anchor="ctr"/>
          <a:lstStyle/>
          <a:p>
            <a:pPr indent="0" marL="0">
              <a:buNone/>
            </a:pPr>
            <a:r>
              <a:rPr lang="en-US" sz="1600" dirty="0">
                <a:solidFill>
                  <a:srgbClr val="1E3047"/>
                </a:solidFill>
                <a:latin typeface="Aptos" pitchFamily="34" charset="0"/>
                <a:ea typeface="Aptos" pitchFamily="34" charset="-122"/>
                <a:cs typeface="Aptos" pitchFamily="34" charset="-120"/>
              </a:rPr>
              <a:t>Azure Service Bus: why, what and how</a:t>
            </a:r>
            <a:endParaRPr lang="en-US" sz="1600" dirty="0"/>
          </a:p>
        </p:txBody>
      </p:sp>
      <p:sp>
        <p:nvSpPr>
          <p:cNvPr id="15" name="Shape 13"/>
          <p:cNvSpPr/>
          <p:nvPr/>
        </p:nvSpPr>
        <p:spPr>
          <a:xfrm>
            <a:off x="777240" y="3099816"/>
            <a:ext cx="10515600" cy="466344"/>
          </a:xfrm>
          <a:prstGeom prst="roundRect">
            <a:avLst>
              <a:gd name="adj" fmla="val 31373"/>
            </a:avLst>
          </a:prstGeom>
          <a:solidFill>
            <a:srgbClr val="EAF2FB"/>
          </a:solidFill>
          <a:ln w="12700">
            <a:solidFill>
              <a:srgbClr val="EAF2FB"/>
            </a:solidFill>
            <a:prstDash val="solid"/>
          </a:ln>
        </p:spPr>
        <p:txBody>
          <a:bodyPr/>
          <a:p/>
        </p:txBody>
      </p:sp>
      <p:sp>
        <p:nvSpPr>
          <p:cNvPr id="16" name="Text 14"/>
          <p:cNvSpPr/>
          <p:nvPr/>
        </p:nvSpPr>
        <p:spPr>
          <a:xfrm>
            <a:off x="969264" y="3172968"/>
            <a:ext cx="1005840" cy="283464"/>
          </a:xfrm>
          <a:prstGeom prst="rect">
            <a:avLst/>
          </a:prstGeom>
          <a:noFill/>
          <a:ln/>
        </p:spPr>
        <p:txBody>
          <a:bodyPr wrap="square" lIns="0" tIns="0" rIns="0" bIns="0" rtlCol="0" anchor="ctr"/>
          <a:lstStyle/>
          <a:p>
            <a:pPr indent="0" marL="0">
              <a:buNone/>
            </a:pPr>
            <a:r>
              <a:rPr lang="en-US" sz="1500" b="1" dirty="0">
                <a:solidFill>
                  <a:srgbClr val="1768C1"/>
                </a:solidFill>
                <a:latin typeface="Aptos" pitchFamily="34" charset="0"/>
                <a:ea typeface="Aptos" pitchFamily="34" charset="-122"/>
                <a:cs typeface="Aptos" pitchFamily="34" charset="-120"/>
              </a:rPr>
              <a:t>11:45</a:t>
            </a:r>
            <a:endParaRPr lang="en-US" sz="1500" dirty="0"/>
          </a:p>
        </p:txBody>
      </p:sp>
      <p:sp>
        <p:nvSpPr>
          <p:cNvPr id="17" name="Text 15"/>
          <p:cNvSpPr/>
          <p:nvPr/>
        </p:nvSpPr>
        <p:spPr>
          <a:xfrm>
            <a:off x="2176272" y="3163824"/>
            <a:ext cx="8686800" cy="301752"/>
          </a:xfrm>
          <a:prstGeom prst="rect">
            <a:avLst/>
          </a:prstGeom>
          <a:noFill/>
          <a:ln/>
        </p:spPr>
        <p:txBody>
          <a:bodyPr wrap="square" lIns="0" tIns="0" rIns="0" bIns="0" rtlCol="0" anchor="ctr"/>
          <a:lstStyle/>
          <a:p>
            <a:pPr indent="0" marL="0">
              <a:buNone/>
            </a:pPr>
            <a:r>
              <a:rPr lang="en-US" sz="1600" dirty="0">
                <a:solidFill>
                  <a:srgbClr val="1E3047"/>
                </a:solidFill>
                <a:latin typeface="Aptos" pitchFamily="34" charset="0"/>
                <a:ea typeface="Aptos" pitchFamily="34" charset="-122"/>
                <a:cs typeface="Aptos" pitchFamily="34" charset="-120"/>
              </a:rPr>
              <a:t>Queue lab + short SQL / Functions demo</a:t>
            </a:r>
            <a:endParaRPr lang="en-US" sz="1600" dirty="0"/>
          </a:p>
        </p:txBody>
      </p:sp>
      <p:sp>
        <p:nvSpPr>
          <p:cNvPr id="18" name="Shape 16"/>
          <p:cNvSpPr/>
          <p:nvPr/>
        </p:nvSpPr>
        <p:spPr>
          <a:xfrm>
            <a:off x="777240" y="3666744"/>
            <a:ext cx="10515600" cy="466344"/>
          </a:xfrm>
          <a:prstGeom prst="roundRect">
            <a:avLst>
              <a:gd name="adj" fmla="val 31373"/>
            </a:avLst>
          </a:prstGeom>
          <a:solidFill>
            <a:srgbClr val="F6F9FC"/>
          </a:solidFill>
          <a:ln w="12700">
            <a:solidFill>
              <a:srgbClr val="F6F9FC"/>
            </a:solidFill>
            <a:prstDash val="solid"/>
          </a:ln>
        </p:spPr>
        <p:txBody>
          <a:bodyPr/>
          <a:p/>
        </p:txBody>
      </p:sp>
      <p:sp>
        <p:nvSpPr>
          <p:cNvPr id="19" name="Text 17"/>
          <p:cNvSpPr/>
          <p:nvPr/>
        </p:nvSpPr>
        <p:spPr>
          <a:xfrm>
            <a:off x="969264" y="3739896"/>
            <a:ext cx="1005840" cy="283464"/>
          </a:xfrm>
          <a:prstGeom prst="rect">
            <a:avLst/>
          </a:prstGeom>
          <a:noFill/>
          <a:ln/>
        </p:spPr>
        <p:txBody>
          <a:bodyPr wrap="square" lIns="0" tIns="0" rIns="0" bIns="0" rtlCol="0" anchor="ctr"/>
          <a:lstStyle/>
          <a:p>
            <a:pPr indent="0" marL="0">
              <a:buNone/>
            </a:pPr>
            <a:r>
              <a:rPr lang="en-US" sz="1500" b="1" dirty="0">
                <a:solidFill>
                  <a:srgbClr val="1768C1"/>
                </a:solidFill>
                <a:latin typeface="Aptos" pitchFamily="34" charset="0"/>
                <a:ea typeface="Aptos" pitchFamily="34" charset="-122"/>
                <a:cs typeface="Aptos" pitchFamily="34" charset="-120"/>
              </a:rPr>
              <a:t>13:30</a:t>
            </a:r>
            <a:endParaRPr lang="en-US" sz="1500" dirty="0"/>
          </a:p>
        </p:txBody>
      </p:sp>
      <p:sp>
        <p:nvSpPr>
          <p:cNvPr id="20" name="Text 18"/>
          <p:cNvSpPr/>
          <p:nvPr/>
        </p:nvSpPr>
        <p:spPr>
          <a:xfrm>
            <a:off x="2176272" y="3730752"/>
            <a:ext cx="8686800" cy="301752"/>
          </a:xfrm>
          <a:prstGeom prst="rect">
            <a:avLst/>
          </a:prstGeom>
          <a:noFill/>
          <a:ln/>
        </p:spPr>
        <p:txBody>
          <a:bodyPr wrap="square" lIns="0" tIns="0" rIns="0" bIns="0" rtlCol="0" anchor="ctr"/>
          <a:lstStyle/>
          <a:p>
            <a:pPr indent="0" marL="0">
              <a:buNone/>
            </a:pPr>
            <a:r>
              <a:rPr lang="en-US" sz="1600" dirty="0">
                <a:solidFill>
                  <a:srgbClr val="1E3047"/>
                </a:solidFill>
                <a:latin typeface="Aptos" pitchFamily="34" charset="0"/>
                <a:ea typeface="Aptos" pitchFamily="34" charset="-122"/>
                <a:cs typeface="Aptos" pitchFamily="34" charset="-120"/>
              </a:rPr>
              <a:t>Microsoft Azure AI: services and selection</a:t>
            </a:r>
            <a:endParaRPr lang="en-US" sz="1600" dirty="0"/>
          </a:p>
        </p:txBody>
      </p:sp>
      <p:sp>
        <p:nvSpPr>
          <p:cNvPr id="21" name="Shape 19"/>
          <p:cNvSpPr/>
          <p:nvPr/>
        </p:nvSpPr>
        <p:spPr>
          <a:xfrm>
            <a:off x="777240" y="4233672"/>
            <a:ext cx="10515600" cy="466344"/>
          </a:xfrm>
          <a:prstGeom prst="roundRect">
            <a:avLst>
              <a:gd name="adj" fmla="val 31373"/>
            </a:avLst>
          </a:prstGeom>
          <a:solidFill>
            <a:srgbClr val="EAF2FB"/>
          </a:solidFill>
          <a:ln w="12700">
            <a:solidFill>
              <a:srgbClr val="EAF2FB"/>
            </a:solidFill>
            <a:prstDash val="solid"/>
          </a:ln>
        </p:spPr>
        <p:txBody>
          <a:bodyPr/>
          <a:p/>
        </p:txBody>
      </p:sp>
      <p:sp>
        <p:nvSpPr>
          <p:cNvPr id="22" name="Text 20"/>
          <p:cNvSpPr/>
          <p:nvPr/>
        </p:nvSpPr>
        <p:spPr>
          <a:xfrm>
            <a:off x="969264" y="4306824"/>
            <a:ext cx="1005840" cy="283464"/>
          </a:xfrm>
          <a:prstGeom prst="rect">
            <a:avLst/>
          </a:prstGeom>
          <a:noFill/>
          <a:ln/>
        </p:spPr>
        <p:txBody>
          <a:bodyPr wrap="square" lIns="0" tIns="0" rIns="0" bIns="0" rtlCol="0" anchor="ctr"/>
          <a:lstStyle/>
          <a:p>
            <a:pPr indent="0" marL="0">
              <a:buNone/>
            </a:pPr>
            <a:r>
              <a:rPr lang="en-US" sz="1500" b="1" dirty="0">
                <a:solidFill>
                  <a:srgbClr val="1768C1"/>
                </a:solidFill>
                <a:latin typeface="Aptos" pitchFamily="34" charset="0"/>
                <a:ea typeface="Aptos" pitchFamily="34" charset="-122"/>
                <a:cs typeface="Aptos" pitchFamily="34" charset="-120"/>
              </a:rPr>
              <a:t>14:30</a:t>
            </a:r>
            <a:endParaRPr lang="en-US" sz="1500" dirty="0"/>
          </a:p>
        </p:txBody>
      </p:sp>
      <p:sp>
        <p:nvSpPr>
          <p:cNvPr id="23" name="Text 21"/>
          <p:cNvSpPr/>
          <p:nvPr/>
        </p:nvSpPr>
        <p:spPr>
          <a:xfrm>
            <a:off x="2176272" y="4297680"/>
            <a:ext cx="8686800" cy="301752"/>
          </a:xfrm>
          <a:prstGeom prst="rect">
            <a:avLst/>
          </a:prstGeom>
          <a:noFill/>
          <a:ln/>
        </p:spPr>
        <p:txBody>
          <a:bodyPr wrap="square" lIns="0" tIns="0" rIns="0" bIns="0" rtlCol="0" anchor="ctr"/>
          <a:lstStyle/>
          <a:p>
            <a:pPr indent="0" marL="0">
              <a:buNone/>
            </a:pPr>
            <a:r>
              <a:rPr lang="en-US" sz="1600" dirty="0">
                <a:solidFill>
                  <a:srgbClr val="1E3047"/>
                </a:solidFill>
                <a:latin typeface="Aptos" pitchFamily="34" charset="0"/>
                <a:ea typeface="Aptos" pitchFamily="34" charset="-122"/>
                <a:cs typeface="Aptos" pitchFamily="34" charset="-120"/>
              </a:rPr>
              <a:t>Azure AI practical walkthrough</a:t>
            </a:r>
            <a:endParaRPr lang="en-US" sz="1600" dirty="0"/>
          </a:p>
        </p:txBody>
      </p:sp>
      <p:sp>
        <p:nvSpPr>
          <p:cNvPr id="24" name="Shape 22"/>
          <p:cNvSpPr/>
          <p:nvPr/>
        </p:nvSpPr>
        <p:spPr>
          <a:xfrm>
            <a:off x="777240" y="4800600"/>
            <a:ext cx="10515600" cy="466344"/>
          </a:xfrm>
          <a:prstGeom prst="roundRect">
            <a:avLst>
              <a:gd name="adj" fmla="val 31373"/>
            </a:avLst>
          </a:prstGeom>
          <a:solidFill>
            <a:srgbClr val="F6F9FC"/>
          </a:solidFill>
          <a:ln w="12700">
            <a:solidFill>
              <a:srgbClr val="F6F9FC"/>
            </a:solidFill>
            <a:prstDash val="solid"/>
          </a:ln>
        </p:spPr>
        <p:txBody>
          <a:bodyPr/>
          <a:p/>
        </p:txBody>
      </p:sp>
      <p:sp>
        <p:nvSpPr>
          <p:cNvPr id="25" name="Text 23"/>
          <p:cNvSpPr/>
          <p:nvPr/>
        </p:nvSpPr>
        <p:spPr>
          <a:xfrm>
            <a:off x="969264" y="4873752"/>
            <a:ext cx="1005840" cy="283464"/>
          </a:xfrm>
          <a:prstGeom prst="rect">
            <a:avLst/>
          </a:prstGeom>
          <a:noFill/>
          <a:ln/>
        </p:spPr>
        <p:txBody>
          <a:bodyPr wrap="square" lIns="0" tIns="0" rIns="0" bIns="0" rtlCol="0" anchor="ctr"/>
          <a:lstStyle/>
          <a:p>
            <a:pPr indent="0" marL="0">
              <a:buNone/>
            </a:pPr>
            <a:r>
              <a:rPr lang="en-US" sz="1500" b="1" dirty="0">
                <a:solidFill>
                  <a:srgbClr val="1768C1"/>
                </a:solidFill>
                <a:latin typeface="Aptos" pitchFamily="34" charset="0"/>
                <a:ea typeface="Aptos" pitchFamily="34" charset="-122"/>
                <a:cs typeface="Aptos" pitchFamily="34" charset="-120"/>
              </a:rPr>
              <a:t>16:00</a:t>
            </a:r>
            <a:endParaRPr lang="en-US" sz="1500" dirty="0"/>
          </a:p>
        </p:txBody>
      </p:sp>
      <p:sp>
        <p:nvSpPr>
          <p:cNvPr id="26" name="Text 24"/>
          <p:cNvSpPr/>
          <p:nvPr/>
        </p:nvSpPr>
        <p:spPr>
          <a:xfrm>
            <a:off x="2176272" y="4864608"/>
            <a:ext cx="8686800" cy="301752"/>
          </a:xfrm>
          <a:prstGeom prst="rect">
            <a:avLst/>
          </a:prstGeom>
          <a:noFill/>
          <a:ln/>
        </p:spPr>
        <p:txBody>
          <a:bodyPr wrap="square" lIns="0" tIns="0" rIns="0" bIns="0" rtlCol="0" anchor="ctr"/>
          <a:lstStyle/>
          <a:p>
            <a:pPr indent="0" marL="0">
              <a:buNone/>
            </a:pPr>
            <a:r>
              <a:rPr lang="en-US" sz="1600" dirty="0">
                <a:solidFill>
                  <a:srgbClr val="1E3047"/>
                </a:solidFill>
                <a:latin typeface="Aptos" pitchFamily="34" charset="0"/>
                <a:ea typeface="Aptos" pitchFamily="34" charset="-122"/>
                <a:cs typeface="Aptos" pitchFamily="34" charset="-120"/>
              </a:rPr>
              <a:t>Real-world scenario and design discussion</a:t>
            </a:r>
            <a:endParaRPr lang="en-US" sz="1600" dirty="0"/>
          </a:p>
        </p:txBody>
      </p:sp>
      <p:sp>
        <p:nvSpPr>
          <p:cNvPr id="27" name="Shape 25"/>
          <p:cNvSpPr/>
          <p:nvPr/>
        </p:nvSpPr>
        <p:spPr>
          <a:xfrm>
            <a:off x="777240" y="5367528"/>
            <a:ext cx="10515600" cy="466344"/>
          </a:xfrm>
          <a:prstGeom prst="roundRect">
            <a:avLst>
              <a:gd name="adj" fmla="val 31373"/>
            </a:avLst>
          </a:prstGeom>
          <a:solidFill>
            <a:srgbClr val="EAF2FB"/>
          </a:solidFill>
          <a:ln w="12700">
            <a:solidFill>
              <a:srgbClr val="EAF2FB"/>
            </a:solidFill>
            <a:prstDash val="solid"/>
          </a:ln>
        </p:spPr>
        <p:txBody>
          <a:bodyPr/>
          <a:p/>
        </p:txBody>
      </p:sp>
      <p:sp>
        <p:nvSpPr>
          <p:cNvPr id="28" name="Text 26"/>
          <p:cNvSpPr/>
          <p:nvPr/>
        </p:nvSpPr>
        <p:spPr>
          <a:xfrm>
            <a:off x="969264" y="5440680"/>
            <a:ext cx="1005840" cy="283464"/>
          </a:xfrm>
          <a:prstGeom prst="rect">
            <a:avLst/>
          </a:prstGeom>
          <a:noFill/>
          <a:ln/>
        </p:spPr>
        <p:txBody>
          <a:bodyPr wrap="square" lIns="0" tIns="0" rIns="0" bIns="0" rtlCol="0" anchor="ctr"/>
          <a:lstStyle/>
          <a:p>
            <a:pPr indent="0" marL="0">
              <a:buNone/>
            </a:pPr>
            <a:r>
              <a:rPr lang="en-US" sz="1500" b="1" dirty="0">
                <a:solidFill>
                  <a:srgbClr val="1768C1"/>
                </a:solidFill>
                <a:latin typeface="Aptos" pitchFamily="34" charset="0"/>
                <a:ea typeface="Aptos" pitchFamily="34" charset="-122"/>
                <a:cs typeface="Aptos" pitchFamily="34" charset="-120"/>
              </a:rPr>
              <a:t>17:00</a:t>
            </a:r>
            <a:endParaRPr lang="en-US" sz="1500" dirty="0"/>
          </a:p>
        </p:txBody>
      </p:sp>
      <p:sp>
        <p:nvSpPr>
          <p:cNvPr id="29" name="Text 27"/>
          <p:cNvSpPr/>
          <p:nvPr/>
        </p:nvSpPr>
        <p:spPr>
          <a:xfrm>
            <a:off x="2176272" y="5431536"/>
            <a:ext cx="8686800" cy="301752"/>
          </a:xfrm>
          <a:prstGeom prst="rect">
            <a:avLst/>
          </a:prstGeom>
          <a:noFill/>
          <a:ln/>
        </p:spPr>
        <p:txBody>
          <a:bodyPr wrap="square" lIns="0" tIns="0" rIns="0" bIns="0" rtlCol="0" anchor="ctr"/>
          <a:lstStyle/>
          <a:p>
            <a:pPr indent="0" marL="0">
              <a:buNone/>
            </a:pPr>
            <a:r>
              <a:rPr lang="en-US" sz="1600" dirty="0">
                <a:solidFill>
                  <a:srgbClr val="1E3047"/>
                </a:solidFill>
                <a:latin typeface="Aptos" pitchFamily="34" charset="0"/>
                <a:ea typeface="Aptos" pitchFamily="34" charset="-122"/>
                <a:cs typeface="Aptos" pitchFamily="34" charset="-120"/>
              </a:rPr>
              <a:t>Knowledge check and safe cleanup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DAY 1 RECAP</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r>
              <a:t>Day 1 recap | Azure foundations, identity, compute and monitoring</a:t>
            </a:r>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A quick refresher: the Azure services and concepts already introduced</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03</a:t>
            </a:r>
            <a:endParaRPr lang="en-US" sz="1000" dirty="0"/>
          </a:p>
        </p:txBody>
      </p:sp>
      <p:sp>
        <p:nvSpPr>
          <p:cNvPr id="9" name="Shape 7"/>
          <p:cNvSpPr/>
          <p:nvPr/>
        </p:nvSpPr>
        <p:spPr>
          <a:xfrm>
            <a:off x="685800" y="1993392"/>
            <a:ext cx="5303520" cy="1143000"/>
          </a:xfrm>
          <a:prstGeom prst="roundRect">
            <a:avLst>
              <a:gd name="adj" fmla="val 12800"/>
            </a:avLst>
          </a:prstGeom>
          <a:solidFill>
            <a:srgbClr val="F3F7FB"/>
          </a:solidFill>
          <a:ln w="12700">
            <a:solidFill>
              <a:srgbClr val="F3F7FB"/>
            </a:solidFill>
            <a:prstDash val="solid"/>
          </a:ln>
        </p:spPr>
        <p:txBody>
          <a:bodyPr/>
          <a:p/>
        </p:txBody>
      </p:sp>
      <p:sp>
        <p:nvSpPr>
          <p:cNvPr id="10" name="Shape 8"/>
          <p:cNvSpPr/>
          <p:nvPr/>
        </p:nvSpPr>
        <p:spPr>
          <a:xfrm>
            <a:off x="685800" y="1993392"/>
            <a:ext cx="64008" cy="1143000"/>
          </a:xfrm>
          <a:prstGeom prst="rect">
            <a:avLst/>
          </a:prstGeom>
          <a:solidFill>
            <a:srgbClr val="1768C1"/>
          </a:solidFill>
          <a:ln w="12700">
            <a:solidFill>
              <a:srgbClr val="1768C1"/>
            </a:solidFill>
            <a:prstDash val="solid"/>
          </a:ln>
        </p:spPr>
        <p:txBody>
          <a:bodyPr/>
          <a:p/>
        </p:txBody>
      </p:sp>
      <p:sp>
        <p:nvSpPr>
          <p:cNvPr id="11" name="Text 9"/>
          <p:cNvSpPr/>
          <p:nvPr/>
        </p:nvSpPr>
        <p:spPr>
          <a:xfrm>
            <a:off x="914400" y="2157984"/>
            <a:ext cx="484632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Cloud service models</a:t>
            </a:r>
            <a:endParaRPr lang="en-US" sz="1900" dirty="0"/>
          </a:p>
        </p:txBody>
      </p:sp>
      <p:sp>
        <p:nvSpPr>
          <p:cNvPr id="12" name="Text 10"/>
          <p:cNvSpPr/>
          <p:nvPr/>
        </p:nvSpPr>
        <p:spPr>
          <a:xfrm>
            <a:off x="914400" y="2651760"/>
            <a:ext cx="4846320" cy="38404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Pizza analogy: IaaS, PaaS, SaaS</a:t>
            </a:r>
            <a:endParaRPr lang="en-US" sz="1500" dirty="0"/>
          </a:p>
        </p:txBody>
      </p:sp>
      <p:sp>
        <p:nvSpPr>
          <p:cNvPr id="13" name="Shape 11"/>
          <p:cNvSpPr/>
          <p:nvPr/>
        </p:nvSpPr>
        <p:spPr>
          <a:xfrm>
            <a:off x="6172200" y="1993392"/>
            <a:ext cx="5303520" cy="1143000"/>
          </a:xfrm>
          <a:prstGeom prst="roundRect">
            <a:avLst>
              <a:gd name="adj" fmla="val 12800"/>
            </a:avLst>
          </a:prstGeom>
          <a:solidFill>
            <a:srgbClr val="F3F7FB"/>
          </a:solidFill>
          <a:ln w="12700">
            <a:solidFill>
              <a:srgbClr val="F3F7FB"/>
            </a:solidFill>
            <a:prstDash val="solid"/>
          </a:ln>
        </p:spPr>
        <p:txBody>
          <a:bodyPr/>
          <a:p/>
        </p:txBody>
      </p:sp>
      <p:sp>
        <p:nvSpPr>
          <p:cNvPr id="14" name="Shape 12"/>
          <p:cNvSpPr/>
          <p:nvPr/>
        </p:nvSpPr>
        <p:spPr>
          <a:xfrm>
            <a:off x="6172200" y="1993392"/>
            <a:ext cx="64008" cy="1143000"/>
          </a:xfrm>
          <a:prstGeom prst="rect">
            <a:avLst/>
          </a:prstGeom>
          <a:solidFill>
            <a:srgbClr val="198D76"/>
          </a:solidFill>
          <a:ln w="12700">
            <a:solidFill>
              <a:srgbClr val="198D76"/>
            </a:solidFill>
            <a:prstDash val="solid"/>
          </a:ln>
        </p:spPr>
        <p:txBody>
          <a:bodyPr/>
          <a:p/>
        </p:txBody>
      </p:sp>
      <p:sp>
        <p:nvSpPr>
          <p:cNvPr id="15" name="Text 13"/>
          <p:cNvSpPr/>
          <p:nvPr/>
        </p:nvSpPr>
        <p:spPr>
          <a:xfrm>
            <a:off x="6400800" y="2157984"/>
            <a:ext cx="484632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Azure organisation</a:t>
            </a:r>
            <a:endParaRPr lang="en-US" sz="1900" dirty="0"/>
          </a:p>
        </p:txBody>
      </p:sp>
      <p:sp>
        <p:nvSpPr>
          <p:cNvPr id="16" name="Text 14"/>
          <p:cNvSpPr/>
          <p:nvPr/>
        </p:nvSpPr>
        <p:spPr>
          <a:xfrm>
            <a:off x="6400800" y="2606040"/>
            <a:ext cx="4846320" cy="475488"/>
          </a:xfrm>
          <a:prstGeom prst="rect">
            <a:avLst/>
          </a:prstGeom>
          <a:noFill/>
          <a:ln/>
        </p:spPr>
        <p:txBody>
          <a:bodyPr wrap="square" lIns="0" tIns="0" rIns="0" bIns="0" rtlCol="0" anchor="t"/>
          <a:lstStyle/>
          <a:p>
            <a:pPr indent="0" marL="0">
              <a:buNone/>
            </a:pPr>
            <a:r>
              <a:rPr lang="en-US" sz="1400" dirty="0">
                <a:solidFill>
                  <a:srgbClr val="1E3047"/>
                </a:solidFill>
                <a:latin typeface="Aptos" pitchFamily="34" charset="0"/>
                <a:ea typeface="Aptos" pitchFamily="34" charset="-122"/>
                <a:cs typeface="Aptos" pitchFamily="34" charset="-120"/>
              </a:rPr>
              <a:t>Entra tenant: identity | Management group → subscription → RG → resource</a:t>
            </a:r>
            <a:endParaRPr lang="en-US" sz="1500" dirty="0"/>
          </a:p>
        </p:txBody>
      </p:sp>
      <p:sp>
        <p:nvSpPr>
          <p:cNvPr id="17" name="Shape 15"/>
          <p:cNvSpPr/>
          <p:nvPr/>
        </p:nvSpPr>
        <p:spPr>
          <a:xfrm>
            <a:off x="685800" y="3300984"/>
            <a:ext cx="5303520" cy="1143000"/>
          </a:xfrm>
          <a:prstGeom prst="roundRect">
            <a:avLst>
              <a:gd name="adj" fmla="val 12800"/>
            </a:avLst>
          </a:prstGeom>
          <a:solidFill>
            <a:srgbClr val="F3F7FB"/>
          </a:solidFill>
          <a:ln w="12700">
            <a:solidFill>
              <a:srgbClr val="F3F7FB"/>
            </a:solidFill>
            <a:prstDash val="solid"/>
          </a:ln>
        </p:spPr>
        <p:txBody>
          <a:bodyPr/>
          <a:p/>
        </p:txBody>
      </p:sp>
      <p:sp>
        <p:nvSpPr>
          <p:cNvPr id="18" name="Shape 16"/>
          <p:cNvSpPr/>
          <p:nvPr/>
        </p:nvSpPr>
        <p:spPr>
          <a:xfrm>
            <a:off x="685800" y="3300984"/>
            <a:ext cx="64008" cy="1143000"/>
          </a:xfrm>
          <a:prstGeom prst="rect">
            <a:avLst/>
          </a:prstGeom>
          <a:solidFill>
            <a:srgbClr val="1768C1"/>
          </a:solidFill>
          <a:ln w="12700">
            <a:solidFill>
              <a:srgbClr val="1768C1"/>
            </a:solidFill>
            <a:prstDash val="solid"/>
          </a:ln>
        </p:spPr>
        <p:txBody>
          <a:bodyPr/>
          <a:p/>
        </p:txBody>
      </p:sp>
      <p:sp>
        <p:nvSpPr>
          <p:cNvPr id="19" name="Text 17"/>
          <p:cNvSpPr/>
          <p:nvPr/>
        </p:nvSpPr>
        <p:spPr>
          <a:xfrm>
            <a:off x="914400" y="3465576"/>
            <a:ext cx="484632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Identity</a:t>
            </a:r>
            <a:endParaRPr lang="en-US" sz="1900" dirty="0"/>
          </a:p>
        </p:txBody>
      </p:sp>
      <p:sp>
        <p:nvSpPr>
          <p:cNvPr id="20" name="Text 18"/>
          <p:cNvSpPr/>
          <p:nvPr/>
        </p:nvSpPr>
        <p:spPr>
          <a:xfrm>
            <a:off x="914400" y="3913632"/>
            <a:ext cx="4846320" cy="475488"/>
          </a:xfrm>
          <a:prstGeom prst="rect">
            <a:avLst/>
          </a:prstGeom>
          <a:noFill/>
          <a:ln/>
        </p:spPr>
        <p:txBody>
          <a:bodyPr wrap="square" lIns="0" tIns="0" rIns="0" bIns="0" rtlCol="0" anchor="t"/>
          <a:lstStyle/>
          <a:p>
            <a:pPr indent="0" marL="0">
              <a:buNone/>
            </a:pPr>
            <a:r>
              <a:rPr lang="en-US" sz="1400" dirty="0">
                <a:solidFill>
                  <a:srgbClr val="1E3047"/>
                </a:solidFill>
                <a:latin typeface="Aptos" pitchFamily="34" charset="0"/>
                <a:ea typeface="Aptos" pitchFamily="34" charset="-122"/>
                <a:cs typeface="Aptos" pitchFamily="34" charset="-120"/>
              </a:rPr>
              <a:t>Managed identity, app registration, service principal and enterprise application</a:t>
            </a:r>
            <a:endParaRPr lang="en-US" sz="1500" dirty="0"/>
          </a:p>
        </p:txBody>
      </p:sp>
      <p:sp>
        <p:nvSpPr>
          <p:cNvPr id="21" name="Shape 19"/>
          <p:cNvSpPr/>
          <p:nvPr/>
        </p:nvSpPr>
        <p:spPr>
          <a:xfrm>
            <a:off x="6172200" y="3300984"/>
            <a:ext cx="5303520" cy="1143000"/>
          </a:xfrm>
          <a:prstGeom prst="roundRect">
            <a:avLst>
              <a:gd name="adj" fmla="val 12800"/>
            </a:avLst>
          </a:prstGeom>
          <a:solidFill>
            <a:srgbClr val="F3F7FB"/>
          </a:solidFill>
          <a:ln w="12700">
            <a:solidFill>
              <a:srgbClr val="F3F7FB"/>
            </a:solidFill>
            <a:prstDash val="solid"/>
          </a:ln>
        </p:spPr>
        <p:txBody>
          <a:bodyPr/>
          <a:p/>
        </p:txBody>
      </p:sp>
      <p:sp>
        <p:nvSpPr>
          <p:cNvPr id="22" name="Shape 20"/>
          <p:cNvSpPr/>
          <p:nvPr/>
        </p:nvSpPr>
        <p:spPr>
          <a:xfrm>
            <a:off x="6172200" y="3300984"/>
            <a:ext cx="64008" cy="1143000"/>
          </a:xfrm>
          <a:prstGeom prst="rect">
            <a:avLst/>
          </a:prstGeom>
          <a:solidFill>
            <a:srgbClr val="198D76"/>
          </a:solidFill>
          <a:ln w="12700">
            <a:solidFill>
              <a:srgbClr val="198D76"/>
            </a:solidFill>
            <a:prstDash val="solid"/>
          </a:ln>
        </p:spPr>
        <p:txBody>
          <a:bodyPr/>
          <a:p/>
        </p:txBody>
      </p:sp>
      <p:sp>
        <p:nvSpPr>
          <p:cNvPr id="23" name="Text 21"/>
          <p:cNvSpPr/>
          <p:nvPr/>
        </p:nvSpPr>
        <p:spPr>
          <a:xfrm>
            <a:off x="6400800" y="3465576"/>
            <a:ext cx="484632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Compute and orchestration</a:t>
            </a:r>
            <a:endParaRPr lang="en-US" sz="1900" dirty="0"/>
          </a:p>
        </p:txBody>
      </p:sp>
      <p:sp>
        <p:nvSpPr>
          <p:cNvPr id="24" name="Text 22"/>
          <p:cNvSpPr/>
          <p:nvPr/>
        </p:nvSpPr>
        <p:spPr>
          <a:xfrm>
            <a:off x="6400800" y="3959352"/>
            <a:ext cx="4846320" cy="38404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Azure Functions and Logic Apps</a:t>
            </a:r>
            <a:endParaRPr lang="en-US" sz="1500" dirty="0"/>
          </a:p>
        </p:txBody>
      </p:sp>
      <p:sp>
        <p:nvSpPr>
          <p:cNvPr id="25" name="Shape 23"/>
          <p:cNvSpPr/>
          <p:nvPr/>
        </p:nvSpPr>
        <p:spPr>
          <a:xfrm>
            <a:off x="685800" y="4608576"/>
            <a:ext cx="5303520" cy="1143000"/>
          </a:xfrm>
          <a:prstGeom prst="roundRect">
            <a:avLst>
              <a:gd name="adj" fmla="val 12800"/>
            </a:avLst>
          </a:prstGeom>
          <a:solidFill>
            <a:srgbClr val="F3F7FB"/>
          </a:solidFill>
          <a:ln w="12700">
            <a:solidFill>
              <a:srgbClr val="F3F7FB"/>
            </a:solidFill>
            <a:prstDash val="solid"/>
          </a:ln>
        </p:spPr>
        <p:txBody>
          <a:bodyPr/>
          <a:p/>
        </p:txBody>
      </p:sp>
      <p:sp>
        <p:nvSpPr>
          <p:cNvPr id="26" name="Shape 24"/>
          <p:cNvSpPr/>
          <p:nvPr/>
        </p:nvSpPr>
        <p:spPr>
          <a:xfrm>
            <a:off x="685800" y="4608576"/>
            <a:ext cx="64008" cy="1143000"/>
          </a:xfrm>
          <a:prstGeom prst="rect">
            <a:avLst/>
          </a:prstGeom>
          <a:solidFill>
            <a:srgbClr val="1768C1"/>
          </a:solidFill>
          <a:ln w="12700">
            <a:solidFill>
              <a:srgbClr val="1768C1"/>
            </a:solidFill>
            <a:prstDash val="solid"/>
          </a:ln>
        </p:spPr>
        <p:txBody>
          <a:bodyPr/>
          <a:p/>
        </p:txBody>
      </p:sp>
      <p:sp>
        <p:nvSpPr>
          <p:cNvPr id="27" name="Text 25"/>
          <p:cNvSpPr/>
          <p:nvPr/>
        </p:nvSpPr>
        <p:spPr>
          <a:xfrm>
            <a:off x="914400" y="4773168"/>
            <a:ext cx="484632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Data and testing</a:t>
            </a:r>
            <a:endParaRPr lang="en-US" sz="1900" dirty="0"/>
          </a:p>
        </p:txBody>
      </p:sp>
      <p:sp>
        <p:nvSpPr>
          <p:cNvPr id="28" name="Text 26"/>
          <p:cNvSpPr/>
          <p:nvPr/>
        </p:nvSpPr>
        <p:spPr>
          <a:xfrm>
            <a:off x="914400" y="5266944"/>
            <a:ext cx="4846320" cy="38404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Blob Storage and Azure Load Testing</a:t>
            </a:r>
            <a:endParaRPr lang="en-US" sz="1500" dirty="0"/>
          </a:p>
        </p:txBody>
      </p:sp>
      <p:sp>
        <p:nvSpPr>
          <p:cNvPr id="29" name="Shape 27"/>
          <p:cNvSpPr/>
          <p:nvPr/>
        </p:nvSpPr>
        <p:spPr>
          <a:xfrm>
            <a:off x="6172200" y="4608576"/>
            <a:ext cx="5303520" cy="1143000"/>
          </a:xfrm>
          <a:prstGeom prst="roundRect">
            <a:avLst>
              <a:gd name="adj" fmla="val 12800"/>
            </a:avLst>
          </a:prstGeom>
          <a:solidFill>
            <a:srgbClr val="F3F7FB"/>
          </a:solidFill>
          <a:ln w="12700">
            <a:solidFill>
              <a:srgbClr val="F3F7FB"/>
            </a:solidFill>
            <a:prstDash val="solid"/>
          </a:ln>
        </p:spPr>
        <p:txBody>
          <a:bodyPr/>
          <a:p/>
        </p:txBody>
      </p:sp>
      <p:sp>
        <p:nvSpPr>
          <p:cNvPr id="30" name="Shape 28"/>
          <p:cNvSpPr/>
          <p:nvPr/>
        </p:nvSpPr>
        <p:spPr>
          <a:xfrm>
            <a:off x="6172200" y="4608576"/>
            <a:ext cx="64008" cy="1143000"/>
          </a:xfrm>
          <a:prstGeom prst="rect">
            <a:avLst/>
          </a:prstGeom>
          <a:solidFill>
            <a:srgbClr val="198D76"/>
          </a:solidFill>
          <a:ln w="12700">
            <a:solidFill>
              <a:srgbClr val="198D76"/>
            </a:solidFill>
            <a:prstDash val="solid"/>
          </a:ln>
        </p:spPr>
        <p:txBody>
          <a:bodyPr/>
          <a:p/>
        </p:txBody>
      </p:sp>
      <p:sp>
        <p:nvSpPr>
          <p:cNvPr id="31" name="Text 29"/>
          <p:cNvSpPr/>
          <p:nvPr/>
        </p:nvSpPr>
        <p:spPr>
          <a:xfrm>
            <a:off x="6400800" y="4773168"/>
            <a:ext cx="484632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Observability</a:t>
            </a:r>
            <a:endParaRPr lang="en-US" sz="1900" dirty="0"/>
          </a:p>
        </p:txBody>
      </p:sp>
      <p:sp>
        <p:nvSpPr>
          <p:cNvPr id="32" name="Text 30"/>
          <p:cNvSpPr/>
          <p:nvPr/>
        </p:nvSpPr>
        <p:spPr>
          <a:xfrm>
            <a:off x="6400800" y="5266944"/>
            <a:ext cx="4846320" cy="38404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Log Analytics workspace and Application Insights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DAY 1 RECAP</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The pizza analogy: who manages what?</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A useful way to distinguish IaaS, PaaS and SaaS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04</a:t>
            </a:r>
            <a:endParaRPr lang="en-US" sz="1000" dirty="0"/>
          </a:p>
        </p:txBody>
      </p:sp>
      <p:sp>
        <p:nvSpPr>
          <p:cNvPr id="9" name="Shape 7"/>
          <p:cNvSpPr/>
          <p:nvPr/>
        </p:nvSpPr>
        <p:spPr>
          <a:xfrm>
            <a:off x="731520" y="2286000"/>
            <a:ext cx="2679192" cy="2377440"/>
          </a:xfrm>
          <a:prstGeom prst="roundRect">
            <a:avLst>
              <a:gd name="adj" fmla="val 6154"/>
            </a:avLst>
          </a:prstGeom>
          <a:solidFill>
            <a:srgbClr val="F3F7FB"/>
          </a:solidFill>
          <a:ln w="12700">
            <a:solidFill>
              <a:srgbClr val="F3F7FB"/>
            </a:solidFill>
            <a:prstDash val="solid"/>
          </a:ln>
        </p:spPr>
        <p:txBody>
          <a:bodyPr/>
          <a:p/>
        </p:txBody>
      </p:sp>
      <p:sp>
        <p:nvSpPr>
          <p:cNvPr id="10" name="Shape 8"/>
          <p:cNvSpPr/>
          <p:nvPr/>
        </p:nvSpPr>
        <p:spPr>
          <a:xfrm>
            <a:off x="731520" y="2286000"/>
            <a:ext cx="64008" cy="2377440"/>
          </a:xfrm>
          <a:prstGeom prst="rect">
            <a:avLst/>
          </a:prstGeom>
          <a:solidFill>
            <a:srgbClr val="1768C1"/>
          </a:solidFill>
          <a:ln w="12700">
            <a:solidFill>
              <a:srgbClr val="1768C1"/>
            </a:solidFill>
            <a:prstDash val="solid"/>
          </a:ln>
        </p:spPr>
        <p:txBody>
          <a:bodyPr/>
          <a:p/>
        </p:txBody>
      </p:sp>
      <p:sp>
        <p:nvSpPr>
          <p:cNvPr id="11" name="Text 9"/>
          <p:cNvSpPr/>
          <p:nvPr/>
        </p:nvSpPr>
        <p:spPr>
          <a:xfrm>
            <a:off x="960120" y="2450592"/>
            <a:ext cx="2221992"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On-premises</a:t>
            </a:r>
            <a:endParaRPr lang="en-US" sz="1900" dirty="0"/>
          </a:p>
        </p:txBody>
      </p:sp>
      <p:sp>
        <p:nvSpPr>
          <p:cNvPr id="12" name="Text 10"/>
          <p:cNvSpPr/>
          <p:nvPr/>
        </p:nvSpPr>
        <p:spPr>
          <a:xfrm>
            <a:off x="960120" y="2944368"/>
            <a:ext cx="2221992" cy="161848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You manage almost everything</a:t>
            </a:r>
            <a:endParaRPr lang="en-US" sz="1500" dirty="0"/>
          </a:p>
        </p:txBody>
      </p:sp>
      <p:sp>
        <p:nvSpPr>
          <p:cNvPr id="13" name="Shape 11"/>
          <p:cNvSpPr/>
          <p:nvPr/>
        </p:nvSpPr>
        <p:spPr>
          <a:xfrm>
            <a:off x="3602736" y="2286000"/>
            <a:ext cx="2679192" cy="2377440"/>
          </a:xfrm>
          <a:prstGeom prst="roundRect">
            <a:avLst>
              <a:gd name="adj" fmla="val 6154"/>
            </a:avLst>
          </a:prstGeom>
          <a:solidFill>
            <a:srgbClr val="F3F7FB"/>
          </a:solidFill>
          <a:ln w="12700">
            <a:solidFill>
              <a:srgbClr val="F3F7FB"/>
            </a:solidFill>
            <a:prstDash val="solid"/>
          </a:ln>
        </p:spPr>
        <p:txBody>
          <a:bodyPr/>
          <a:p/>
        </p:txBody>
      </p:sp>
      <p:sp>
        <p:nvSpPr>
          <p:cNvPr id="14" name="Shape 12"/>
          <p:cNvSpPr/>
          <p:nvPr/>
        </p:nvSpPr>
        <p:spPr>
          <a:xfrm>
            <a:off x="3602736" y="2286000"/>
            <a:ext cx="64008" cy="2377440"/>
          </a:xfrm>
          <a:prstGeom prst="rect">
            <a:avLst/>
          </a:prstGeom>
          <a:solidFill>
            <a:srgbClr val="1768C1"/>
          </a:solidFill>
          <a:ln w="12700">
            <a:solidFill>
              <a:srgbClr val="1768C1"/>
            </a:solidFill>
            <a:prstDash val="solid"/>
          </a:ln>
        </p:spPr>
        <p:txBody>
          <a:bodyPr/>
          <a:p/>
        </p:txBody>
      </p:sp>
      <p:sp>
        <p:nvSpPr>
          <p:cNvPr id="15" name="Text 13"/>
          <p:cNvSpPr/>
          <p:nvPr/>
        </p:nvSpPr>
        <p:spPr>
          <a:xfrm>
            <a:off x="3831336" y="2450592"/>
            <a:ext cx="2221992"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IaaS</a:t>
            </a:r>
            <a:endParaRPr lang="en-US" sz="1900" dirty="0"/>
          </a:p>
        </p:txBody>
      </p:sp>
      <p:sp>
        <p:nvSpPr>
          <p:cNvPr id="16" name="Text 14"/>
          <p:cNvSpPr/>
          <p:nvPr/>
        </p:nvSpPr>
        <p:spPr>
          <a:xfrm>
            <a:off x="3831336" y="2944368"/>
            <a:ext cx="2221992" cy="161848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Provider runs infrastructure; you manage OS and application</a:t>
            </a:r>
            <a:endParaRPr lang="en-US" sz="1500" dirty="0"/>
          </a:p>
        </p:txBody>
      </p:sp>
      <p:sp>
        <p:nvSpPr>
          <p:cNvPr id="17" name="Shape 15"/>
          <p:cNvSpPr/>
          <p:nvPr/>
        </p:nvSpPr>
        <p:spPr>
          <a:xfrm>
            <a:off x="6473952" y="2286000"/>
            <a:ext cx="2679192" cy="2377440"/>
          </a:xfrm>
          <a:prstGeom prst="roundRect">
            <a:avLst>
              <a:gd name="adj" fmla="val 6154"/>
            </a:avLst>
          </a:prstGeom>
          <a:solidFill>
            <a:srgbClr val="F3F7FB"/>
          </a:solidFill>
          <a:ln w="12700">
            <a:solidFill>
              <a:srgbClr val="F3F7FB"/>
            </a:solidFill>
            <a:prstDash val="solid"/>
          </a:ln>
        </p:spPr>
        <p:txBody>
          <a:bodyPr/>
          <a:p/>
        </p:txBody>
      </p:sp>
      <p:sp>
        <p:nvSpPr>
          <p:cNvPr id="18" name="Shape 16"/>
          <p:cNvSpPr/>
          <p:nvPr/>
        </p:nvSpPr>
        <p:spPr>
          <a:xfrm>
            <a:off x="6473952" y="2286000"/>
            <a:ext cx="64008" cy="2377440"/>
          </a:xfrm>
          <a:prstGeom prst="rect">
            <a:avLst/>
          </a:prstGeom>
          <a:solidFill>
            <a:srgbClr val="1768C1"/>
          </a:solidFill>
          <a:ln w="12700">
            <a:solidFill>
              <a:srgbClr val="1768C1"/>
            </a:solidFill>
            <a:prstDash val="solid"/>
          </a:ln>
        </p:spPr>
        <p:txBody>
          <a:bodyPr/>
          <a:p/>
        </p:txBody>
      </p:sp>
      <p:sp>
        <p:nvSpPr>
          <p:cNvPr id="19" name="Text 17"/>
          <p:cNvSpPr/>
          <p:nvPr/>
        </p:nvSpPr>
        <p:spPr>
          <a:xfrm>
            <a:off x="6702552" y="2450592"/>
            <a:ext cx="2221992"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PaaS</a:t>
            </a:r>
            <a:endParaRPr lang="en-US" sz="1900" dirty="0"/>
          </a:p>
        </p:txBody>
      </p:sp>
      <p:sp>
        <p:nvSpPr>
          <p:cNvPr id="20" name="Text 18"/>
          <p:cNvSpPr/>
          <p:nvPr/>
        </p:nvSpPr>
        <p:spPr>
          <a:xfrm>
            <a:off x="6702552" y="2944368"/>
            <a:ext cx="2221992" cy="161848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Provider manages platform; you focus on application and data</a:t>
            </a:r>
            <a:endParaRPr lang="en-US" sz="1500" dirty="0"/>
          </a:p>
        </p:txBody>
      </p:sp>
      <p:sp>
        <p:nvSpPr>
          <p:cNvPr id="21" name="Shape 19"/>
          <p:cNvSpPr/>
          <p:nvPr/>
        </p:nvSpPr>
        <p:spPr>
          <a:xfrm>
            <a:off x="9345168" y="2286000"/>
            <a:ext cx="2679192" cy="2377440"/>
          </a:xfrm>
          <a:prstGeom prst="roundRect">
            <a:avLst>
              <a:gd name="adj" fmla="val 6154"/>
            </a:avLst>
          </a:prstGeom>
          <a:solidFill>
            <a:srgbClr val="F3F7FB"/>
          </a:solidFill>
          <a:ln w="12700">
            <a:solidFill>
              <a:srgbClr val="F3F7FB"/>
            </a:solidFill>
            <a:prstDash val="solid"/>
          </a:ln>
        </p:spPr>
        <p:txBody>
          <a:bodyPr/>
          <a:p/>
        </p:txBody>
      </p:sp>
      <p:sp>
        <p:nvSpPr>
          <p:cNvPr id="22" name="Shape 20"/>
          <p:cNvSpPr/>
          <p:nvPr/>
        </p:nvSpPr>
        <p:spPr>
          <a:xfrm>
            <a:off x="9345168" y="2286000"/>
            <a:ext cx="64008" cy="2377440"/>
          </a:xfrm>
          <a:prstGeom prst="rect">
            <a:avLst/>
          </a:prstGeom>
          <a:solidFill>
            <a:srgbClr val="198D76"/>
          </a:solidFill>
          <a:ln w="12700">
            <a:solidFill>
              <a:srgbClr val="198D76"/>
            </a:solidFill>
            <a:prstDash val="solid"/>
          </a:ln>
        </p:spPr>
        <p:txBody>
          <a:bodyPr/>
          <a:p/>
        </p:txBody>
      </p:sp>
      <p:sp>
        <p:nvSpPr>
          <p:cNvPr id="23" name="Text 21"/>
          <p:cNvSpPr/>
          <p:nvPr/>
        </p:nvSpPr>
        <p:spPr>
          <a:xfrm>
            <a:off x="9573768" y="2450592"/>
            <a:ext cx="2221992"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SaaS</a:t>
            </a:r>
            <a:endParaRPr lang="en-US" sz="1900" dirty="0"/>
          </a:p>
        </p:txBody>
      </p:sp>
      <p:sp>
        <p:nvSpPr>
          <p:cNvPr id="24" name="Text 22"/>
          <p:cNvSpPr/>
          <p:nvPr/>
        </p:nvSpPr>
        <p:spPr>
          <a:xfrm>
            <a:off x="9573768" y="2944368"/>
            <a:ext cx="2221992" cy="161848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Provider operates the complete application</a:t>
            </a:r>
            <a:endParaRPr lang="en-US" sz="1500" dirty="0"/>
          </a:p>
        </p:txBody>
      </p:sp>
      <p:sp>
        <p:nvSpPr>
          <p:cNvPr id="25" name="Text 23"/>
          <p:cNvSpPr/>
          <p:nvPr/>
        </p:nvSpPr>
        <p:spPr>
          <a:xfrm>
            <a:off x="822960" y="5166360"/>
            <a:ext cx="10698480" cy="457200"/>
          </a:xfrm>
          <a:prstGeom prst="rect">
            <a:avLst/>
          </a:prstGeom>
          <a:noFill/>
          <a:ln/>
        </p:spPr>
        <p:txBody>
          <a:bodyPr wrap="square" lIns="0" tIns="0" rIns="0" bIns="0" rtlCol="0" anchor="ctr"/>
          <a:lstStyle/>
          <a:p>
            <a:pPr indent="0" marL="0">
              <a:buNone/>
            </a:pPr>
            <a:r>
              <a:rPr lang="en-US" sz="1700" b="1" dirty="0">
                <a:solidFill>
                  <a:srgbClr val="1768C1"/>
                </a:solidFill>
                <a:latin typeface="Aptos" pitchFamily="34" charset="0"/>
                <a:ea typeface="Aptos" pitchFamily="34" charset="-122"/>
                <a:cs typeface="Aptos" pitchFamily="34" charset="-120"/>
              </a:rPr>
              <a:t>Ask: Where do Azure Functions, Azure Virtual Machines and Microsoft 365 fit?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DAY 1 RECAP</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Azure hierarchy: know where you are working</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Tenant = identity boundary; management groups organise subscriptions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05</a:t>
            </a:r>
            <a:endParaRPr lang="en-US" sz="1000" dirty="0"/>
          </a:p>
        </p:txBody>
      </p:sp>
      <p:sp>
        <p:nvSpPr>
          <p:cNvPr id="9" name="Shape 7"/>
          <p:cNvSpPr/>
          <p:nvPr/>
        </p:nvSpPr>
        <p:spPr>
          <a:xfrm>
            <a:off x="640080" y="242316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10" name="Text 8"/>
          <p:cNvSpPr/>
          <p:nvPr/>
        </p:nvSpPr>
        <p:spPr>
          <a:xfrm>
            <a:off x="777240"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Entra tenant</a:t>
            </a:r>
            <a:endParaRPr lang="en-US" sz="1700" dirty="0"/>
          </a:p>
        </p:txBody>
      </p:sp>
      <p:sp>
        <p:nvSpPr>
          <p:cNvPr id="11" name="Text 9"/>
          <p:cNvSpPr/>
          <p:nvPr/>
        </p:nvSpPr>
        <p:spPr>
          <a:xfrm>
            <a:off x="768096"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Identity directory</a:t>
            </a:r>
            <a:endParaRPr lang="en-US" sz="1300" dirty="0"/>
          </a:p>
        </p:txBody>
      </p:sp>
      <p:sp>
        <p:nvSpPr>
          <p:cNvPr id="12" name="Text 10"/>
          <p:cNvSpPr/>
          <p:nvPr/>
        </p:nvSpPr>
        <p:spPr>
          <a:xfrm>
            <a:off x="2598725"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3" name="Shape 11"/>
          <p:cNvSpPr/>
          <p:nvPr/>
        </p:nvSpPr>
        <p:spPr>
          <a:xfrm>
            <a:off x="2891333" y="2423160"/>
            <a:ext cx="1922069" cy="1188720"/>
          </a:xfrm>
          <a:prstGeom prst="roundRect">
            <a:avLst>
              <a:gd name="adj" fmla="val 12308"/>
            </a:avLst>
          </a:prstGeom>
          <a:solidFill>
            <a:srgbClr val="EAF8F8"/>
          </a:solidFill>
          <a:ln w="12700">
            <a:solidFill>
              <a:srgbClr val="EAF8F8"/>
            </a:solidFill>
            <a:prstDash val="solid"/>
          </a:ln>
        </p:spPr>
        <p:txBody>
          <a:bodyPr/>
          <a:p/>
        </p:txBody>
      </p:sp>
      <p:sp>
        <p:nvSpPr>
          <p:cNvPr id="14" name="Text 12"/>
          <p:cNvSpPr/>
          <p:nvPr/>
        </p:nvSpPr>
        <p:spPr>
          <a:xfrm>
            <a:off x="3028493" y="2624328"/>
            <a:ext cx="1647749" cy="329184"/>
          </a:xfrm>
          <a:prstGeom prst="rect">
            <a:avLst/>
          </a:prstGeom>
          <a:noFill/>
          <a:ln/>
        </p:spPr>
        <p:txBody>
          <a:bodyPr wrap="square" lIns="0" tIns="0" rIns="0" bIns="0" rtlCol="0" anchor="ctr"/>
          <a:lstStyle/>
          <a:p>
            <a:pPr algn="ctr" indent="0" marL="0">
              <a:buNone/>
            </a:pPr>
            <a:r>
              <a:rPr lang="en-US" sz="1300" b="1" dirty="0">
                <a:solidFill>
                  <a:srgbClr val="1E3047"/>
                </a:solidFill>
                <a:latin typeface="Aptos" pitchFamily="34" charset="0"/>
                <a:ea typeface="Aptos" pitchFamily="34" charset="-122"/>
                <a:cs typeface="Aptos" pitchFamily="34" charset="-120"/>
              </a:rPr>
              <a:t>Management group</a:t>
            </a:r>
            <a:endParaRPr lang="en-US" sz="1700" dirty="0"/>
          </a:p>
        </p:txBody>
      </p:sp>
      <p:sp>
        <p:nvSpPr>
          <p:cNvPr id="15" name="Text 13"/>
          <p:cNvSpPr/>
          <p:nvPr/>
        </p:nvSpPr>
        <p:spPr>
          <a:xfrm>
            <a:off x="3019349"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Governance scope</a:t>
            </a:r>
            <a:endParaRPr lang="en-US" sz="1300" dirty="0"/>
          </a:p>
        </p:txBody>
      </p:sp>
      <p:sp>
        <p:nvSpPr>
          <p:cNvPr id="16" name="Text 14"/>
          <p:cNvSpPr/>
          <p:nvPr/>
        </p:nvSpPr>
        <p:spPr>
          <a:xfrm>
            <a:off x="4849978"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7" name="Shape 15"/>
          <p:cNvSpPr/>
          <p:nvPr/>
        </p:nvSpPr>
        <p:spPr>
          <a:xfrm>
            <a:off x="5142586" y="242316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18" name="Text 16"/>
          <p:cNvSpPr/>
          <p:nvPr/>
        </p:nvSpPr>
        <p:spPr>
          <a:xfrm>
            <a:off x="5279746"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Subscription</a:t>
            </a:r>
            <a:endParaRPr lang="en-US" sz="1700" dirty="0"/>
          </a:p>
        </p:txBody>
      </p:sp>
      <p:sp>
        <p:nvSpPr>
          <p:cNvPr id="19" name="Text 17"/>
          <p:cNvSpPr/>
          <p:nvPr/>
        </p:nvSpPr>
        <p:spPr>
          <a:xfrm>
            <a:off x="5270602"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Billing + access</a:t>
            </a:r>
            <a:endParaRPr lang="en-US" sz="1300" dirty="0"/>
          </a:p>
        </p:txBody>
      </p:sp>
      <p:sp>
        <p:nvSpPr>
          <p:cNvPr id="20" name="Text 18"/>
          <p:cNvSpPr/>
          <p:nvPr/>
        </p:nvSpPr>
        <p:spPr>
          <a:xfrm>
            <a:off x="7101230"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1" name="Shape 19"/>
          <p:cNvSpPr/>
          <p:nvPr/>
        </p:nvSpPr>
        <p:spPr>
          <a:xfrm>
            <a:off x="7393838" y="2423160"/>
            <a:ext cx="1922069" cy="1188720"/>
          </a:xfrm>
          <a:prstGeom prst="roundRect">
            <a:avLst>
              <a:gd name="adj" fmla="val 12308"/>
            </a:avLst>
          </a:prstGeom>
          <a:solidFill>
            <a:srgbClr val="EAF8F8"/>
          </a:solidFill>
          <a:ln w="12700">
            <a:solidFill>
              <a:srgbClr val="EAF8F8"/>
            </a:solidFill>
            <a:prstDash val="solid"/>
          </a:ln>
        </p:spPr>
        <p:txBody>
          <a:bodyPr/>
          <a:p/>
        </p:txBody>
      </p:sp>
      <p:sp>
        <p:nvSpPr>
          <p:cNvPr id="22" name="Text 20"/>
          <p:cNvSpPr/>
          <p:nvPr/>
        </p:nvSpPr>
        <p:spPr>
          <a:xfrm>
            <a:off x="7530998"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Resource group</a:t>
            </a:r>
            <a:endParaRPr lang="en-US" sz="1700" dirty="0"/>
          </a:p>
        </p:txBody>
      </p:sp>
      <p:sp>
        <p:nvSpPr>
          <p:cNvPr id="23" name="Text 21"/>
          <p:cNvSpPr/>
          <p:nvPr/>
        </p:nvSpPr>
        <p:spPr>
          <a:xfrm>
            <a:off x="7521854"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Logical resource container</a:t>
            </a:r>
            <a:endParaRPr lang="en-US" sz="1300" dirty="0"/>
          </a:p>
        </p:txBody>
      </p:sp>
      <p:sp>
        <p:nvSpPr>
          <p:cNvPr id="24" name="Text 22"/>
          <p:cNvSpPr/>
          <p:nvPr/>
        </p:nvSpPr>
        <p:spPr>
          <a:xfrm>
            <a:off x="9352483"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5" name="Shape 23"/>
          <p:cNvSpPr/>
          <p:nvPr/>
        </p:nvSpPr>
        <p:spPr>
          <a:xfrm>
            <a:off x="9645091" y="242316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26" name="Text 24"/>
          <p:cNvSpPr/>
          <p:nvPr/>
        </p:nvSpPr>
        <p:spPr>
          <a:xfrm>
            <a:off x="9782251"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Resource</a:t>
            </a:r>
            <a:endParaRPr lang="en-US" sz="1700" dirty="0"/>
          </a:p>
        </p:txBody>
      </p:sp>
      <p:sp>
        <p:nvSpPr>
          <p:cNvPr id="27" name="Text 25"/>
          <p:cNvSpPr/>
          <p:nvPr/>
        </p:nvSpPr>
        <p:spPr>
          <a:xfrm>
            <a:off x="9773107"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Service instance</a:t>
            </a:r>
            <a:endParaRPr lang="en-US" sz="1300" dirty="0"/>
          </a:p>
        </p:txBody>
      </p:sp>
      <p:sp>
        <p:nvSpPr>
          <p:cNvPr id="28" name="Text 26"/>
          <p:cNvSpPr/>
          <p:nvPr/>
        </p:nvSpPr>
        <p:spPr>
          <a:xfrm>
            <a:off x="777240" y="4754880"/>
            <a:ext cx="10698480" cy="548640"/>
          </a:xfrm>
          <a:prstGeom prst="rect">
            <a:avLst/>
          </a:prstGeom>
          <a:noFill/>
          <a:ln/>
        </p:spPr>
        <p:txBody>
          <a:bodyPr wrap="square" lIns="0" tIns="0" rIns="0" bIns="0" rtlCol="0" anchor="ctr"/>
          <a:lstStyle/>
          <a:p>
            <a:pPr indent="0" marL="0">
              <a:buNone/>
            </a:pPr>
            <a:r>
              <a:rPr lang="en-US" sz="1900" b="1" dirty="0">
                <a:solidFill>
                  <a:srgbClr val="1768C1"/>
                </a:solidFill>
                <a:latin typeface="Aptos" pitchFamily="34" charset="0"/>
                <a:ea typeface="Aptos" pitchFamily="34" charset="-122"/>
                <a:cs typeface="Aptos" pitchFamily="34" charset="-120"/>
              </a:rPr>
              <a:t>The arrows are conceptual: the tenant is not an Azure RBAC parent scope.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DAY 1 RECAP</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Identity: four terms developers must distinguish</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Do not confuse the app definition, its identity or permissions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06</a:t>
            </a:r>
            <a:endParaRPr lang="en-US" sz="1000" dirty="0"/>
          </a:p>
        </p:txBody>
      </p:sp>
      <p:sp>
        <p:nvSpPr>
          <p:cNvPr id="9" name="Shape 7"/>
          <p:cNvSpPr/>
          <p:nvPr/>
        </p:nvSpPr>
        <p:spPr>
          <a:xfrm>
            <a:off x="731520" y="2057400"/>
            <a:ext cx="5440680" cy="1399032"/>
          </a:xfrm>
          <a:prstGeom prst="roundRect">
            <a:avLst>
              <a:gd name="adj" fmla="val 10458"/>
            </a:avLst>
          </a:prstGeom>
          <a:solidFill>
            <a:srgbClr val="F3F7FB"/>
          </a:solidFill>
          <a:ln w="12700">
            <a:solidFill>
              <a:srgbClr val="F3F7FB"/>
            </a:solidFill>
            <a:prstDash val="solid"/>
          </a:ln>
        </p:spPr>
        <p:txBody>
          <a:bodyPr/>
          <a:p/>
        </p:txBody>
      </p:sp>
      <p:sp>
        <p:nvSpPr>
          <p:cNvPr id="10" name="Shape 8"/>
          <p:cNvSpPr/>
          <p:nvPr/>
        </p:nvSpPr>
        <p:spPr>
          <a:xfrm>
            <a:off x="731520" y="2057400"/>
            <a:ext cx="64008" cy="1399032"/>
          </a:xfrm>
          <a:prstGeom prst="rect">
            <a:avLst/>
          </a:prstGeom>
          <a:solidFill>
            <a:srgbClr val="1768C1"/>
          </a:solidFill>
          <a:ln w="12700">
            <a:solidFill>
              <a:srgbClr val="1768C1"/>
            </a:solidFill>
            <a:prstDash val="solid"/>
          </a:ln>
        </p:spPr>
        <p:txBody>
          <a:bodyPr/>
          <a:p/>
        </p:txBody>
      </p:sp>
      <p:sp>
        <p:nvSpPr>
          <p:cNvPr id="11" name="Text 9"/>
          <p:cNvSpPr/>
          <p:nvPr/>
        </p:nvSpPr>
        <p:spPr>
          <a:xfrm>
            <a:off x="960120" y="2221992"/>
            <a:ext cx="498348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App registration</a:t>
            </a:r>
            <a:endParaRPr lang="en-US" sz="1900" dirty="0"/>
          </a:p>
        </p:txBody>
      </p:sp>
      <p:sp>
        <p:nvSpPr>
          <p:cNvPr id="12" name="Text 10"/>
          <p:cNvSpPr/>
          <p:nvPr/>
        </p:nvSpPr>
        <p:spPr>
          <a:xfrm>
            <a:off x="960120" y="2715768"/>
            <a:ext cx="4983480" cy="640080"/>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Defines an application in Microsoft Entra ID.</a:t>
            </a:r>
            <a:endParaRPr lang="en-US" sz="1500" dirty="0"/>
          </a:p>
        </p:txBody>
      </p:sp>
      <p:sp>
        <p:nvSpPr>
          <p:cNvPr id="13" name="Shape 11"/>
          <p:cNvSpPr/>
          <p:nvPr/>
        </p:nvSpPr>
        <p:spPr>
          <a:xfrm>
            <a:off x="6446520" y="2057400"/>
            <a:ext cx="5440680" cy="1399032"/>
          </a:xfrm>
          <a:prstGeom prst="roundRect">
            <a:avLst>
              <a:gd name="adj" fmla="val 10458"/>
            </a:avLst>
          </a:prstGeom>
          <a:solidFill>
            <a:srgbClr val="F3F7FB"/>
          </a:solidFill>
          <a:ln w="12700">
            <a:solidFill>
              <a:srgbClr val="F3F7FB"/>
            </a:solidFill>
            <a:prstDash val="solid"/>
          </a:ln>
        </p:spPr>
        <p:txBody>
          <a:bodyPr/>
          <a:p/>
        </p:txBody>
      </p:sp>
      <p:sp>
        <p:nvSpPr>
          <p:cNvPr id="14" name="Shape 12"/>
          <p:cNvSpPr/>
          <p:nvPr/>
        </p:nvSpPr>
        <p:spPr>
          <a:xfrm>
            <a:off x="6446520" y="2057400"/>
            <a:ext cx="64008" cy="1399032"/>
          </a:xfrm>
          <a:prstGeom prst="rect">
            <a:avLst/>
          </a:prstGeom>
          <a:solidFill>
            <a:srgbClr val="1768C1"/>
          </a:solidFill>
          <a:ln w="12700">
            <a:solidFill>
              <a:srgbClr val="1768C1"/>
            </a:solidFill>
            <a:prstDash val="solid"/>
          </a:ln>
        </p:spPr>
        <p:txBody>
          <a:bodyPr/>
          <a:p/>
        </p:txBody>
      </p:sp>
      <p:sp>
        <p:nvSpPr>
          <p:cNvPr id="15" name="Text 13"/>
          <p:cNvSpPr/>
          <p:nvPr/>
        </p:nvSpPr>
        <p:spPr>
          <a:xfrm>
            <a:off x="6675120" y="2221992"/>
            <a:ext cx="498348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Service principal</a:t>
            </a:r>
            <a:endParaRPr lang="en-US" sz="1900" dirty="0"/>
          </a:p>
        </p:txBody>
      </p:sp>
      <p:sp>
        <p:nvSpPr>
          <p:cNvPr id="16" name="Text 14"/>
          <p:cNvSpPr/>
          <p:nvPr/>
        </p:nvSpPr>
        <p:spPr>
          <a:xfrm>
            <a:off x="6675120" y="2715768"/>
            <a:ext cx="4983480" cy="640080"/>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Tenant-local security identity for an application.</a:t>
            </a:r>
            <a:endParaRPr lang="en-US" sz="1500" dirty="0"/>
          </a:p>
        </p:txBody>
      </p:sp>
      <p:sp>
        <p:nvSpPr>
          <p:cNvPr id="17" name="Shape 15"/>
          <p:cNvSpPr/>
          <p:nvPr/>
        </p:nvSpPr>
        <p:spPr>
          <a:xfrm>
            <a:off x="731520" y="3657600"/>
            <a:ext cx="5440680" cy="1399032"/>
          </a:xfrm>
          <a:prstGeom prst="roundRect">
            <a:avLst>
              <a:gd name="adj" fmla="val 10458"/>
            </a:avLst>
          </a:prstGeom>
          <a:solidFill>
            <a:srgbClr val="F3F7FB"/>
          </a:solidFill>
          <a:ln w="12700">
            <a:solidFill>
              <a:srgbClr val="F3F7FB"/>
            </a:solidFill>
            <a:prstDash val="solid"/>
          </a:ln>
        </p:spPr>
        <p:txBody>
          <a:bodyPr/>
          <a:p/>
        </p:txBody>
      </p:sp>
      <p:sp>
        <p:nvSpPr>
          <p:cNvPr id="18" name="Shape 16"/>
          <p:cNvSpPr/>
          <p:nvPr/>
        </p:nvSpPr>
        <p:spPr>
          <a:xfrm>
            <a:off x="731520" y="3657600"/>
            <a:ext cx="64008" cy="1399032"/>
          </a:xfrm>
          <a:prstGeom prst="rect">
            <a:avLst/>
          </a:prstGeom>
          <a:solidFill>
            <a:srgbClr val="1768C1"/>
          </a:solidFill>
          <a:ln w="12700">
            <a:solidFill>
              <a:srgbClr val="1768C1"/>
            </a:solidFill>
            <a:prstDash val="solid"/>
          </a:ln>
        </p:spPr>
        <p:txBody>
          <a:bodyPr/>
          <a:p/>
        </p:txBody>
      </p:sp>
      <p:sp>
        <p:nvSpPr>
          <p:cNvPr id="19" name="Text 17"/>
          <p:cNvSpPr/>
          <p:nvPr/>
        </p:nvSpPr>
        <p:spPr>
          <a:xfrm>
            <a:off x="960120" y="3822192"/>
            <a:ext cx="498348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Enterprise application</a:t>
            </a:r>
            <a:endParaRPr lang="en-US" sz="1900" dirty="0"/>
          </a:p>
        </p:txBody>
      </p:sp>
      <p:sp>
        <p:nvSpPr>
          <p:cNvPr id="20" name="Text 18"/>
          <p:cNvSpPr/>
          <p:nvPr/>
        </p:nvSpPr>
        <p:spPr>
          <a:xfrm>
            <a:off x="960120" y="4315968"/>
            <a:ext cx="4983480" cy="640080"/>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Portal representation of a service principal.</a:t>
            </a:r>
            <a:endParaRPr lang="en-US" sz="1500" dirty="0"/>
          </a:p>
        </p:txBody>
      </p:sp>
      <p:sp>
        <p:nvSpPr>
          <p:cNvPr id="21" name="Shape 19"/>
          <p:cNvSpPr/>
          <p:nvPr/>
        </p:nvSpPr>
        <p:spPr>
          <a:xfrm>
            <a:off x="6446520" y="3657600"/>
            <a:ext cx="5440680" cy="1399032"/>
          </a:xfrm>
          <a:prstGeom prst="roundRect">
            <a:avLst>
              <a:gd name="adj" fmla="val 10458"/>
            </a:avLst>
          </a:prstGeom>
          <a:solidFill>
            <a:srgbClr val="F3F7FB"/>
          </a:solidFill>
          <a:ln w="12700">
            <a:solidFill>
              <a:srgbClr val="F3F7FB"/>
            </a:solidFill>
            <a:prstDash val="solid"/>
          </a:ln>
        </p:spPr>
        <p:txBody>
          <a:bodyPr/>
          <a:p/>
        </p:txBody>
      </p:sp>
      <p:sp>
        <p:nvSpPr>
          <p:cNvPr id="22" name="Shape 20"/>
          <p:cNvSpPr/>
          <p:nvPr/>
        </p:nvSpPr>
        <p:spPr>
          <a:xfrm>
            <a:off x="6446520" y="3657600"/>
            <a:ext cx="64008" cy="1399032"/>
          </a:xfrm>
          <a:prstGeom prst="rect">
            <a:avLst/>
          </a:prstGeom>
          <a:solidFill>
            <a:srgbClr val="198D76"/>
          </a:solidFill>
          <a:ln w="12700">
            <a:solidFill>
              <a:srgbClr val="198D76"/>
            </a:solidFill>
            <a:prstDash val="solid"/>
          </a:ln>
        </p:spPr>
        <p:txBody>
          <a:bodyPr/>
          <a:p/>
        </p:txBody>
      </p:sp>
      <p:sp>
        <p:nvSpPr>
          <p:cNvPr id="23" name="Text 21"/>
          <p:cNvSpPr/>
          <p:nvPr/>
        </p:nvSpPr>
        <p:spPr>
          <a:xfrm>
            <a:off x="6675120" y="3822192"/>
            <a:ext cx="498348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Managed identity</a:t>
            </a:r>
            <a:endParaRPr lang="en-US" sz="1900" dirty="0"/>
          </a:p>
        </p:txBody>
      </p:sp>
      <p:sp>
        <p:nvSpPr>
          <p:cNvPr id="24" name="Text 22"/>
          <p:cNvSpPr/>
          <p:nvPr/>
        </p:nvSpPr>
        <p:spPr>
          <a:xfrm>
            <a:off x="6675120" y="4315968"/>
            <a:ext cx="4983480" cy="640080"/>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Azure-managed identity for workloads; avoids storing credentials.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DAY 1 RECAP</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r>
              <a:t>Day 1 recap | Functions, Logic Apps, Storage, Load Testing and monitoring</a:t>
            </a:r>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A possible application flow—not a claim that every integration was deployed</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07</a:t>
            </a:r>
            <a:endParaRPr lang="en-US" sz="1000" dirty="0"/>
          </a:p>
        </p:txBody>
      </p:sp>
      <p:sp>
        <p:nvSpPr>
          <p:cNvPr id="9" name="Shape 7"/>
          <p:cNvSpPr/>
          <p:nvPr/>
        </p:nvSpPr>
        <p:spPr>
          <a:xfrm>
            <a:off x="640080" y="2423160"/>
            <a:ext cx="2484882" cy="1188720"/>
          </a:xfrm>
          <a:prstGeom prst="roundRect">
            <a:avLst>
              <a:gd name="adj" fmla="val 12308"/>
            </a:avLst>
          </a:prstGeom>
          <a:solidFill>
            <a:srgbClr val="EEF5FC"/>
          </a:solidFill>
          <a:ln w="12700">
            <a:solidFill>
              <a:srgbClr val="EEF5FC"/>
            </a:solidFill>
            <a:prstDash val="solid"/>
          </a:ln>
        </p:spPr>
        <p:txBody>
          <a:bodyPr/>
          <a:p/>
        </p:txBody>
      </p:sp>
      <p:sp>
        <p:nvSpPr>
          <p:cNvPr id="10" name="Text 8"/>
          <p:cNvSpPr/>
          <p:nvPr/>
        </p:nvSpPr>
        <p:spPr>
          <a:xfrm>
            <a:off x="777240" y="262432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Client</a:t>
            </a:r>
            <a:endParaRPr lang="en-US" sz="1700" dirty="0"/>
          </a:p>
        </p:txBody>
      </p:sp>
      <p:sp>
        <p:nvSpPr>
          <p:cNvPr id="11" name="Text 9"/>
          <p:cNvSpPr/>
          <p:nvPr/>
        </p:nvSpPr>
        <p:spPr>
          <a:xfrm>
            <a:off x="768096" y="303580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Sends request</a:t>
            </a:r>
            <a:endParaRPr lang="en-US" sz="1300" dirty="0"/>
          </a:p>
        </p:txBody>
      </p:sp>
      <p:sp>
        <p:nvSpPr>
          <p:cNvPr id="12" name="Text 10"/>
          <p:cNvSpPr/>
          <p:nvPr/>
        </p:nvSpPr>
        <p:spPr>
          <a:xfrm>
            <a:off x="3161538"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3" name="Shape 11"/>
          <p:cNvSpPr/>
          <p:nvPr/>
        </p:nvSpPr>
        <p:spPr>
          <a:xfrm>
            <a:off x="3454146" y="2423160"/>
            <a:ext cx="2484882" cy="1188720"/>
          </a:xfrm>
          <a:prstGeom prst="roundRect">
            <a:avLst>
              <a:gd name="adj" fmla="val 12308"/>
            </a:avLst>
          </a:prstGeom>
          <a:solidFill>
            <a:srgbClr val="EAF8F8"/>
          </a:solidFill>
          <a:ln w="12700">
            <a:solidFill>
              <a:srgbClr val="EAF8F8"/>
            </a:solidFill>
            <a:prstDash val="solid"/>
          </a:ln>
        </p:spPr>
        <p:txBody>
          <a:bodyPr/>
          <a:p/>
        </p:txBody>
      </p:sp>
      <p:sp>
        <p:nvSpPr>
          <p:cNvPr id="14" name="Text 12"/>
          <p:cNvSpPr/>
          <p:nvPr/>
        </p:nvSpPr>
        <p:spPr>
          <a:xfrm>
            <a:off x="3591306" y="262432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Azure Function</a:t>
            </a:r>
            <a:endParaRPr lang="en-US" sz="1700" dirty="0"/>
          </a:p>
        </p:txBody>
      </p:sp>
      <p:sp>
        <p:nvSpPr>
          <p:cNvPr id="15" name="Text 13"/>
          <p:cNvSpPr/>
          <p:nvPr/>
        </p:nvSpPr>
        <p:spPr>
          <a:xfrm>
            <a:off x="3582162" y="303580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Executes code</a:t>
            </a:r>
            <a:endParaRPr lang="en-US" sz="1300" dirty="0"/>
          </a:p>
        </p:txBody>
      </p:sp>
      <p:sp>
        <p:nvSpPr>
          <p:cNvPr id="16" name="Text 14"/>
          <p:cNvSpPr/>
          <p:nvPr/>
        </p:nvSpPr>
        <p:spPr>
          <a:xfrm>
            <a:off x="5975604"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7" name="Shape 15"/>
          <p:cNvSpPr/>
          <p:nvPr/>
        </p:nvSpPr>
        <p:spPr>
          <a:xfrm>
            <a:off x="6268212" y="2423160"/>
            <a:ext cx="2484882" cy="1188720"/>
          </a:xfrm>
          <a:prstGeom prst="roundRect">
            <a:avLst>
              <a:gd name="adj" fmla="val 12308"/>
            </a:avLst>
          </a:prstGeom>
          <a:solidFill>
            <a:srgbClr val="EEF5FC"/>
          </a:solidFill>
          <a:ln w="12700">
            <a:solidFill>
              <a:srgbClr val="EEF5FC"/>
            </a:solidFill>
            <a:prstDash val="solid"/>
          </a:ln>
        </p:spPr>
        <p:txBody>
          <a:bodyPr/>
          <a:p/>
        </p:txBody>
      </p:sp>
      <p:sp>
        <p:nvSpPr>
          <p:cNvPr id="18" name="Text 16"/>
          <p:cNvSpPr/>
          <p:nvPr/>
        </p:nvSpPr>
        <p:spPr>
          <a:xfrm>
            <a:off x="6405372" y="262432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Blob Storage</a:t>
            </a:r>
            <a:endParaRPr lang="en-US" sz="1700" dirty="0"/>
          </a:p>
        </p:txBody>
      </p:sp>
      <p:sp>
        <p:nvSpPr>
          <p:cNvPr id="19" name="Text 17"/>
          <p:cNvSpPr/>
          <p:nvPr/>
        </p:nvSpPr>
        <p:spPr>
          <a:xfrm>
            <a:off x="6396228" y="303580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Stores files</a:t>
            </a:r>
            <a:endParaRPr lang="en-US" sz="1300" dirty="0"/>
          </a:p>
        </p:txBody>
      </p:sp>
      <p:sp>
        <p:nvSpPr>
          <p:cNvPr id="20" name="Text 18"/>
          <p:cNvSpPr/>
          <p:nvPr/>
        </p:nvSpPr>
        <p:spPr>
          <a:xfrm>
            <a:off x="8789670"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1" name="Shape 19"/>
          <p:cNvSpPr/>
          <p:nvPr/>
        </p:nvSpPr>
        <p:spPr>
          <a:xfrm>
            <a:off x="9082278" y="2423160"/>
            <a:ext cx="2484882" cy="1188720"/>
          </a:xfrm>
          <a:prstGeom prst="roundRect">
            <a:avLst>
              <a:gd name="adj" fmla="val 12308"/>
            </a:avLst>
          </a:prstGeom>
          <a:solidFill>
            <a:srgbClr val="EAF8F8"/>
          </a:solidFill>
          <a:ln w="12700">
            <a:solidFill>
              <a:srgbClr val="EAF8F8"/>
            </a:solidFill>
            <a:prstDash val="solid"/>
          </a:ln>
        </p:spPr>
        <p:txBody>
          <a:bodyPr/>
          <a:p/>
        </p:txBody>
      </p:sp>
      <p:sp>
        <p:nvSpPr>
          <p:cNvPr id="22" name="Text 20"/>
          <p:cNvSpPr/>
          <p:nvPr/>
        </p:nvSpPr>
        <p:spPr>
          <a:xfrm>
            <a:off x="9219438" y="262432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Logic Apps</a:t>
            </a:r>
            <a:endParaRPr lang="en-US" sz="1700" dirty="0"/>
          </a:p>
        </p:txBody>
      </p:sp>
      <p:sp>
        <p:nvSpPr>
          <p:cNvPr id="23" name="Text 21"/>
          <p:cNvSpPr/>
          <p:nvPr/>
        </p:nvSpPr>
        <p:spPr>
          <a:xfrm>
            <a:off x="9210294" y="303580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Coordinates actions</a:t>
            </a:r>
            <a:endParaRPr lang="en-US" sz="1300" dirty="0"/>
          </a:p>
        </p:txBody>
      </p:sp>
      <p:sp>
        <p:nvSpPr>
          <p:cNvPr id="24" name="Shape 22"/>
          <p:cNvSpPr/>
          <p:nvPr/>
        </p:nvSpPr>
        <p:spPr>
          <a:xfrm>
            <a:off x="1051560" y="4663440"/>
            <a:ext cx="10058400" cy="914400"/>
          </a:xfrm>
          <a:prstGeom prst="roundRect">
            <a:avLst>
              <a:gd name="adj" fmla="val 16000"/>
            </a:avLst>
          </a:prstGeom>
          <a:solidFill>
            <a:srgbClr val="EAF8F8"/>
          </a:solidFill>
          <a:ln w="12700">
            <a:solidFill>
              <a:srgbClr val="EAF8F8"/>
            </a:solidFill>
            <a:prstDash val="solid"/>
          </a:ln>
        </p:spPr>
        <p:txBody>
          <a:bodyPr/>
          <a:p/>
        </p:txBody>
      </p:sp>
      <p:sp>
        <p:nvSpPr>
          <p:cNvPr id="25" name="Text 23"/>
          <p:cNvSpPr/>
          <p:nvPr/>
        </p:nvSpPr>
        <p:spPr>
          <a:xfrm>
            <a:off x="1353312" y="4873752"/>
            <a:ext cx="9509760" cy="457200"/>
          </a:xfrm>
          <a:prstGeom prst="rect">
            <a:avLst/>
          </a:prstGeom>
          <a:noFill/>
          <a:ln/>
        </p:spPr>
        <p:txBody>
          <a:bodyPr wrap="square" lIns="0" tIns="0" rIns="0" bIns="0" rtlCol="0" anchor="ctr"/>
          <a:lstStyle/>
          <a:p>
            <a:pPr algn="ctr" indent="0" marL="0">
              <a:buNone/>
            </a:pPr>
            <a:r>
              <a:rPr lang="en-US" sz="1800" b="1" dirty="0">
                <a:solidFill>
                  <a:srgbClr val="1E3047"/>
                </a:solidFill>
                <a:latin typeface="Aptos" pitchFamily="34" charset="0"/>
                <a:ea typeface="Aptos" pitchFamily="34" charset="-122"/>
                <a:cs typeface="Aptos" pitchFamily="34" charset="-120"/>
              </a:rPr>
              <a:t>Application Insights + Log Analytics help investigate performance and failures.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DAY 1 RECAP</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Five quick questions before we move on</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Discuss in pairs for three minutes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08</a:t>
            </a:r>
            <a:endParaRPr lang="en-US" sz="1000" dirty="0"/>
          </a:p>
        </p:txBody>
      </p:sp>
      <p:sp>
        <p:nvSpPr>
          <p:cNvPr id="9" name="Shape 7"/>
          <p:cNvSpPr/>
          <p:nvPr/>
        </p:nvSpPr>
        <p:spPr>
          <a:xfrm>
            <a:off x="868680" y="2057400"/>
            <a:ext cx="91440" cy="91440"/>
          </a:xfrm>
          <a:prstGeom prst="roundRect">
            <a:avLst>
              <a:gd name="adj" fmla="val 160000"/>
            </a:avLst>
          </a:prstGeom>
          <a:solidFill>
            <a:srgbClr val="2EB8D1"/>
          </a:solidFill>
          <a:ln w="12700">
            <a:solidFill>
              <a:srgbClr val="2EB8D1"/>
            </a:solidFill>
            <a:prstDash val="solid"/>
          </a:ln>
        </p:spPr>
        <p:txBody>
          <a:bodyPr/>
          <a:p/>
        </p:txBody>
      </p:sp>
      <p:sp>
        <p:nvSpPr>
          <p:cNvPr id="10" name="Text 8"/>
          <p:cNvSpPr/>
          <p:nvPr/>
        </p:nvSpPr>
        <p:spPr>
          <a:xfrm>
            <a:off x="1106424" y="1965960"/>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Why choose a Function rather than manage a virtual machine?</a:t>
            </a:r>
            <a:endParaRPr lang="en-US" sz="1800" dirty="0"/>
          </a:p>
        </p:txBody>
      </p:sp>
      <p:sp>
        <p:nvSpPr>
          <p:cNvPr id="11" name="Shape 9"/>
          <p:cNvSpPr/>
          <p:nvPr/>
        </p:nvSpPr>
        <p:spPr>
          <a:xfrm>
            <a:off x="868680" y="2761488"/>
            <a:ext cx="91440" cy="91440"/>
          </a:xfrm>
          <a:prstGeom prst="roundRect">
            <a:avLst>
              <a:gd name="adj" fmla="val 160000"/>
            </a:avLst>
          </a:prstGeom>
          <a:solidFill>
            <a:srgbClr val="2EB8D1"/>
          </a:solidFill>
          <a:ln w="12700">
            <a:solidFill>
              <a:srgbClr val="2EB8D1"/>
            </a:solidFill>
            <a:prstDash val="solid"/>
          </a:ln>
        </p:spPr>
        <p:txBody>
          <a:bodyPr/>
          <a:p/>
        </p:txBody>
      </p:sp>
      <p:sp>
        <p:nvSpPr>
          <p:cNvPr id="12" name="Text 10"/>
          <p:cNvSpPr/>
          <p:nvPr/>
        </p:nvSpPr>
        <p:spPr>
          <a:xfrm>
            <a:off x="1106424" y="2670048"/>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How is a managed identity different from a stored client secret?</a:t>
            </a:r>
            <a:endParaRPr lang="en-US" sz="1800" dirty="0"/>
          </a:p>
        </p:txBody>
      </p:sp>
      <p:sp>
        <p:nvSpPr>
          <p:cNvPr id="13" name="Shape 11"/>
          <p:cNvSpPr/>
          <p:nvPr/>
        </p:nvSpPr>
        <p:spPr>
          <a:xfrm>
            <a:off x="868680" y="3465576"/>
            <a:ext cx="91440" cy="91440"/>
          </a:xfrm>
          <a:prstGeom prst="roundRect">
            <a:avLst>
              <a:gd name="adj" fmla="val 160000"/>
            </a:avLst>
          </a:prstGeom>
          <a:solidFill>
            <a:srgbClr val="2EB8D1"/>
          </a:solidFill>
          <a:ln w="12700">
            <a:solidFill>
              <a:srgbClr val="2EB8D1"/>
            </a:solidFill>
            <a:prstDash val="solid"/>
          </a:ln>
        </p:spPr>
        <p:txBody>
          <a:bodyPr/>
          <a:p/>
        </p:txBody>
      </p:sp>
      <p:sp>
        <p:nvSpPr>
          <p:cNvPr id="14" name="Text 12"/>
          <p:cNvSpPr/>
          <p:nvPr/>
        </p:nvSpPr>
        <p:spPr>
          <a:xfrm>
            <a:off x="1106424" y="3374136"/>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What does a Logic App help orchestrate?</a:t>
            </a:r>
            <a:endParaRPr lang="en-US" sz="1800" dirty="0"/>
          </a:p>
        </p:txBody>
      </p:sp>
      <p:sp>
        <p:nvSpPr>
          <p:cNvPr id="15" name="Shape 13"/>
          <p:cNvSpPr/>
          <p:nvPr/>
        </p:nvSpPr>
        <p:spPr>
          <a:xfrm>
            <a:off x="868680" y="4169664"/>
            <a:ext cx="91440" cy="91440"/>
          </a:xfrm>
          <a:prstGeom prst="roundRect">
            <a:avLst>
              <a:gd name="adj" fmla="val 160000"/>
            </a:avLst>
          </a:prstGeom>
          <a:solidFill>
            <a:srgbClr val="2EB8D1"/>
          </a:solidFill>
          <a:ln w="12700">
            <a:solidFill>
              <a:srgbClr val="2EB8D1"/>
            </a:solidFill>
            <a:prstDash val="solid"/>
          </a:ln>
        </p:spPr>
        <p:txBody>
          <a:bodyPr/>
          <a:p/>
        </p:txBody>
      </p:sp>
      <p:sp>
        <p:nvSpPr>
          <p:cNvPr id="16" name="Text 14"/>
          <p:cNvSpPr/>
          <p:nvPr/>
        </p:nvSpPr>
        <p:spPr>
          <a:xfrm>
            <a:off x="1106424" y="4078224"/>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Where would you store an uploaded document?</a:t>
            </a:r>
            <a:endParaRPr lang="en-US" sz="1800" dirty="0"/>
          </a:p>
        </p:txBody>
      </p:sp>
      <p:sp>
        <p:nvSpPr>
          <p:cNvPr id="17" name="Shape 15"/>
          <p:cNvSpPr/>
          <p:nvPr/>
        </p:nvSpPr>
        <p:spPr>
          <a:xfrm>
            <a:off x="868680" y="4873752"/>
            <a:ext cx="91440" cy="91440"/>
          </a:xfrm>
          <a:prstGeom prst="roundRect">
            <a:avLst>
              <a:gd name="adj" fmla="val 160000"/>
            </a:avLst>
          </a:prstGeom>
          <a:solidFill>
            <a:srgbClr val="2EB8D1"/>
          </a:solidFill>
          <a:ln w="12700">
            <a:solidFill>
              <a:srgbClr val="2EB8D1"/>
            </a:solidFill>
            <a:prstDash val="solid"/>
          </a:ln>
        </p:spPr>
        <p:txBody>
          <a:bodyPr/>
          <a:p/>
        </p:txBody>
      </p:sp>
      <p:sp>
        <p:nvSpPr>
          <p:cNvPr id="18" name="Text 16"/>
          <p:cNvSpPr/>
          <p:nvPr/>
        </p:nvSpPr>
        <p:spPr>
          <a:xfrm>
            <a:off x="1106424" y="4782312"/>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How would you investigate a slow or failing request?</a:t>
            </a:r>
            <a:endParaRPr lang="en-US" sz="18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930"/>
        </a:solidFill>
        <a:effectLst/>
      </p:bgPr>
    </p:bg>
    <p:spTree>
      <p:nvGrpSpPr>
        <p:cNvPr id="1" name=""/>
        <p:cNvGrpSpPr/>
        <p:nvPr/>
      </p:nvGrpSpPr>
      <p:grpSpPr/>
      <p:sp>
        <p:nvSpPr>
          <p:cNvPr id="2" name="TextBox 1"/>
          <p:cNvSpPr txBox="1"/>
          <p:nvPr/>
        </p:nvSpPr>
        <p:spPr>
          <a:xfrm>
            <a:off x="594360" y="384048"/>
            <a:ext cx="10058400" cy="457200"/>
          </a:xfrm>
          <a:prstGeom prst="rect">
            <a:avLst/>
          </a:prstGeom>
          <a:noFill/>
        </p:spPr>
        <p:txBody>
          <a:bodyPr wrap="square">
            <a:spAutoFit/>
          </a:bodyPr>
          <a:lstStyle/>
          <a:p>
            <a:pPr>
              <a:spcAft>
                <a:spcPts val="1200"/>
              </a:spcAft>
            </a:pPr>
            <a:r>
              <a:rPr sz="1500" b="1">
                <a:solidFill>
                  <a:srgbClr val="53C2F1"/>
                </a:solidFill>
              </a:rPr>
              <a:t>DAY 1 RECAP  /  CONNECT THE SERVICES</a:t>
            </a:r>
          </a:p>
        </p:txBody>
      </p:sp>
      <p:sp>
        <p:nvSpPr>
          <p:cNvPr id="3" name="TextBox 2"/>
          <p:cNvSpPr txBox="1"/>
          <p:nvPr/>
        </p:nvSpPr>
        <p:spPr>
          <a:xfrm>
            <a:off x="594360" y="960120"/>
            <a:ext cx="10058400" cy="731520"/>
          </a:xfrm>
          <a:prstGeom prst="rect">
            <a:avLst/>
          </a:prstGeom>
          <a:noFill/>
        </p:spPr>
        <p:txBody>
          <a:bodyPr wrap="square">
            <a:spAutoFit/>
          </a:bodyPr>
          <a:lstStyle/>
          <a:p>
            <a:pPr>
              <a:spcAft>
                <a:spcPts val="1200"/>
              </a:spcAft>
            </a:pPr>
            <a:r>
              <a:rPr sz="2900" b="1">
                <a:solidFill>
                  <a:srgbClr val="FFFFFF"/>
                </a:solidFill>
              </a:rPr>
              <a:t>From Azure basics to a connected application</a:t>
            </a:r>
          </a:p>
        </p:txBody>
      </p:sp>
      <p:sp>
        <p:nvSpPr>
          <p:cNvPr id="4" name="TextBox 3"/>
          <p:cNvSpPr txBox="1"/>
          <p:nvPr/>
        </p:nvSpPr>
        <p:spPr>
          <a:xfrm>
            <a:off x="685800" y="1874519"/>
            <a:ext cx="5120640" cy="3383280"/>
          </a:xfrm>
          <a:prstGeom prst="rect">
            <a:avLst/>
          </a:prstGeom>
          <a:noFill/>
        </p:spPr>
        <p:txBody>
          <a:bodyPr wrap="square">
            <a:spAutoFit/>
          </a:bodyPr>
          <a:lstStyle/>
          <a:p>
            <a:pPr>
              <a:spcAft>
                <a:spcPts val="1200"/>
              </a:spcAft>
            </a:pPr>
            <a:r>
              <a:rPr sz="1900" b="0">
                <a:solidFill>
                  <a:srgbClr val="EEF4FC"/>
                </a:solidFill>
              </a:rPr>
              <a:t>FOUNDATIONS &amp; IDENTITY</a:t>
            </a:r>
          </a:p>
          <a:p>
            <a:pPr>
              <a:spcAft>
                <a:spcPts val="1200"/>
              </a:spcAft>
            </a:pPr>
            <a:r>
              <a:rPr sz="1900" b="0">
                <a:solidFill>
                  <a:srgbClr val="EEF4FC"/>
                </a:solidFill>
              </a:rPr>
              <a:t>• Pizza analogy: IaaS / PaaS / SaaS</a:t>
            </a:r>
          </a:p>
          <a:p>
            <a:pPr>
              <a:spcAft>
                <a:spcPts val="1200"/>
              </a:spcAft>
            </a:pPr>
            <a:r>
              <a:rPr sz="1900" b="0">
                <a:solidFill>
                  <a:srgbClr val="EEF4FC"/>
                </a:solidFill>
              </a:rPr>
              <a:t>• Tenant → subscription → resource group → resource</a:t>
            </a:r>
          </a:p>
          <a:p>
            <a:pPr>
              <a:spcAft>
                <a:spcPts val="1200"/>
              </a:spcAft>
            </a:pPr>
            <a:r>
              <a:rPr sz="1900" b="0">
                <a:solidFill>
                  <a:srgbClr val="EEF4FC"/>
                </a:solidFill>
              </a:rPr>
              <a:t>• App registration → service principal → enterprise app</a:t>
            </a:r>
          </a:p>
          <a:p>
            <a:pPr>
              <a:spcAft>
                <a:spcPts val="1200"/>
              </a:spcAft>
            </a:pPr>
            <a:r>
              <a:rPr sz="1900" b="0">
                <a:solidFill>
                  <a:srgbClr val="EEF4FC"/>
                </a:solidFill>
              </a:rPr>
              <a:t>• Managed identity + scoped permissions</a:t>
            </a:r>
          </a:p>
        </p:txBody>
      </p:sp>
      <p:sp>
        <p:nvSpPr>
          <p:cNvPr id="5" name="TextBox 4"/>
          <p:cNvSpPr txBox="1"/>
          <p:nvPr/>
        </p:nvSpPr>
        <p:spPr>
          <a:xfrm>
            <a:off x="5989320" y="1874519"/>
            <a:ext cx="5303520" cy="3474720"/>
          </a:xfrm>
          <a:prstGeom prst="rect">
            <a:avLst/>
          </a:prstGeom>
          <a:noFill/>
        </p:spPr>
        <p:txBody>
          <a:bodyPr wrap="square">
            <a:spAutoFit/>
          </a:bodyPr>
          <a:lstStyle/>
          <a:p>
            <a:pPr>
              <a:spcAft>
                <a:spcPts val="1200"/>
              </a:spcAft>
            </a:pPr>
            <a:r>
              <a:rPr sz="1900" b="0">
                <a:solidFill>
                  <a:srgbClr val="EEF4FC"/>
                </a:solidFill>
              </a:rPr>
              <a:t>APPLICATION &amp; OPERATIONS</a:t>
            </a:r>
          </a:p>
          <a:p>
            <a:pPr>
              <a:spcAft>
                <a:spcPts val="1200"/>
              </a:spcAft>
            </a:pPr>
            <a:r>
              <a:rPr sz="1900" b="0">
                <a:solidFill>
                  <a:srgbClr val="EEF4FC"/>
                </a:solidFill>
              </a:rPr>
              <a:t>• Azure Functions: event-driven code</a:t>
            </a:r>
          </a:p>
          <a:p>
            <a:pPr>
              <a:spcAft>
                <a:spcPts val="1200"/>
              </a:spcAft>
            </a:pPr>
            <a:r>
              <a:rPr sz="1900" b="0">
                <a:solidFill>
                  <a:srgbClr val="EEF4FC"/>
                </a:solidFill>
              </a:rPr>
              <a:t>• Logic Apps: workflow orchestration</a:t>
            </a:r>
          </a:p>
          <a:p>
            <a:pPr>
              <a:spcAft>
                <a:spcPts val="1200"/>
              </a:spcAft>
            </a:pPr>
            <a:r>
              <a:rPr sz="1900" b="0">
                <a:solidFill>
                  <a:srgbClr val="EEF4FC"/>
                </a:solidFill>
              </a:rPr>
              <a:t>• Blob Storage: unstructured files</a:t>
            </a:r>
          </a:p>
          <a:p>
            <a:pPr>
              <a:spcAft>
                <a:spcPts val="1200"/>
              </a:spcAft>
            </a:pPr>
            <a:r>
              <a:rPr sz="1900" b="0">
                <a:solidFill>
                  <a:srgbClr val="EEF4FC"/>
                </a:solidFill>
              </a:rPr>
              <a:t>• Azure Load Testing: performance evidence</a:t>
            </a:r>
          </a:p>
          <a:p>
            <a:pPr>
              <a:spcAft>
                <a:spcPts val="1200"/>
              </a:spcAft>
            </a:pPr>
            <a:r>
              <a:rPr sz="1900" b="0">
                <a:solidFill>
                  <a:srgbClr val="EEF4FC"/>
                </a:solidFill>
              </a:rPr>
              <a:t>• Application Insights + Log Analytics: telemetry / KQL</a:t>
            </a:r>
          </a:p>
        </p:txBody>
      </p:sp>
      <p:sp>
        <p:nvSpPr>
          <p:cNvPr id="6" name="TextBox 5"/>
          <p:cNvSpPr txBox="1"/>
          <p:nvPr/>
        </p:nvSpPr>
        <p:spPr>
          <a:xfrm>
            <a:off x="731520" y="5760720"/>
            <a:ext cx="10515600" cy="594360"/>
          </a:xfrm>
          <a:prstGeom prst="rect">
            <a:avLst/>
          </a:prstGeom>
          <a:noFill/>
        </p:spPr>
        <p:txBody>
          <a:bodyPr wrap="square">
            <a:spAutoFit/>
          </a:bodyPr>
          <a:lstStyle/>
          <a:p>
            <a:pPr>
              <a:spcAft>
                <a:spcPts val="1200"/>
              </a:spcAft>
            </a:pPr>
            <a:r>
              <a:rPr sz="1800" b="1">
                <a:solidFill>
                  <a:srgbClr val="53C2F1"/>
                </a:solidFill>
              </a:rPr>
              <a:t>TODAY: Service Bus demo is deployed. AI enrichment is a separate walkthrough / future extension.</a:t>
            </a:r>
          </a:p>
        </p:txBody>
      </p:sp>
      <p:sp>
        <p:nvSpPr>
          <p:cNvPr id="7" name="TextBox 6"/>
          <p:cNvSpPr txBox="1"/>
          <p:nvPr/>
        </p:nvSpPr>
        <p:spPr>
          <a:xfrm>
            <a:off x="11082528" y="6492240"/>
            <a:ext cx="457200" cy="228600"/>
          </a:xfrm>
          <a:prstGeom prst="rect">
            <a:avLst/>
          </a:prstGeom>
          <a:noFill/>
        </p:spPr>
        <p:txBody>
          <a:bodyPr wrap="square" lIns="27432" rIns="27432" tIns="18288" bIns="18288">
            <a:spAutoFit/>
          </a:bodyPr>
          <a:lstStyle/>
          <a:p>
            <a:pPr>
              <a:spcAft>
                <a:spcPts val="700"/>
              </a:spcAft>
              <a:defRPr sz="1000" b="0">
                <a:solidFill>
                  <a:srgbClr val="1768C1"/>
                </a:solidFill>
                <a:latin typeface="Aptos"/>
              </a:defRPr>
            </a:pPr>
            <a:r>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THE PROBLEM</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A mortgage application takes too long</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Imagine every request waits for document validation and downstream processing</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10</a:t>
            </a:r>
            <a:endParaRPr lang="en-US" sz="1000" dirty="0"/>
          </a:p>
        </p:txBody>
      </p:sp>
      <p:sp>
        <p:nvSpPr>
          <p:cNvPr id="9" name="Shape 7"/>
          <p:cNvSpPr/>
          <p:nvPr/>
        </p:nvSpPr>
        <p:spPr>
          <a:xfrm>
            <a:off x="640080" y="2468880"/>
            <a:ext cx="2484882" cy="1188720"/>
          </a:xfrm>
          <a:prstGeom prst="roundRect">
            <a:avLst>
              <a:gd name="adj" fmla="val 12308"/>
            </a:avLst>
          </a:prstGeom>
          <a:solidFill>
            <a:srgbClr val="EEF5FC"/>
          </a:solidFill>
          <a:ln w="12700">
            <a:solidFill>
              <a:srgbClr val="EEF5FC"/>
            </a:solidFill>
            <a:prstDash val="solid"/>
          </a:ln>
        </p:spPr>
        <p:txBody>
          <a:bodyPr/>
          <a:p/>
        </p:txBody>
      </p:sp>
      <p:sp>
        <p:nvSpPr>
          <p:cNvPr id="10" name="Text 8"/>
          <p:cNvSpPr/>
          <p:nvPr/>
        </p:nvSpPr>
        <p:spPr>
          <a:xfrm>
            <a:off x="777240" y="267004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Customer</a:t>
            </a:r>
            <a:endParaRPr lang="en-US" sz="1700" dirty="0"/>
          </a:p>
        </p:txBody>
      </p:sp>
      <p:sp>
        <p:nvSpPr>
          <p:cNvPr id="11" name="Text 9"/>
          <p:cNvSpPr/>
          <p:nvPr/>
        </p:nvSpPr>
        <p:spPr>
          <a:xfrm>
            <a:off x="768096" y="308152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Submits form</a:t>
            </a:r>
            <a:endParaRPr lang="en-US" sz="1300" dirty="0"/>
          </a:p>
        </p:txBody>
      </p:sp>
      <p:sp>
        <p:nvSpPr>
          <p:cNvPr id="12" name="Text 10"/>
          <p:cNvSpPr/>
          <p:nvPr/>
        </p:nvSpPr>
        <p:spPr>
          <a:xfrm>
            <a:off x="3161538"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3" name="Shape 11"/>
          <p:cNvSpPr/>
          <p:nvPr/>
        </p:nvSpPr>
        <p:spPr>
          <a:xfrm>
            <a:off x="3454146" y="2468880"/>
            <a:ext cx="2484882" cy="1188720"/>
          </a:xfrm>
          <a:prstGeom prst="roundRect">
            <a:avLst>
              <a:gd name="adj" fmla="val 12308"/>
            </a:avLst>
          </a:prstGeom>
          <a:solidFill>
            <a:srgbClr val="EAF8F8"/>
          </a:solidFill>
          <a:ln w="12700">
            <a:solidFill>
              <a:srgbClr val="EAF8F8"/>
            </a:solidFill>
            <a:prstDash val="solid"/>
          </a:ln>
        </p:spPr>
        <p:txBody>
          <a:bodyPr/>
          <a:p/>
        </p:txBody>
      </p:sp>
      <p:sp>
        <p:nvSpPr>
          <p:cNvPr id="14" name="Text 12"/>
          <p:cNvSpPr/>
          <p:nvPr/>
        </p:nvSpPr>
        <p:spPr>
          <a:xfrm>
            <a:off x="3591306" y="267004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Web API</a:t>
            </a:r>
            <a:endParaRPr lang="en-US" sz="1700" dirty="0"/>
          </a:p>
        </p:txBody>
      </p:sp>
      <p:sp>
        <p:nvSpPr>
          <p:cNvPr id="15" name="Text 13"/>
          <p:cNvSpPr/>
          <p:nvPr/>
        </p:nvSpPr>
        <p:spPr>
          <a:xfrm>
            <a:off x="3582162" y="308152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Waits for work</a:t>
            </a:r>
            <a:endParaRPr lang="en-US" sz="1300" dirty="0"/>
          </a:p>
        </p:txBody>
      </p:sp>
      <p:sp>
        <p:nvSpPr>
          <p:cNvPr id="16" name="Text 14"/>
          <p:cNvSpPr/>
          <p:nvPr/>
        </p:nvSpPr>
        <p:spPr>
          <a:xfrm>
            <a:off x="5975604"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7" name="Shape 15"/>
          <p:cNvSpPr/>
          <p:nvPr/>
        </p:nvSpPr>
        <p:spPr>
          <a:xfrm>
            <a:off x="6268212" y="2468880"/>
            <a:ext cx="2484882" cy="1188720"/>
          </a:xfrm>
          <a:prstGeom prst="roundRect">
            <a:avLst>
              <a:gd name="adj" fmla="val 12308"/>
            </a:avLst>
          </a:prstGeom>
          <a:solidFill>
            <a:srgbClr val="EEF5FC"/>
          </a:solidFill>
          <a:ln w="12700">
            <a:solidFill>
              <a:srgbClr val="EEF5FC"/>
            </a:solidFill>
            <a:prstDash val="solid"/>
          </a:ln>
        </p:spPr>
        <p:txBody>
          <a:bodyPr/>
          <a:p/>
        </p:txBody>
      </p:sp>
      <p:sp>
        <p:nvSpPr>
          <p:cNvPr id="18" name="Text 16"/>
          <p:cNvSpPr/>
          <p:nvPr/>
        </p:nvSpPr>
        <p:spPr>
          <a:xfrm>
            <a:off x="6405372" y="267004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Validator</a:t>
            </a:r>
            <a:endParaRPr lang="en-US" sz="1700" dirty="0"/>
          </a:p>
        </p:txBody>
      </p:sp>
      <p:sp>
        <p:nvSpPr>
          <p:cNvPr id="19" name="Text 17"/>
          <p:cNvSpPr/>
          <p:nvPr/>
        </p:nvSpPr>
        <p:spPr>
          <a:xfrm>
            <a:off x="6396228" y="308152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Processes file</a:t>
            </a:r>
            <a:endParaRPr lang="en-US" sz="1300" dirty="0"/>
          </a:p>
        </p:txBody>
      </p:sp>
      <p:sp>
        <p:nvSpPr>
          <p:cNvPr id="20" name="Text 18"/>
          <p:cNvSpPr/>
          <p:nvPr/>
        </p:nvSpPr>
        <p:spPr>
          <a:xfrm>
            <a:off x="8789670"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1" name="Shape 19"/>
          <p:cNvSpPr/>
          <p:nvPr/>
        </p:nvSpPr>
        <p:spPr>
          <a:xfrm>
            <a:off x="9082278" y="2468880"/>
            <a:ext cx="2484882" cy="1188720"/>
          </a:xfrm>
          <a:prstGeom prst="roundRect">
            <a:avLst>
              <a:gd name="adj" fmla="val 12308"/>
            </a:avLst>
          </a:prstGeom>
          <a:solidFill>
            <a:srgbClr val="EAF8F8"/>
          </a:solidFill>
          <a:ln w="12700">
            <a:solidFill>
              <a:srgbClr val="EAF8F8"/>
            </a:solidFill>
            <a:prstDash val="solid"/>
          </a:ln>
        </p:spPr>
        <p:txBody>
          <a:bodyPr/>
          <a:p/>
        </p:txBody>
      </p:sp>
      <p:sp>
        <p:nvSpPr>
          <p:cNvPr id="22" name="Text 20"/>
          <p:cNvSpPr/>
          <p:nvPr/>
        </p:nvSpPr>
        <p:spPr>
          <a:xfrm>
            <a:off x="9219438" y="267004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Database</a:t>
            </a:r>
            <a:endParaRPr lang="en-US" sz="1700" dirty="0"/>
          </a:p>
        </p:txBody>
      </p:sp>
      <p:sp>
        <p:nvSpPr>
          <p:cNvPr id="23" name="Text 21"/>
          <p:cNvSpPr/>
          <p:nvPr/>
        </p:nvSpPr>
        <p:spPr>
          <a:xfrm>
            <a:off x="9210294" y="308152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Writes result</a:t>
            </a:r>
            <a:endParaRPr lang="en-US" sz="1300" dirty="0"/>
          </a:p>
        </p:txBody>
      </p:sp>
      <p:sp>
        <p:nvSpPr>
          <p:cNvPr id="24" name="Shape 22"/>
          <p:cNvSpPr/>
          <p:nvPr/>
        </p:nvSpPr>
        <p:spPr>
          <a:xfrm>
            <a:off x="1005840" y="4617720"/>
            <a:ext cx="10104120" cy="960120"/>
          </a:xfrm>
          <a:prstGeom prst="roundRect">
            <a:avLst>
              <a:gd name="adj" fmla="val 15238"/>
            </a:avLst>
          </a:prstGeom>
          <a:solidFill>
            <a:srgbClr val="FFF4E3"/>
          </a:solidFill>
          <a:ln w="12700">
            <a:solidFill>
              <a:srgbClr val="FFF4E3"/>
            </a:solidFill>
            <a:prstDash val="solid"/>
          </a:ln>
        </p:spPr>
        <p:txBody>
          <a:bodyPr/>
          <a:p/>
        </p:txBody>
      </p:sp>
      <p:sp>
        <p:nvSpPr>
          <p:cNvPr id="25" name="Text 23"/>
          <p:cNvSpPr/>
          <p:nvPr/>
        </p:nvSpPr>
        <p:spPr>
          <a:xfrm>
            <a:off x="1371600" y="4828032"/>
            <a:ext cx="9418320" cy="548640"/>
          </a:xfrm>
          <a:prstGeom prst="rect">
            <a:avLst/>
          </a:prstGeom>
          <a:noFill/>
          <a:ln/>
        </p:spPr>
        <p:txBody>
          <a:bodyPr wrap="square" lIns="0" tIns="0" rIns="0" bIns="0" rtlCol="0" anchor="ctr"/>
          <a:lstStyle/>
          <a:p>
            <a:pPr algn="ctr" indent="0" marL="0">
              <a:buNone/>
            </a:pPr>
            <a:r>
              <a:rPr lang="en-US" sz="1900" b="1" dirty="0">
                <a:solidFill>
                  <a:srgbClr val="101D35"/>
                </a:solidFill>
                <a:latin typeface="Aptos" pitchFamily="34" charset="0"/>
                <a:ea typeface="Aptos" pitchFamily="34" charset="-122"/>
                <a:cs typeface="Aptos" pitchFamily="34" charset="-120"/>
              </a:rPr>
              <a:t>What happens when 500 applications arrive at once—or validation is temporarily unavailable?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AZURE SERVICE BUS</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What is Azure Service Bus?</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A fully managed enterprise message broker for reliable asynchronous communication</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11</a:t>
            </a:r>
            <a:endParaRPr lang="en-US" sz="1000" dirty="0"/>
          </a:p>
        </p:txBody>
      </p:sp>
      <p:sp>
        <p:nvSpPr>
          <p:cNvPr id="9" name="Shape 7"/>
          <p:cNvSpPr/>
          <p:nvPr/>
        </p:nvSpPr>
        <p:spPr>
          <a:xfrm>
            <a:off x="731520" y="2148840"/>
            <a:ext cx="5257800" cy="2331720"/>
          </a:xfrm>
          <a:prstGeom prst="roundRect">
            <a:avLst>
              <a:gd name="adj" fmla="val 6275"/>
            </a:avLst>
          </a:prstGeom>
          <a:solidFill>
            <a:srgbClr val="F3F7FB"/>
          </a:solidFill>
          <a:ln w="12700">
            <a:solidFill>
              <a:srgbClr val="F3F7FB"/>
            </a:solidFill>
            <a:prstDash val="solid"/>
          </a:ln>
        </p:spPr>
        <p:txBody>
          <a:bodyPr/>
          <a:p/>
        </p:txBody>
      </p:sp>
      <p:sp>
        <p:nvSpPr>
          <p:cNvPr id="10" name="Shape 8"/>
          <p:cNvSpPr/>
          <p:nvPr/>
        </p:nvSpPr>
        <p:spPr>
          <a:xfrm>
            <a:off x="731520" y="2148840"/>
            <a:ext cx="64008" cy="2331720"/>
          </a:xfrm>
          <a:prstGeom prst="rect">
            <a:avLst/>
          </a:prstGeom>
          <a:solidFill>
            <a:srgbClr val="1768C1"/>
          </a:solidFill>
          <a:ln w="12700">
            <a:solidFill>
              <a:srgbClr val="1768C1"/>
            </a:solidFill>
            <a:prstDash val="solid"/>
          </a:ln>
        </p:spPr>
        <p:txBody>
          <a:bodyPr/>
          <a:p/>
        </p:txBody>
      </p:sp>
      <p:sp>
        <p:nvSpPr>
          <p:cNvPr id="11" name="Text 9"/>
          <p:cNvSpPr/>
          <p:nvPr/>
        </p:nvSpPr>
        <p:spPr>
          <a:xfrm>
            <a:off x="960120" y="2313432"/>
            <a:ext cx="48006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Producer</a:t>
            </a:r>
            <a:endParaRPr lang="en-US" sz="1900" dirty="0"/>
          </a:p>
        </p:txBody>
      </p:sp>
      <p:sp>
        <p:nvSpPr>
          <p:cNvPr id="12" name="Text 10"/>
          <p:cNvSpPr/>
          <p:nvPr/>
        </p:nvSpPr>
        <p:spPr>
          <a:xfrm>
            <a:off x="960120" y="2807208"/>
            <a:ext cx="4800600" cy="15727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The application sends a small message describing work to be done. It does not need to wait for processing.</a:t>
            </a:r>
            <a:endParaRPr lang="en-US" sz="1500" dirty="0"/>
          </a:p>
        </p:txBody>
      </p:sp>
      <p:sp>
        <p:nvSpPr>
          <p:cNvPr id="13" name="Shape 11"/>
          <p:cNvSpPr/>
          <p:nvPr/>
        </p:nvSpPr>
        <p:spPr>
          <a:xfrm>
            <a:off x="6172200" y="2148840"/>
            <a:ext cx="5257800" cy="2331720"/>
          </a:xfrm>
          <a:prstGeom prst="roundRect">
            <a:avLst>
              <a:gd name="adj" fmla="val 6275"/>
            </a:avLst>
          </a:prstGeom>
          <a:solidFill>
            <a:srgbClr val="F3F7FB"/>
          </a:solidFill>
          <a:ln w="12700">
            <a:solidFill>
              <a:srgbClr val="F3F7FB"/>
            </a:solidFill>
            <a:prstDash val="solid"/>
          </a:ln>
        </p:spPr>
        <p:txBody>
          <a:bodyPr/>
          <a:p/>
        </p:txBody>
      </p:sp>
      <p:sp>
        <p:nvSpPr>
          <p:cNvPr id="14" name="Shape 12"/>
          <p:cNvSpPr/>
          <p:nvPr/>
        </p:nvSpPr>
        <p:spPr>
          <a:xfrm>
            <a:off x="6172200" y="2148840"/>
            <a:ext cx="64008" cy="2331720"/>
          </a:xfrm>
          <a:prstGeom prst="rect">
            <a:avLst/>
          </a:prstGeom>
          <a:solidFill>
            <a:srgbClr val="198D76"/>
          </a:solidFill>
          <a:ln w="12700">
            <a:solidFill>
              <a:srgbClr val="198D76"/>
            </a:solidFill>
            <a:prstDash val="solid"/>
          </a:ln>
        </p:spPr>
        <p:txBody>
          <a:bodyPr/>
          <a:p/>
        </p:txBody>
      </p:sp>
      <p:sp>
        <p:nvSpPr>
          <p:cNvPr id="15" name="Text 13"/>
          <p:cNvSpPr/>
          <p:nvPr/>
        </p:nvSpPr>
        <p:spPr>
          <a:xfrm>
            <a:off x="6400800" y="2313432"/>
            <a:ext cx="48006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Consumer</a:t>
            </a:r>
            <a:endParaRPr lang="en-US" sz="1900" dirty="0"/>
          </a:p>
        </p:txBody>
      </p:sp>
      <p:sp>
        <p:nvSpPr>
          <p:cNvPr id="16" name="Text 14"/>
          <p:cNvSpPr/>
          <p:nvPr/>
        </p:nvSpPr>
        <p:spPr>
          <a:xfrm>
            <a:off x="6400800" y="2807208"/>
            <a:ext cx="4800600" cy="15727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A separate worker receives the message, processes it and settles it after successful handling.</a:t>
            </a:r>
            <a:endParaRPr lang="en-US" sz="1500" dirty="0"/>
          </a:p>
        </p:txBody>
      </p:sp>
      <p:sp>
        <p:nvSpPr>
          <p:cNvPr id="17" name="Text 15"/>
          <p:cNvSpPr/>
          <p:nvPr/>
        </p:nvSpPr>
        <p:spPr>
          <a:xfrm>
            <a:off x="1051560" y="4919472"/>
            <a:ext cx="10058400" cy="5943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 queue is a buffer between the two components.</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AZURE SERVICE BUS</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Why use a message queue?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Compare tightly coupled and decoupled application designs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12</a:t>
            </a:r>
            <a:endParaRPr lang="en-US" sz="1000" dirty="0"/>
          </a:p>
        </p:txBody>
      </p:sp>
      <p:sp>
        <p:nvSpPr>
          <p:cNvPr id="9" name="Shape 7"/>
          <p:cNvSpPr/>
          <p:nvPr/>
        </p:nvSpPr>
        <p:spPr>
          <a:xfrm>
            <a:off x="731520" y="2194560"/>
            <a:ext cx="5257800" cy="2743200"/>
          </a:xfrm>
          <a:prstGeom prst="roundRect">
            <a:avLst>
              <a:gd name="adj" fmla="val 5333"/>
            </a:avLst>
          </a:prstGeom>
          <a:solidFill>
            <a:srgbClr val="F3F7FB"/>
          </a:solidFill>
          <a:ln w="12700">
            <a:solidFill>
              <a:srgbClr val="F3F7FB"/>
            </a:solidFill>
            <a:prstDash val="solid"/>
          </a:ln>
        </p:spPr>
        <p:txBody>
          <a:bodyPr/>
          <a:p/>
        </p:txBody>
      </p:sp>
      <p:sp>
        <p:nvSpPr>
          <p:cNvPr id="10" name="Shape 8"/>
          <p:cNvSpPr/>
          <p:nvPr/>
        </p:nvSpPr>
        <p:spPr>
          <a:xfrm>
            <a:off x="731520" y="2194560"/>
            <a:ext cx="64008" cy="2743200"/>
          </a:xfrm>
          <a:prstGeom prst="rect">
            <a:avLst/>
          </a:prstGeom>
          <a:solidFill>
            <a:srgbClr val="F6A640"/>
          </a:solidFill>
          <a:ln w="12700">
            <a:solidFill>
              <a:srgbClr val="F6A640"/>
            </a:solidFill>
            <a:prstDash val="solid"/>
          </a:ln>
        </p:spPr>
        <p:txBody>
          <a:bodyPr/>
          <a:p/>
        </p:txBody>
      </p:sp>
      <p:sp>
        <p:nvSpPr>
          <p:cNvPr id="11" name="Text 9"/>
          <p:cNvSpPr/>
          <p:nvPr/>
        </p:nvSpPr>
        <p:spPr>
          <a:xfrm>
            <a:off x="960120" y="2359152"/>
            <a:ext cx="48006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Without a queue</a:t>
            </a:r>
            <a:endParaRPr lang="en-US" sz="1900" dirty="0"/>
          </a:p>
        </p:txBody>
      </p:sp>
      <p:sp>
        <p:nvSpPr>
          <p:cNvPr id="12" name="Text 10"/>
          <p:cNvSpPr/>
          <p:nvPr/>
        </p:nvSpPr>
        <p:spPr>
          <a:xfrm>
            <a:off x="960120" y="2852928"/>
            <a:ext cx="4800600" cy="198424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The API waits for downstream work. Slow processing delays the user; a dependency outage can cause request failures.</a:t>
            </a:r>
            <a:endParaRPr lang="en-US" sz="1500" dirty="0"/>
          </a:p>
        </p:txBody>
      </p:sp>
      <p:sp>
        <p:nvSpPr>
          <p:cNvPr id="13" name="Shape 11"/>
          <p:cNvSpPr/>
          <p:nvPr/>
        </p:nvSpPr>
        <p:spPr>
          <a:xfrm>
            <a:off x="6172200" y="2194560"/>
            <a:ext cx="5257800" cy="2743200"/>
          </a:xfrm>
          <a:prstGeom prst="roundRect">
            <a:avLst>
              <a:gd name="adj" fmla="val 5333"/>
            </a:avLst>
          </a:prstGeom>
          <a:solidFill>
            <a:srgbClr val="F3F7FB"/>
          </a:solidFill>
          <a:ln w="12700">
            <a:solidFill>
              <a:srgbClr val="F3F7FB"/>
            </a:solidFill>
            <a:prstDash val="solid"/>
          </a:ln>
        </p:spPr>
        <p:txBody>
          <a:bodyPr/>
          <a:p/>
        </p:txBody>
      </p:sp>
      <p:sp>
        <p:nvSpPr>
          <p:cNvPr id="14" name="Shape 12"/>
          <p:cNvSpPr/>
          <p:nvPr/>
        </p:nvSpPr>
        <p:spPr>
          <a:xfrm>
            <a:off x="6172200" y="2194560"/>
            <a:ext cx="64008" cy="2743200"/>
          </a:xfrm>
          <a:prstGeom prst="rect">
            <a:avLst/>
          </a:prstGeom>
          <a:solidFill>
            <a:srgbClr val="198D76"/>
          </a:solidFill>
          <a:ln w="12700">
            <a:solidFill>
              <a:srgbClr val="198D76"/>
            </a:solidFill>
            <a:prstDash val="solid"/>
          </a:ln>
        </p:spPr>
        <p:txBody>
          <a:bodyPr/>
          <a:p/>
        </p:txBody>
      </p:sp>
      <p:sp>
        <p:nvSpPr>
          <p:cNvPr id="15" name="Text 13"/>
          <p:cNvSpPr/>
          <p:nvPr/>
        </p:nvSpPr>
        <p:spPr>
          <a:xfrm>
            <a:off x="6400800" y="2359152"/>
            <a:ext cx="48006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With Service Bus</a:t>
            </a:r>
            <a:endParaRPr lang="en-US" sz="1900" dirty="0"/>
          </a:p>
        </p:txBody>
      </p:sp>
      <p:sp>
        <p:nvSpPr>
          <p:cNvPr id="16" name="Text 14"/>
          <p:cNvSpPr/>
          <p:nvPr/>
        </p:nvSpPr>
        <p:spPr>
          <a:xfrm>
            <a:off x="6400800" y="2852928"/>
            <a:ext cx="4800600" cy="198424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The API accepts work and sends a message. A worker processes it later; queued messages help absorb bursts.</a:t>
            </a:r>
            <a:endParaRPr lang="en-US" sz="1500" dirty="0"/>
          </a:p>
        </p:txBody>
      </p:sp>
      <p:sp>
        <p:nvSpPr>
          <p:cNvPr id="17" name="Text 15"/>
          <p:cNvSpPr/>
          <p:nvPr/>
        </p:nvSpPr>
        <p:spPr>
          <a:xfrm>
            <a:off x="914400" y="5394960"/>
            <a:ext cx="10241280" cy="502920"/>
          </a:xfrm>
          <a:prstGeom prst="rect">
            <a:avLst/>
          </a:prstGeom>
          <a:noFill/>
          <a:ln/>
        </p:spPr>
        <p:txBody>
          <a:bodyPr wrap="square" lIns="0" tIns="0" rIns="0" bIns="0" rtlCol="0" anchor="ctr"/>
          <a:lstStyle/>
          <a:p>
            <a:pPr algn="ctr" indent="0" marL="0">
              <a:buNone/>
            </a:pPr>
            <a:r>
              <a:rPr lang="en-US" sz="1900" b="1" dirty="0">
                <a:solidFill>
                  <a:srgbClr val="1768C1"/>
                </a:solidFill>
                <a:latin typeface="Aptos" pitchFamily="34" charset="0"/>
                <a:ea typeface="Aptos" pitchFamily="34" charset="-122"/>
                <a:cs typeface="Aptos" pitchFamily="34" charset="-120"/>
              </a:rPr>
              <a:t>Important: message accepted ≠ business process completed.</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AZURE SERVICE BUS</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Core concepts: namespace, queue, topic</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Choose the pattern and tier: topics/subscriptions require Standard or Premium</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13</a:t>
            </a:r>
            <a:endParaRPr lang="en-US" sz="1000" dirty="0"/>
          </a:p>
        </p:txBody>
      </p:sp>
      <p:sp>
        <p:nvSpPr>
          <p:cNvPr id="9" name="Shape 7"/>
          <p:cNvSpPr/>
          <p:nvPr/>
        </p:nvSpPr>
        <p:spPr>
          <a:xfrm>
            <a:off x="731520" y="20299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0" name="Shape 8"/>
          <p:cNvSpPr/>
          <p:nvPr/>
        </p:nvSpPr>
        <p:spPr>
          <a:xfrm>
            <a:off x="731520" y="2029968"/>
            <a:ext cx="64008" cy="1417320"/>
          </a:xfrm>
          <a:prstGeom prst="rect">
            <a:avLst/>
          </a:prstGeom>
          <a:solidFill>
            <a:srgbClr val="1768C1"/>
          </a:solidFill>
          <a:ln w="12700">
            <a:solidFill>
              <a:srgbClr val="1768C1"/>
            </a:solidFill>
            <a:prstDash val="solid"/>
          </a:ln>
        </p:spPr>
        <p:txBody>
          <a:bodyPr/>
          <a:p/>
        </p:txBody>
      </p:sp>
      <p:sp>
        <p:nvSpPr>
          <p:cNvPr id="11" name="Text 9"/>
          <p:cNvSpPr/>
          <p:nvPr/>
        </p:nvSpPr>
        <p:spPr>
          <a:xfrm>
            <a:off x="960120" y="21945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Namespace</a:t>
            </a:r>
            <a:endParaRPr lang="en-US" sz="1900" dirty="0"/>
          </a:p>
        </p:txBody>
      </p:sp>
      <p:sp>
        <p:nvSpPr>
          <p:cNvPr id="12" name="Text 10"/>
          <p:cNvSpPr/>
          <p:nvPr/>
        </p:nvSpPr>
        <p:spPr>
          <a:xfrm>
            <a:off x="960120" y="26883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Top-level container for Service Bus messaging entities.</a:t>
            </a:r>
            <a:endParaRPr lang="en-US" sz="1500" dirty="0"/>
          </a:p>
        </p:txBody>
      </p:sp>
      <p:sp>
        <p:nvSpPr>
          <p:cNvPr id="13" name="Shape 11"/>
          <p:cNvSpPr/>
          <p:nvPr/>
        </p:nvSpPr>
        <p:spPr>
          <a:xfrm>
            <a:off x="6400800" y="20299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4" name="Shape 12"/>
          <p:cNvSpPr/>
          <p:nvPr/>
        </p:nvSpPr>
        <p:spPr>
          <a:xfrm>
            <a:off x="6400800" y="2029968"/>
            <a:ext cx="64008" cy="1417320"/>
          </a:xfrm>
          <a:prstGeom prst="rect">
            <a:avLst/>
          </a:prstGeom>
          <a:solidFill>
            <a:srgbClr val="1768C1"/>
          </a:solidFill>
          <a:ln w="12700">
            <a:solidFill>
              <a:srgbClr val="1768C1"/>
            </a:solidFill>
            <a:prstDash val="solid"/>
          </a:ln>
        </p:spPr>
        <p:txBody>
          <a:bodyPr/>
          <a:p/>
        </p:txBody>
      </p:sp>
      <p:sp>
        <p:nvSpPr>
          <p:cNvPr id="15" name="Text 13"/>
          <p:cNvSpPr/>
          <p:nvPr/>
        </p:nvSpPr>
        <p:spPr>
          <a:xfrm>
            <a:off x="6629400" y="21945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Queue</a:t>
            </a:r>
            <a:endParaRPr lang="en-US" sz="1900" dirty="0"/>
          </a:p>
        </p:txBody>
      </p:sp>
      <p:sp>
        <p:nvSpPr>
          <p:cNvPr id="16" name="Text 14"/>
          <p:cNvSpPr/>
          <p:nvPr/>
        </p:nvSpPr>
        <p:spPr>
          <a:xfrm>
            <a:off x="6629400" y="26883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Competing consumers share work; a message may be redelivered.</a:t>
            </a:r>
            <a:endParaRPr lang="en-US" sz="1500" dirty="0"/>
          </a:p>
        </p:txBody>
      </p:sp>
      <p:sp>
        <p:nvSpPr>
          <p:cNvPr id="17" name="Shape 15"/>
          <p:cNvSpPr/>
          <p:nvPr/>
        </p:nvSpPr>
        <p:spPr>
          <a:xfrm>
            <a:off x="731520" y="3648456"/>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8" name="Shape 16"/>
          <p:cNvSpPr/>
          <p:nvPr/>
        </p:nvSpPr>
        <p:spPr>
          <a:xfrm>
            <a:off x="731520" y="3648456"/>
            <a:ext cx="64008" cy="1417320"/>
          </a:xfrm>
          <a:prstGeom prst="rect">
            <a:avLst/>
          </a:prstGeom>
          <a:solidFill>
            <a:srgbClr val="1768C1"/>
          </a:solidFill>
          <a:ln w="12700">
            <a:solidFill>
              <a:srgbClr val="1768C1"/>
            </a:solidFill>
            <a:prstDash val="solid"/>
          </a:ln>
        </p:spPr>
        <p:txBody>
          <a:bodyPr/>
          <a:p/>
        </p:txBody>
      </p:sp>
      <p:sp>
        <p:nvSpPr>
          <p:cNvPr id="19" name="Text 17"/>
          <p:cNvSpPr/>
          <p:nvPr/>
        </p:nvSpPr>
        <p:spPr>
          <a:xfrm>
            <a:off x="960120" y="3813048"/>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Topic + subscription</a:t>
            </a:r>
            <a:endParaRPr lang="en-US" sz="1900" dirty="0"/>
          </a:p>
        </p:txBody>
      </p:sp>
      <p:sp>
        <p:nvSpPr>
          <p:cNvPr id="20" name="Text 18"/>
          <p:cNvSpPr/>
          <p:nvPr/>
        </p:nvSpPr>
        <p:spPr>
          <a:xfrm>
            <a:off x="960120" y="4306824"/>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Publish once; independent subscriptions can receive copies.</a:t>
            </a:r>
            <a:endParaRPr lang="en-US" sz="1500" dirty="0"/>
          </a:p>
        </p:txBody>
      </p:sp>
      <p:sp>
        <p:nvSpPr>
          <p:cNvPr id="21" name="Shape 19"/>
          <p:cNvSpPr/>
          <p:nvPr/>
        </p:nvSpPr>
        <p:spPr>
          <a:xfrm>
            <a:off x="6400800" y="3648456"/>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22" name="Shape 20"/>
          <p:cNvSpPr/>
          <p:nvPr/>
        </p:nvSpPr>
        <p:spPr>
          <a:xfrm>
            <a:off x="6400800" y="3648456"/>
            <a:ext cx="64008" cy="1417320"/>
          </a:xfrm>
          <a:prstGeom prst="rect">
            <a:avLst/>
          </a:prstGeom>
          <a:solidFill>
            <a:srgbClr val="F6A640"/>
          </a:solidFill>
          <a:ln w="12700">
            <a:solidFill>
              <a:srgbClr val="F6A640"/>
            </a:solidFill>
            <a:prstDash val="solid"/>
          </a:ln>
        </p:spPr>
        <p:txBody>
          <a:bodyPr/>
          <a:p/>
        </p:txBody>
      </p:sp>
      <p:sp>
        <p:nvSpPr>
          <p:cNvPr id="23" name="Text 21"/>
          <p:cNvSpPr/>
          <p:nvPr/>
        </p:nvSpPr>
        <p:spPr>
          <a:xfrm>
            <a:off x="6629400" y="3813048"/>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Dead-letter queue</a:t>
            </a:r>
            <a:endParaRPr lang="en-US" sz="1900" dirty="0"/>
          </a:p>
        </p:txBody>
      </p:sp>
      <p:sp>
        <p:nvSpPr>
          <p:cNvPr id="24" name="Text 22"/>
          <p:cNvSpPr/>
          <p:nvPr/>
        </p:nvSpPr>
        <p:spPr>
          <a:xfrm>
            <a:off x="6629400" y="4306824"/>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Holds messages requiring investigation after delivery/processing problems.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AZURE SERVICE BUS</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Queue architecture for a building society</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Send only a job identifier and non-sensitive reference</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14</a:t>
            </a:r>
            <a:endParaRPr lang="en-US" sz="1000" dirty="0"/>
          </a:p>
        </p:txBody>
      </p:sp>
      <p:sp>
        <p:nvSpPr>
          <p:cNvPr id="9" name="Shape 7"/>
          <p:cNvSpPr/>
          <p:nvPr/>
        </p:nvSpPr>
        <p:spPr>
          <a:xfrm>
            <a:off x="640080" y="2487168"/>
            <a:ext cx="2484882" cy="1188720"/>
          </a:xfrm>
          <a:prstGeom prst="roundRect">
            <a:avLst>
              <a:gd name="adj" fmla="val 12308"/>
            </a:avLst>
          </a:prstGeom>
          <a:solidFill>
            <a:srgbClr val="EEF5FC"/>
          </a:solidFill>
          <a:ln w="12700">
            <a:solidFill>
              <a:srgbClr val="EEF5FC"/>
            </a:solidFill>
            <a:prstDash val="solid"/>
          </a:ln>
        </p:spPr>
        <p:txBody>
          <a:bodyPr/>
          <a:p/>
        </p:txBody>
      </p:sp>
      <p:sp>
        <p:nvSpPr>
          <p:cNvPr id="10" name="Text 8"/>
          <p:cNvSpPr/>
          <p:nvPr/>
        </p:nvSpPr>
        <p:spPr>
          <a:xfrm>
            <a:off x="777240" y="2688336"/>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Web app</a:t>
            </a:r>
            <a:endParaRPr lang="en-US" sz="1700" dirty="0"/>
          </a:p>
        </p:txBody>
      </p:sp>
      <p:sp>
        <p:nvSpPr>
          <p:cNvPr id="11" name="Text 9"/>
          <p:cNvSpPr/>
          <p:nvPr/>
        </p:nvSpPr>
        <p:spPr>
          <a:xfrm>
            <a:off x="768096" y="3099816"/>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Accepts application</a:t>
            </a:r>
            <a:endParaRPr lang="en-US" sz="1300" dirty="0"/>
          </a:p>
        </p:txBody>
      </p:sp>
      <p:sp>
        <p:nvSpPr>
          <p:cNvPr id="12" name="Text 10"/>
          <p:cNvSpPr/>
          <p:nvPr/>
        </p:nvSpPr>
        <p:spPr>
          <a:xfrm>
            <a:off x="3161538" y="2926080"/>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3" name="Shape 11"/>
          <p:cNvSpPr/>
          <p:nvPr/>
        </p:nvSpPr>
        <p:spPr>
          <a:xfrm>
            <a:off x="3454146" y="2487168"/>
            <a:ext cx="2484882" cy="1188720"/>
          </a:xfrm>
          <a:prstGeom prst="roundRect">
            <a:avLst>
              <a:gd name="adj" fmla="val 12308"/>
            </a:avLst>
          </a:prstGeom>
          <a:solidFill>
            <a:srgbClr val="EAF8F8"/>
          </a:solidFill>
          <a:ln w="12700">
            <a:solidFill>
              <a:srgbClr val="EAF8F8"/>
            </a:solidFill>
            <a:prstDash val="solid"/>
          </a:ln>
        </p:spPr>
        <p:txBody>
          <a:bodyPr/>
          <a:p/>
        </p:txBody>
      </p:sp>
      <p:sp>
        <p:nvSpPr>
          <p:cNvPr id="14" name="Text 12"/>
          <p:cNvSpPr/>
          <p:nvPr/>
        </p:nvSpPr>
        <p:spPr>
          <a:xfrm>
            <a:off x="3591306" y="2688336"/>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Service Bus queue</a:t>
            </a:r>
            <a:endParaRPr lang="en-US" sz="1700" dirty="0"/>
          </a:p>
        </p:txBody>
      </p:sp>
      <p:sp>
        <p:nvSpPr>
          <p:cNvPr id="15" name="Text 13"/>
          <p:cNvSpPr/>
          <p:nvPr/>
        </p:nvSpPr>
        <p:spPr>
          <a:xfrm>
            <a:off x="3582162" y="3099816"/>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Stores work message</a:t>
            </a:r>
            <a:endParaRPr lang="en-US" sz="1300" dirty="0"/>
          </a:p>
        </p:txBody>
      </p:sp>
      <p:sp>
        <p:nvSpPr>
          <p:cNvPr id="16" name="Text 14"/>
          <p:cNvSpPr/>
          <p:nvPr/>
        </p:nvSpPr>
        <p:spPr>
          <a:xfrm>
            <a:off x="5975604" y="2926080"/>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7" name="Shape 15"/>
          <p:cNvSpPr/>
          <p:nvPr/>
        </p:nvSpPr>
        <p:spPr>
          <a:xfrm>
            <a:off x="6268212" y="2487168"/>
            <a:ext cx="2484882" cy="1188720"/>
          </a:xfrm>
          <a:prstGeom prst="roundRect">
            <a:avLst>
              <a:gd name="adj" fmla="val 12308"/>
            </a:avLst>
          </a:prstGeom>
          <a:solidFill>
            <a:srgbClr val="EEF5FC"/>
          </a:solidFill>
          <a:ln w="12700">
            <a:solidFill>
              <a:srgbClr val="EEF5FC"/>
            </a:solidFill>
            <a:prstDash val="solid"/>
          </a:ln>
        </p:spPr>
        <p:txBody>
          <a:bodyPr/>
          <a:p/>
        </p:txBody>
      </p:sp>
      <p:sp>
        <p:nvSpPr>
          <p:cNvPr id="18" name="Text 16"/>
          <p:cNvSpPr/>
          <p:nvPr/>
        </p:nvSpPr>
        <p:spPr>
          <a:xfrm>
            <a:off x="6405372" y="2688336"/>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Worker / Function</a:t>
            </a:r>
            <a:endParaRPr lang="en-US" sz="1700" dirty="0"/>
          </a:p>
        </p:txBody>
      </p:sp>
      <p:sp>
        <p:nvSpPr>
          <p:cNvPr id="19" name="Text 17"/>
          <p:cNvSpPr/>
          <p:nvPr/>
        </p:nvSpPr>
        <p:spPr>
          <a:xfrm>
            <a:off x="6396228" y="3099816"/>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Processes asynchronously</a:t>
            </a:r>
            <a:endParaRPr lang="en-US" sz="1300" dirty="0"/>
          </a:p>
        </p:txBody>
      </p:sp>
      <p:sp>
        <p:nvSpPr>
          <p:cNvPr id="20" name="Text 18"/>
          <p:cNvSpPr/>
          <p:nvPr/>
        </p:nvSpPr>
        <p:spPr>
          <a:xfrm>
            <a:off x="8789670" y="2926080"/>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1" name="Shape 19"/>
          <p:cNvSpPr/>
          <p:nvPr/>
        </p:nvSpPr>
        <p:spPr>
          <a:xfrm>
            <a:off x="9082278" y="2487168"/>
            <a:ext cx="2484882" cy="1188720"/>
          </a:xfrm>
          <a:prstGeom prst="roundRect">
            <a:avLst>
              <a:gd name="adj" fmla="val 12308"/>
            </a:avLst>
          </a:prstGeom>
          <a:solidFill>
            <a:srgbClr val="EAF8F8"/>
          </a:solidFill>
          <a:ln w="12700">
            <a:solidFill>
              <a:srgbClr val="EAF8F8"/>
            </a:solidFill>
            <a:prstDash val="solid"/>
          </a:ln>
        </p:spPr>
        <p:txBody>
          <a:bodyPr/>
          <a:p/>
        </p:txBody>
      </p:sp>
      <p:sp>
        <p:nvSpPr>
          <p:cNvPr id="22" name="Text 20"/>
          <p:cNvSpPr/>
          <p:nvPr/>
        </p:nvSpPr>
        <p:spPr>
          <a:xfrm>
            <a:off x="9219438" y="2688336"/>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Status store</a:t>
            </a:r>
            <a:endParaRPr lang="en-US" sz="1700" dirty="0"/>
          </a:p>
        </p:txBody>
      </p:sp>
      <p:sp>
        <p:nvSpPr>
          <p:cNvPr id="23" name="Text 21"/>
          <p:cNvSpPr/>
          <p:nvPr/>
        </p:nvSpPr>
        <p:spPr>
          <a:xfrm>
            <a:off x="9210294" y="3099816"/>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Tracks outcome</a:t>
            </a:r>
            <a:endParaRPr lang="en-US" sz="1300" dirty="0"/>
          </a:p>
        </p:txBody>
      </p:sp>
      <p:sp>
        <p:nvSpPr>
          <p:cNvPr id="24" name="Text 22"/>
          <p:cNvSpPr/>
          <p:nvPr/>
        </p:nvSpPr>
        <p:spPr>
          <a:xfrm>
            <a:off x="896112" y="4736592"/>
            <a:ext cx="10424160" cy="502920"/>
          </a:xfrm>
          <a:prstGeom prst="rect">
            <a:avLst/>
          </a:prstGeom>
          <a:noFill/>
          <a:ln/>
        </p:spPr>
        <p:txBody>
          <a:bodyPr wrap="square" lIns="0" tIns="0" rIns="0" bIns="0" rtlCol="0" anchor="ctr"/>
          <a:lstStyle/>
          <a:p>
            <a:pPr algn="ctr" indent="0" marL="0">
              <a:buNone/>
            </a:pPr>
            <a:r>
              <a:rPr lang="en-US" sz="1800" b="1" dirty="0">
                <a:solidFill>
                  <a:srgbClr val="1768C1"/>
                </a:solidFill>
                <a:latin typeface="Aptos" pitchFamily="34" charset="0"/>
                <a:ea typeface="Aptos" pitchFamily="34" charset="-122"/>
                <a:cs typeface="Aptos" pitchFamily="34" charset="-120"/>
              </a:rPr>
              <a:t>Example message: { "applicationId": "DEMO-1042", "action": "validate" }</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AZURE SERVICE BUS</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Delivery semantics: what can go wrong?</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Reliable messaging still requires careful application design</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15</a:t>
            </a:r>
            <a:endParaRPr lang="en-US" sz="1000" dirty="0"/>
          </a:p>
        </p:txBody>
      </p:sp>
      <p:sp>
        <p:nvSpPr>
          <p:cNvPr id="9" name="Shape 7"/>
          <p:cNvSpPr/>
          <p:nvPr/>
        </p:nvSpPr>
        <p:spPr>
          <a:xfrm>
            <a:off x="731520" y="2011680"/>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0" name="Shape 8"/>
          <p:cNvSpPr/>
          <p:nvPr/>
        </p:nvSpPr>
        <p:spPr>
          <a:xfrm>
            <a:off x="731520" y="2011680"/>
            <a:ext cx="64008" cy="1417320"/>
          </a:xfrm>
          <a:prstGeom prst="rect">
            <a:avLst/>
          </a:prstGeom>
          <a:solidFill>
            <a:srgbClr val="1768C1"/>
          </a:solidFill>
          <a:ln w="12700">
            <a:solidFill>
              <a:srgbClr val="1768C1"/>
            </a:solidFill>
            <a:prstDash val="solid"/>
          </a:ln>
        </p:spPr>
        <p:txBody>
          <a:bodyPr/>
          <a:p/>
        </p:txBody>
      </p:sp>
      <p:sp>
        <p:nvSpPr>
          <p:cNvPr id="11" name="Text 9"/>
          <p:cNvSpPr/>
          <p:nvPr/>
        </p:nvSpPr>
        <p:spPr>
          <a:xfrm>
            <a:off x="960120" y="2176272"/>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At-least-once delivery</a:t>
            </a:r>
            <a:endParaRPr lang="en-US" sz="1900" dirty="0"/>
          </a:p>
        </p:txBody>
      </p:sp>
      <p:sp>
        <p:nvSpPr>
          <p:cNvPr id="12" name="Text 10"/>
          <p:cNvSpPr/>
          <p:nvPr/>
        </p:nvSpPr>
        <p:spPr>
          <a:xfrm>
            <a:off x="960120" y="2670048"/>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A message may be delivered again after a failure or expired lock.</a:t>
            </a:r>
            <a:endParaRPr lang="en-US" sz="1500" dirty="0"/>
          </a:p>
        </p:txBody>
      </p:sp>
      <p:sp>
        <p:nvSpPr>
          <p:cNvPr id="13" name="Shape 11"/>
          <p:cNvSpPr/>
          <p:nvPr/>
        </p:nvSpPr>
        <p:spPr>
          <a:xfrm>
            <a:off x="6400800" y="2011680"/>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4" name="Shape 12"/>
          <p:cNvSpPr/>
          <p:nvPr/>
        </p:nvSpPr>
        <p:spPr>
          <a:xfrm>
            <a:off x="6400800" y="2011680"/>
            <a:ext cx="64008" cy="1417320"/>
          </a:xfrm>
          <a:prstGeom prst="rect">
            <a:avLst/>
          </a:prstGeom>
          <a:solidFill>
            <a:srgbClr val="1768C1"/>
          </a:solidFill>
          <a:ln w="12700">
            <a:solidFill>
              <a:srgbClr val="1768C1"/>
            </a:solidFill>
            <a:prstDash val="solid"/>
          </a:ln>
        </p:spPr>
        <p:txBody>
          <a:bodyPr/>
          <a:p/>
        </p:txBody>
      </p:sp>
      <p:sp>
        <p:nvSpPr>
          <p:cNvPr id="15" name="Text 13"/>
          <p:cNvSpPr/>
          <p:nvPr/>
        </p:nvSpPr>
        <p:spPr>
          <a:xfrm>
            <a:off x="6629400" y="2176272"/>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Peek vs receive</a:t>
            </a:r>
            <a:endParaRPr lang="en-US" sz="1900" dirty="0"/>
          </a:p>
        </p:txBody>
      </p:sp>
      <p:sp>
        <p:nvSpPr>
          <p:cNvPr id="16" name="Text 14"/>
          <p:cNvSpPr/>
          <p:nvPr/>
        </p:nvSpPr>
        <p:spPr>
          <a:xfrm>
            <a:off x="6629400" y="2670048"/>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Peek inspects without removing. Receive obtains a message for processing.</a:t>
            </a:r>
            <a:endParaRPr lang="en-US" sz="1500" dirty="0"/>
          </a:p>
        </p:txBody>
      </p:sp>
      <p:sp>
        <p:nvSpPr>
          <p:cNvPr id="17" name="Shape 15"/>
          <p:cNvSpPr/>
          <p:nvPr/>
        </p:nvSpPr>
        <p:spPr>
          <a:xfrm>
            <a:off x="731520" y="36301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8" name="Shape 16"/>
          <p:cNvSpPr/>
          <p:nvPr/>
        </p:nvSpPr>
        <p:spPr>
          <a:xfrm>
            <a:off x="731520" y="3630168"/>
            <a:ext cx="64008" cy="1417320"/>
          </a:xfrm>
          <a:prstGeom prst="rect">
            <a:avLst/>
          </a:prstGeom>
          <a:solidFill>
            <a:srgbClr val="1768C1"/>
          </a:solidFill>
          <a:ln w="12700">
            <a:solidFill>
              <a:srgbClr val="1768C1"/>
            </a:solidFill>
            <a:prstDash val="solid"/>
          </a:ln>
        </p:spPr>
        <p:txBody>
          <a:bodyPr/>
          <a:p/>
        </p:txBody>
      </p:sp>
      <p:sp>
        <p:nvSpPr>
          <p:cNvPr id="19" name="Text 17"/>
          <p:cNvSpPr/>
          <p:nvPr/>
        </p:nvSpPr>
        <p:spPr>
          <a:xfrm>
            <a:off x="960120" y="37947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Complete / abandon</a:t>
            </a:r>
            <a:endParaRPr lang="en-US" sz="1900" dirty="0"/>
          </a:p>
        </p:txBody>
      </p:sp>
      <p:sp>
        <p:nvSpPr>
          <p:cNvPr id="20" name="Text 18"/>
          <p:cNvSpPr/>
          <p:nvPr/>
        </p:nvSpPr>
        <p:spPr>
          <a:xfrm>
            <a:off x="960120" y="42885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In PeekLock, complete after success; abandon or let lock expire to retry.</a:t>
            </a:r>
            <a:endParaRPr lang="en-US" sz="1500" dirty="0"/>
          </a:p>
        </p:txBody>
      </p:sp>
      <p:sp>
        <p:nvSpPr>
          <p:cNvPr id="21" name="Shape 19"/>
          <p:cNvSpPr/>
          <p:nvPr/>
        </p:nvSpPr>
        <p:spPr>
          <a:xfrm>
            <a:off x="6400800" y="36301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22" name="Shape 20"/>
          <p:cNvSpPr/>
          <p:nvPr/>
        </p:nvSpPr>
        <p:spPr>
          <a:xfrm>
            <a:off x="6400800" y="3630168"/>
            <a:ext cx="64008" cy="1417320"/>
          </a:xfrm>
          <a:prstGeom prst="rect">
            <a:avLst/>
          </a:prstGeom>
          <a:solidFill>
            <a:srgbClr val="198D76"/>
          </a:solidFill>
          <a:ln w="12700">
            <a:solidFill>
              <a:srgbClr val="198D76"/>
            </a:solidFill>
            <a:prstDash val="solid"/>
          </a:ln>
        </p:spPr>
        <p:txBody>
          <a:bodyPr/>
          <a:p/>
        </p:txBody>
      </p:sp>
      <p:sp>
        <p:nvSpPr>
          <p:cNvPr id="23" name="Text 21"/>
          <p:cNvSpPr/>
          <p:nvPr/>
        </p:nvSpPr>
        <p:spPr>
          <a:xfrm>
            <a:off x="6629400" y="37947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Idempotency</a:t>
            </a:r>
            <a:endParaRPr lang="en-US" sz="1900" dirty="0"/>
          </a:p>
        </p:txBody>
      </p:sp>
      <p:sp>
        <p:nvSpPr>
          <p:cNvPr id="24" name="Text 22"/>
          <p:cNvSpPr/>
          <p:nvPr/>
        </p:nvSpPr>
        <p:spPr>
          <a:xfrm>
            <a:off x="6629400" y="42885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Use message/job IDs so duplicate delivery does not duplicate business actions.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PORTAL WALKTHROUGH</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Create a Service Bus namespace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Instructor-led Azure Portal demo • use only an approved subscription</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16</a:t>
            </a:r>
            <a:endParaRPr lang="en-US" sz="1000" dirty="0"/>
          </a:p>
        </p:txBody>
      </p:sp>
      <p:sp>
        <p:nvSpPr>
          <p:cNvPr id="9" name="Shape 7"/>
          <p:cNvSpPr/>
          <p:nvPr/>
        </p:nvSpPr>
        <p:spPr>
          <a:xfrm>
            <a:off x="868680" y="2011680"/>
            <a:ext cx="91440" cy="91440"/>
          </a:xfrm>
          <a:prstGeom prst="roundRect">
            <a:avLst>
              <a:gd name="adj" fmla="val 160000"/>
            </a:avLst>
          </a:prstGeom>
          <a:solidFill>
            <a:srgbClr val="2EB8D1"/>
          </a:solidFill>
          <a:ln w="12700">
            <a:solidFill>
              <a:srgbClr val="2EB8D1"/>
            </a:solidFill>
            <a:prstDash val="solid"/>
          </a:ln>
        </p:spPr>
        <p:txBody>
          <a:bodyPr/>
          <a:p/>
        </p:txBody>
      </p:sp>
      <p:sp>
        <p:nvSpPr>
          <p:cNvPr id="10" name="Text 8"/>
          <p:cNvSpPr/>
          <p:nvPr/>
        </p:nvSpPr>
        <p:spPr>
          <a:xfrm>
            <a:off x="1106424" y="1920240"/>
            <a:ext cx="10277856" cy="612648"/>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Search for Service Bus → Create.</a:t>
            </a:r>
            <a:endParaRPr lang="en-US" sz="1800" dirty="0"/>
          </a:p>
        </p:txBody>
      </p:sp>
      <p:sp>
        <p:nvSpPr>
          <p:cNvPr id="11" name="Shape 9"/>
          <p:cNvSpPr/>
          <p:nvPr/>
        </p:nvSpPr>
        <p:spPr>
          <a:xfrm>
            <a:off x="868680" y="2688336"/>
            <a:ext cx="91440" cy="91440"/>
          </a:xfrm>
          <a:prstGeom prst="roundRect">
            <a:avLst>
              <a:gd name="adj" fmla="val 160000"/>
            </a:avLst>
          </a:prstGeom>
          <a:solidFill>
            <a:srgbClr val="2EB8D1"/>
          </a:solidFill>
          <a:ln w="12700">
            <a:solidFill>
              <a:srgbClr val="2EB8D1"/>
            </a:solidFill>
            <a:prstDash val="solid"/>
          </a:ln>
        </p:spPr>
        <p:txBody>
          <a:bodyPr/>
          <a:p/>
        </p:txBody>
      </p:sp>
      <p:sp>
        <p:nvSpPr>
          <p:cNvPr id="12" name="Text 10"/>
          <p:cNvSpPr/>
          <p:nvPr/>
        </p:nvSpPr>
        <p:spPr>
          <a:xfrm>
            <a:off x="1106424" y="2596896"/>
            <a:ext cx="10277856" cy="612648"/>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Select subscription, approved resource group and region.</a:t>
            </a:r>
            <a:endParaRPr lang="en-US" sz="1800" dirty="0"/>
          </a:p>
        </p:txBody>
      </p:sp>
      <p:sp>
        <p:nvSpPr>
          <p:cNvPr id="13" name="Shape 11"/>
          <p:cNvSpPr/>
          <p:nvPr/>
        </p:nvSpPr>
        <p:spPr>
          <a:xfrm>
            <a:off x="868680" y="3364992"/>
            <a:ext cx="91440" cy="91440"/>
          </a:xfrm>
          <a:prstGeom prst="roundRect">
            <a:avLst>
              <a:gd name="adj" fmla="val 160000"/>
            </a:avLst>
          </a:prstGeom>
          <a:solidFill>
            <a:srgbClr val="2EB8D1"/>
          </a:solidFill>
          <a:ln w="12700">
            <a:solidFill>
              <a:srgbClr val="2EB8D1"/>
            </a:solidFill>
            <a:prstDash val="solid"/>
          </a:ln>
        </p:spPr>
        <p:txBody>
          <a:bodyPr/>
          <a:p/>
        </p:txBody>
      </p:sp>
      <p:sp>
        <p:nvSpPr>
          <p:cNvPr id="14" name="Text 12"/>
          <p:cNvSpPr/>
          <p:nvPr/>
        </p:nvSpPr>
        <p:spPr>
          <a:xfrm>
            <a:off x="1106424" y="3273552"/>
            <a:ext cx="10277856" cy="612648"/>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Enter a globally unique namespace name.</a:t>
            </a:r>
            <a:endParaRPr lang="en-US" sz="1800" dirty="0"/>
          </a:p>
        </p:txBody>
      </p:sp>
      <p:sp>
        <p:nvSpPr>
          <p:cNvPr id="15" name="Shape 13"/>
          <p:cNvSpPr/>
          <p:nvPr/>
        </p:nvSpPr>
        <p:spPr>
          <a:xfrm>
            <a:off x="868680" y="4041648"/>
            <a:ext cx="91440" cy="91440"/>
          </a:xfrm>
          <a:prstGeom prst="roundRect">
            <a:avLst>
              <a:gd name="adj" fmla="val 160000"/>
            </a:avLst>
          </a:prstGeom>
          <a:solidFill>
            <a:srgbClr val="2EB8D1"/>
          </a:solidFill>
          <a:ln w="12700">
            <a:solidFill>
              <a:srgbClr val="2EB8D1"/>
            </a:solidFill>
            <a:prstDash val="solid"/>
          </a:ln>
        </p:spPr>
        <p:txBody>
          <a:bodyPr/>
          <a:p/>
        </p:txBody>
      </p:sp>
      <p:sp>
        <p:nvSpPr>
          <p:cNvPr id="16" name="Text 14"/>
          <p:cNvSpPr/>
          <p:nvPr/>
        </p:nvSpPr>
        <p:spPr>
          <a:xfrm>
            <a:off x="1106424" y="3950208"/>
            <a:ext cx="10277856" cy="612648"/>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Choose the approved pricing tier; check features and cost.</a:t>
            </a:r>
            <a:endParaRPr lang="en-US" sz="1800" dirty="0"/>
          </a:p>
        </p:txBody>
      </p:sp>
      <p:sp>
        <p:nvSpPr>
          <p:cNvPr id="17" name="Shape 15"/>
          <p:cNvSpPr/>
          <p:nvPr/>
        </p:nvSpPr>
        <p:spPr>
          <a:xfrm>
            <a:off x="868680" y="4718304"/>
            <a:ext cx="91440" cy="91440"/>
          </a:xfrm>
          <a:prstGeom prst="roundRect">
            <a:avLst>
              <a:gd name="adj" fmla="val 160000"/>
            </a:avLst>
          </a:prstGeom>
          <a:solidFill>
            <a:srgbClr val="2EB8D1"/>
          </a:solidFill>
          <a:ln w="12700">
            <a:solidFill>
              <a:srgbClr val="2EB8D1"/>
            </a:solidFill>
            <a:prstDash val="solid"/>
          </a:ln>
        </p:spPr>
        <p:txBody>
          <a:bodyPr/>
          <a:p/>
        </p:txBody>
      </p:sp>
      <p:sp>
        <p:nvSpPr>
          <p:cNvPr id="18" name="Text 16"/>
          <p:cNvSpPr/>
          <p:nvPr/>
        </p:nvSpPr>
        <p:spPr>
          <a:xfrm>
            <a:off x="1106424" y="4626864"/>
            <a:ext cx="10277856" cy="612648"/>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Review + create, then open the namespace.</a:t>
            </a:r>
            <a:endParaRPr lang="en-US" sz="1800" dirty="0"/>
          </a:p>
        </p:txBody>
      </p:sp>
      <p:sp>
        <p:nvSpPr>
          <p:cNvPr id="19" name="Shape 17"/>
          <p:cNvSpPr/>
          <p:nvPr/>
        </p:nvSpPr>
        <p:spPr>
          <a:xfrm>
            <a:off x="914400" y="5623560"/>
            <a:ext cx="10149840" cy="438912"/>
          </a:xfrm>
          <a:prstGeom prst="roundRect">
            <a:avLst>
              <a:gd name="adj" fmla="val 33333"/>
            </a:avLst>
          </a:prstGeom>
          <a:solidFill>
            <a:srgbClr val="FFF4E3"/>
          </a:solidFill>
          <a:ln w="12700">
            <a:solidFill>
              <a:srgbClr val="FFF4E3"/>
            </a:solidFill>
            <a:prstDash val="solid"/>
          </a:ln>
        </p:spPr>
        <p:txBody>
          <a:bodyPr/>
          <a:p/>
        </p:txBody>
      </p:sp>
      <p:sp>
        <p:nvSpPr>
          <p:cNvPr id="20" name="Text 18"/>
          <p:cNvSpPr/>
          <p:nvPr/>
        </p:nvSpPr>
        <p:spPr>
          <a:xfrm>
            <a:off x="1097280" y="5687568"/>
            <a:ext cx="9875520" cy="283464"/>
          </a:xfrm>
          <a:prstGeom prst="rect">
            <a:avLst/>
          </a:prstGeom>
          <a:noFill/>
          <a:ln/>
        </p:spPr>
        <p:txBody>
          <a:bodyPr wrap="square" lIns="0" tIns="0" rIns="0" bIns="0" rtlCol="0" anchor="ctr"/>
          <a:lstStyle/>
          <a:p>
            <a:pPr indent="0" marL="0">
              <a:buNone/>
            </a:pPr>
            <a:r>
              <a:rPr lang="en-US" sz="1400" b="1" dirty="0">
                <a:solidFill>
                  <a:srgbClr val="1E3047"/>
                </a:solidFill>
                <a:latin typeface="Aptos" pitchFamily="34" charset="0"/>
                <a:ea typeface="Aptos" pitchFamily="34" charset="-122"/>
                <a:cs typeface="Aptos" pitchFamily="34" charset="-120"/>
              </a:rPr>
              <a:t>Permissions or policy blocked? Stop and ask the resource owner—do not bypass controls.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PORTAL WALKTHROUGH</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Create a queue and configure it</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Namespace → Queues → + Queue</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17</a:t>
            </a:r>
            <a:endParaRPr lang="en-US" sz="1000" dirty="0"/>
          </a:p>
        </p:txBody>
      </p:sp>
      <p:sp>
        <p:nvSpPr>
          <p:cNvPr id="9" name="Shape 7"/>
          <p:cNvSpPr/>
          <p:nvPr/>
        </p:nvSpPr>
        <p:spPr>
          <a:xfrm>
            <a:off x="731520" y="20299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0" name="Shape 8"/>
          <p:cNvSpPr/>
          <p:nvPr/>
        </p:nvSpPr>
        <p:spPr>
          <a:xfrm>
            <a:off x="731520" y="2029968"/>
            <a:ext cx="64008" cy="1417320"/>
          </a:xfrm>
          <a:prstGeom prst="rect">
            <a:avLst/>
          </a:prstGeom>
          <a:solidFill>
            <a:srgbClr val="1768C1"/>
          </a:solidFill>
          <a:ln w="12700">
            <a:solidFill>
              <a:srgbClr val="1768C1"/>
            </a:solidFill>
            <a:prstDash val="solid"/>
          </a:ln>
        </p:spPr>
        <p:txBody>
          <a:bodyPr/>
          <a:p/>
        </p:txBody>
      </p:sp>
      <p:sp>
        <p:nvSpPr>
          <p:cNvPr id="11" name="Text 9"/>
          <p:cNvSpPr/>
          <p:nvPr/>
        </p:nvSpPr>
        <p:spPr>
          <a:xfrm>
            <a:off x="960120" y="21945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1  Name</a:t>
            </a:r>
            <a:endParaRPr lang="en-US" sz="1900" dirty="0"/>
          </a:p>
        </p:txBody>
      </p:sp>
      <p:sp>
        <p:nvSpPr>
          <p:cNvPr id="12" name="Text 10"/>
          <p:cNvSpPr/>
          <p:nvPr/>
        </p:nvSpPr>
        <p:spPr>
          <a:xfrm>
            <a:off x="960120" y="26883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Use an approved disposable training queue.</a:t>
            </a:r>
            <a:endParaRPr lang="en-US" sz="1500" dirty="0"/>
          </a:p>
        </p:txBody>
      </p:sp>
      <p:sp>
        <p:nvSpPr>
          <p:cNvPr id="13" name="Shape 11"/>
          <p:cNvSpPr/>
          <p:nvPr/>
        </p:nvSpPr>
        <p:spPr>
          <a:xfrm>
            <a:off x="6400800" y="20299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4" name="Shape 12"/>
          <p:cNvSpPr/>
          <p:nvPr/>
        </p:nvSpPr>
        <p:spPr>
          <a:xfrm>
            <a:off x="6400800" y="2029968"/>
            <a:ext cx="64008" cy="1417320"/>
          </a:xfrm>
          <a:prstGeom prst="rect">
            <a:avLst/>
          </a:prstGeom>
          <a:solidFill>
            <a:srgbClr val="1768C1"/>
          </a:solidFill>
          <a:ln w="12700">
            <a:solidFill>
              <a:srgbClr val="1768C1"/>
            </a:solidFill>
            <a:prstDash val="solid"/>
          </a:ln>
        </p:spPr>
        <p:txBody>
          <a:bodyPr/>
          <a:p/>
        </p:txBody>
      </p:sp>
      <p:sp>
        <p:nvSpPr>
          <p:cNvPr id="15" name="Text 13"/>
          <p:cNvSpPr/>
          <p:nvPr/>
        </p:nvSpPr>
        <p:spPr>
          <a:xfrm>
            <a:off x="6629400" y="21945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2  Settings</a:t>
            </a:r>
            <a:endParaRPr lang="en-US" sz="1900" dirty="0"/>
          </a:p>
        </p:txBody>
      </p:sp>
      <p:sp>
        <p:nvSpPr>
          <p:cNvPr id="16" name="Text 14"/>
          <p:cNvSpPr/>
          <p:nvPr/>
        </p:nvSpPr>
        <p:spPr>
          <a:xfrm>
            <a:off x="6629400" y="26883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Review max size, TTL and lock duration. Duplicate detection requires a supported tier.</a:t>
            </a:r>
            <a:endParaRPr lang="en-US" sz="1500" dirty="0"/>
          </a:p>
        </p:txBody>
      </p:sp>
      <p:sp>
        <p:nvSpPr>
          <p:cNvPr id="17" name="Shape 15"/>
          <p:cNvSpPr/>
          <p:nvPr/>
        </p:nvSpPr>
        <p:spPr>
          <a:xfrm>
            <a:off x="731520" y="3648456"/>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8" name="Shape 16"/>
          <p:cNvSpPr/>
          <p:nvPr/>
        </p:nvSpPr>
        <p:spPr>
          <a:xfrm>
            <a:off x="731520" y="3648456"/>
            <a:ext cx="64008" cy="1417320"/>
          </a:xfrm>
          <a:prstGeom prst="rect">
            <a:avLst/>
          </a:prstGeom>
          <a:solidFill>
            <a:srgbClr val="1768C1"/>
          </a:solidFill>
          <a:ln w="12700">
            <a:solidFill>
              <a:srgbClr val="1768C1"/>
            </a:solidFill>
            <a:prstDash val="solid"/>
          </a:ln>
        </p:spPr>
        <p:txBody>
          <a:bodyPr/>
          <a:p/>
        </p:txBody>
      </p:sp>
      <p:sp>
        <p:nvSpPr>
          <p:cNvPr id="19" name="Text 17"/>
          <p:cNvSpPr/>
          <p:nvPr/>
        </p:nvSpPr>
        <p:spPr>
          <a:xfrm>
            <a:off x="960120" y="3813048"/>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3  Access</a:t>
            </a:r>
            <a:endParaRPr lang="en-US" sz="1900" dirty="0"/>
          </a:p>
        </p:txBody>
      </p:sp>
      <p:sp>
        <p:nvSpPr>
          <p:cNvPr id="20" name="Text 18"/>
          <p:cNvSpPr/>
          <p:nvPr/>
        </p:nvSpPr>
        <p:spPr>
          <a:xfrm>
            <a:off x="960120" y="4306824"/>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Use approved Microsoft Entra data-plane RBAC where configured.</a:t>
            </a:r>
            <a:endParaRPr lang="en-US" sz="1500" dirty="0"/>
          </a:p>
        </p:txBody>
      </p:sp>
      <p:sp>
        <p:nvSpPr>
          <p:cNvPr id="21" name="Shape 19"/>
          <p:cNvSpPr/>
          <p:nvPr/>
        </p:nvSpPr>
        <p:spPr>
          <a:xfrm>
            <a:off x="6400800" y="3648456"/>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22" name="Shape 20"/>
          <p:cNvSpPr/>
          <p:nvPr/>
        </p:nvSpPr>
        <p:spPr>
          <a:xfrm>
            <a:off x="6400800" y="3648456"/>
            <a:ext cx="64008" cy="1417320"/>
          </a:xfrm>
          <a:prstGeom prst="rect">
            <a:avLst/>
          </a:prstGeom>
          <a:solidFill>
            <a:srgbClr val="1768C1"/>
          </a:solidFill>
          <a:ln w="12700">
            <a:solidFill>
              <a:srgbClr val="1768C1"/>
            </a:solidFill>
            <a:prstDash val="solid"/>
          </a:ln>
        </p:spPr>
        <p:txBody>
          <a:bodyPr/>
          <a:p/>
        </p:txBody>
      </p:sp>
      <p:sp>
        <p:nvSpPr>
          <p:cNvPr id="23" name="Text 21"/>
          <p:cNvSpPr/>
          <p:nvPr/>
        </p:nvSpPr>
        <p:spPr>
          <a:xfrm>
            <a:off x="6629400" y="3813048"/>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4  Verify</a:t>
            </a:r>
            <a:endParaRPr lang="en-US" sz="1900" dirty="0"/>
          </a:p>
        </p:txBody>
      </p:sp>
      <p:sp>
        <p:nvSpPr>
          <p:cNvPr id="24" name="Text 22"/>
          <p:cNvSpPr/>
          <p:nvPr/>
        </p:nvSpPr>
        <p:spPr>
          <a:xfrm>
            <a:off x="6629400" y="4306824"/>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Open queue overview and confirm it is empty and isolated.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LIVE DEMO</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Send → Peek → Receive → Complete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Service Bus Explorer • dedicated queue with no competing consumer</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18</a:t>
            </a:r>
            <a:endParaRPr lang="en-US" sz="1000" dirty="0"/>
          </a:p>
        </p:txBody>
      </p:sp>
      <p:sp>
        <p:nvSpPr>
          <p:cNvPr id="9" name="Shape 7"/>
          <p:cNvSpPr/>
          <p:nvPr/>
        </p:nvSpPr>
        <p:spPr>
          <a:xfrm>
            <a:off x="640080" y="2468880"/>
            <a:ext cx="2484882" cy="1188720"/>
          </a:xfrm>
          <a:prstGeom prst="roundRect">
            <a:avLst>
              <a:gd name="adj" fmla="val 12308"/>
            </a:avLst>
          </a:prstGeom>
          <a:solidFill>
            <a:srgbClr val="EEF5FC"/>
          </a:solidFill>
          <a:ln w="12700">
            <a:solidFill>
              <a:srgbClr val="EEF5FC"/>
            </a:solidFill>
            <a:prstDash val="solid"/>
          </a:ln>
        </p:spPr>
        <p:txBody>
          <a:bodyPr/>
          <a:p/>
        </p:txBody>
      </p:sp>
      <p:sp>
        <p:nvSpPr>
          <p:cNvPr id="10" name="Text 8"/>
          <p:cNvSpPr/>
          <p:nvPr/>
        </p:nvSpPr>
        <p:spPr>
          <a:xfrm>
            <a:off x="777240" y="267004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Send</a:t>
            </a:r>
            <a:endParaRPr lang="en-US" sz="1700" dirty="0"/>
          </a:p>
        </p:txBody>
      </p:sp>
      <p:sp>
        <p:nvSpPr>
          <p:cNvPr id="11" name="Text 9"/>
          <p:cNvSpPr/>
          <p:nvPr/>
        </p:nvSpPr>
        <p:spPr>
          <a:xfrm>
            <a:off x="768096" y="308152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Add fictional JSON</a:t>
            </a:r>
            <a:endParaRPr lang="en-US" sz="1300" dirty="0"/>
          </a:p>
        </p:txBody>
      </p:sp>
      <p:sp>
        <p:nvSpPr>
          <p:cNvPr id="12" name="Text 10"/>
          <p:cNvSpPr/>
          <p:nvPr/>
        </p:nvSpPr>
        <p:spPr>
          <a:xfrm>
            <a:off x="3161538"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3" name="Shape 11"/>
          <p:cNvSpPr/>
          <p:nvPr/>
        </p:nvSpPr>
        <p:spPr>
          <a:xfrm>
            <a:off x="3454146" y="2468880"/>
            <a:ext cx="2484882" cy="1188720"/>
          </a:xfrm>
          <a:prstGeom prst="roundRect">
            <a:avLst>
              <a:gd name="adj" fmla="val 12308"/>
            </a:avLst>
          </a:prstGeom>
          <a:solidFill>
            <a:srgbClr val="EAF8F8"/>
          </a:solidFill>
          <a:ln w="12700">
            <a:solidFill>
              <a:srgbClr val="EAF8F8"/>
            </a:solidFill>
            <a:prstDash val="solid"/>
          </a:ln>
        </p:spPr>
        <p:txBody>
          <a:bodyPr/>
          <a:p/>
        </p:txBody>
      </p:sp>
      <p:sp>
        <p:nvSpPr>
          <p:cNvPr id="14" name="Text 12"/>
          <p:cNvSpPr/>
          <p:nvPr/>
        </p:nvSpPr>
        <p:spPr>
          <a:xfrm>
            <a:off x="3591306" y="267004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Peek</a:t>
            </a:r>
            <a:endParaRPr lang="en-US" sz="1700" dirty="0"/>
          </a:p>
        </p:txBody>
      </p:sp>
      <p:sp>
        <p:nvSpPr>
          <p:cNvPr id="15" name="Text 13"/>
          <p:cNvSpPr/>
          <p:nvPr/>
        </p:nvSpPr>
        <p:spPr>
          <a:xfrm>
            <a:off x="3582162" y="308152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Inspect message</a:t>
            </a:r>
            <a:endParaRPr lang="en-US" sz="1300" dirty="0"/>
          </a:p>
        </p:txBody>
      </p:sp>
      <p:sp>
        <p:nvSpPr>
          <p:cNvPr id="16" name="Text 14"/>
          <p:cNvSpPr/>
          <p:nvPr/>
        </p:nvSpPr>
        <p:spPr>
          <a:xfrm>
            <a:off x="5975604"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7" name="Shape 15"/>
          <p:cNvSpPr/>
          <p:nvPr/>
        </p:nvSpPr>
        <p:spPr>
          <a:xfrm>
            <a:off x="6268212" y="2468880"/>
            <a:ext cx="2484882" cy="1188720"/>
          </a:xfrm>
          <a:prstGeom prst="roundRect">
            <a:avLst>
              <a:gd name="adj" fmla="val 12308"/>
            </a:avLst>
          </a:prstGeom>
          <a:solidFill>
            <a:srgbClr val="EEF5FC"/>
          </a:solidFill>
          <a:ln w="12700">
            <a:solidFill>
              <a:srgbClr val="EEF5FC"/>
            </a:solidFill>
            <a:prstDash val="solid"/>
          </a:ln>
        </p:spPr>
        <p:txBody>
          <a:bodyPr/>
          <a:p/>
        </p:txBody>
      </p:sp>
      <p:sp>
        <p:nvSpPr>
          <p:cNvPr id="18" name="Text 16"/>
          <p:cNvSpPr/>
          <p:nvPr/>
        </p:nvSpPr>
        <p:spPr>
          <a:xfrm>
            <a:off x="6405372" y="267004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Receive</a:t>
            </a:r>
            <a:endParaRPr lang="en-US" sz="1700" dirty="0"/>
          </a:p>
        </p:txBody>
      </p:sp>
      <p:sp>
        <p:nvSpPr>
          <p:cNvPr id="19" name="Text 17"/>
          <p:cNvSpPr/>
          <p:nvPr/>
        </p:nvSpPr>
        <p:spPr>
          <a:xfrm>
            <a:off x="6396228" y="308152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PeekLock mode</a:t>
            </a:r>
            <a:endParaRPr lang="en-US" sz="1300" dirty="0"/>
          </a:p>
        </p:txBody>
      </p:sp>
      <p:sp>
        <p:nvSpPr>
          <p:cNvPr id="20" name="Text 18"/>
          <p:cNvSpPr/>
          <p:nvPr/>
        </p:nvSpPr>
        <p:spPr>
          <a:xfrm>
            <a:off x="8789670"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1" name="Shape 19"/>
          <p:cNvSpPr/>
          <p:nvPr/>
        </p:nvSpPr>
        <p:spPr>
          <a:xfrm>
            <a:off x="9082278" y="2468880"/>
            <a:ext cx="2484882" cy="1188720"/>
          </a:xfrm>
          <a:prstGeom prst="roundRect">
            <a:avLst>
              <a:gd name="adj" fmla="val 12308"/>
            </a:avLst>
          </a:prstGeom>
          <a:solidFill>
            <a:srgbClr val="EAF8F8"/>
          </a:solidFill>
          <a:ln w="12700">
            <a:solidFill>
              <a:srgbClr val="EAF8F8"/>
            </a:solidFill>
            <a:prstDash val="solid"/>
          </a:ln>
        </p:spPr>
        <p:txBody>
          <a:bodyPr/>
          <a:p/>
        </p:txBody>
      </p:sp>
      <p:sp>
        <p:nvSpPr>
          <p:cNvPr id="22" name="Text 20"/>
          <p:cNvSpPr/>
          <p:nvPr/>
        </p:nvSpPr>
        <p:spPr>
          <a:xfrm>
            <a:off x="9219438" y="2670048"/>
            <a:ext cx="2210562"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Complete</a:t>
            </a:r>
            <a:endParaRPr lang="en-US" sz="1700" dirty="0"/>
          </a:p>
        </p:txBody>
      </p:sp>
      <p:sp>
        <p:nvSpPr>
          <p:cNvPr id="23" name="Text 21"/>
          <p:cNvSpPr/>
          <p:nvPr/>
        </p:nvSpPr>
        <p:spPr>
          <a:xfrm>
            <a:off x="9210294" y="3081528"/>
            <a:ext cx="2228850"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Settle after success</a:t>
            </a:r>
            <a:endParaRPr lang="en-US" sz="1300" dirty="0"/>
          </a:p>
        </p:txBody>
      </p:sp>
      <p:sp>
        <p:nvSpPr>
          <p:cNvPr id="24" name="Shape 22"/>
          <p:cNvSpPr/>
          <p:nvPr/>
        </p:nvSpPr>
        <p:spPr>
          <a:xfrm>
            <a:off x="960120" y="4572000"/>
            <a:ext cx="10195560" cy="1005840"/>
          </a:xfrm>
          <a:prstGeom prst="roundRect">
            <a:avLst>
              <a:gd name="adj" fmla="val 14545"/>
            </a:avLst>
          </a:prstGeom>
          <a:solidFill>
            <a:srgbClr val="EAF8F8"/>
          </a:solidFill>
          <a:ln w="12700">
            <a:solidFill>
              <a:srgbClr val="EAF8F8"/>
            </a:solidFill>
            <a:prstDash val="solid"/>
          </a:ln>
        </p:spPr>
        <p:txBody>
          <a:bodyPr/>
          <a:p/>
        </p:txBody>
      </p:sp>
      <p:sp>
        <p:nvSpPr>
          <p:cNvPr id="25" name="Text 23"/>
          <p:cNvSpPr/>
          <p:nvPr/>
        </p:nvSpPr>
        <p:spPr>
          <a:xfrm>
            <a:off x="1280160" y="4809744"/>
            <a:ext cx="9555480" cy="548640"/>
          </a:xfrm>
          <a:prstGeom prst="rect">
            <a:avLst/>
          </a:prstGeom>
          <a:noFill/>
          <a:ln/>
        </p:spPr>
        <p:txBody>
          <a:bodyPr wrap="square" lIns="0" tIns="0" rIns="0" bIns="0" rtlCol="0" anchor="ctr"/>
          <a:lstStyle/>
          <a:p>
            <a:pPr algn="ctr" indent="0" marL="0">
              <a:buNone/>
            </a:pPr>
            <a:r>
              <a:rPr lang="en-US" sz="1800" b="1" dirty="0">
                <a:solidFill>
                  <a:srgbClr val="1E3047"/>
                </a:solidFill>
                <a:latin typeface="Aptos" pitchFamily="34" charset="0"/>
                <a:ea typeface="Aptos" pitchFamily="34" charset="-122"/>
                <a:cs typeface="Aptos" pitchFamily="34" charset="-120"/>
              </a:rPr>
              <a:t>Success criteria: identify your message, explain its state and verify the chosen receive mode.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HANDS-ON LAB</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Your turn: test a message safely</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10–15 minutes • record the evidence, not secrets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19</a:t>
            </a:r>
            <a:endParaRPr lang="en-US" sz="1000" dirty="0"/>
          </a:p>
        </p:txBody>
      </p:sp>
      <p:sp>
        <p:nvSpPr>
          <p:cNvPr id="9" name="Shape 7"/>
          <p:cNvSpPr/>
          <p:nvPr/>
        </p:nvSpPr>
        <p:spPr>
          <a:xfrm>
            <a:off x="868680" y="2011680"/>
            <a:ext cx="91440" cy="91440"/>
          </a:xfrm>
          <a:prstGeom prst="roundRect">
            <a:avLst>
              <a:gd name="adj" fmla="val 160000"/>
            </a:avLst>
          </a:prstGeom>
          <a:solidFill>
            <a:srgbClr val="2EB8D1"/>
          </a:solidFill>
          <a:ln w="12700">
            <a:solidFill>
              <a:srgbClr val="2EB8D1"/>
            </a:solidFill>
            <a:prstDash val="solid"/>
          </a:ln>
        </p:spPr>
        <p:txBody>
          <a:bodyPr/>
          <a:p/>
        </p:txBody>
      </p:sp>
      <p:sp>
        <p:nvSpPr>
          <p:cNvPr id="10" name="Text 8"/>
          <p:cNvSpPr/>
          <p:nvPr/>
        </p:nvSpPr>
        <p:spPr>
          <a:xfrm>
            <a:off x="1106424" y="1920240"/>
            <a:ext cx="10232136" cy="649224"/>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Open your assigned namespace and isolated queue.</a:t>
            </a:r>
            <a:endParaRPr lang="en-US" sz="1800" dirty="0"/>
          </a:p>
        </p:txBody>
      </p:sp>
      <p:sp>
        <p:nvSpPr>
          <p:cNvPr id="11" name="Shape 9"/>
          <p:cNvSpPr/>
          <p:nvPr/>
        </p:nvSpPr>
        <p:spPr>
          <a:xfrm>
            <a:off x="868680" y="2724912"/>
            <a:ext cx="91440" cy="91440"/>
          </a:xfrm>
          <a:prstGeom prst="roundRect">
            <a:avLst>
              <a:gd name="adj" fmla="val 160000"/>
            </a:avLst>
          </a:prstGeom>
          <a:solidFill>
            <a:srgbClr val="2EB8D1"/>
          </a:solidFill>
          <a:ln w="12700">
            <a:solidFill>
              <a:srgbClr val="2EB8D1"/>
            </a:solidFill>
            <a:prstDash val="solid"/>
          </a:ln>
        </p:spPr>
        <p:txBody>
          <a:bodyPr/>
          <a:p/>
        </p:txBody>
      </p:sp>
      <p:sp>
        <p:nvSpPr>
          <p:cNvPr id="12" name="Text 10"/>
          <p:cNvSpPr/>
          <p:nvPr/>
        </p:nvSpPr>
        <p:spPr>
          <a:xfrm>
            <a:off x="1106424" y="2633472"/>
            <a:ext cx="10232136" cy="649224"/>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Send one fictional application reference and note its MessageId.</a:t>
            </a:r>
            <a:endParaRPr lang="en-US" sz="1800" dirty="0"/>
          </a:p>
        </p:txBody>
      </p:sp>
      <p:sp>
        <p:nvSpPr>
          <p:cNvPr id="13" name="Shape 11"/>
          <p:cNvSpPr/>
          <p:nvPr/>
        </p:nvSpPr>
        <p:spPr>
          <a:xfrm>
            <a:off x="868680" y="3438144"/>
            <a:ext cx="91440" cy="91440"/>
          </a:xfrm>
          <a:prstGeom prst="roundRect">
            <a:avLst>
              <a:gd name="adj" fmla="val 160000"/>
            </a:avLst>
          </a:prstGeom>
          <a:solidFill>
            <a:srgbClr val="2EB8D1"/>
          </a:solidFill>
          <a:ln w="12700">
            <a:solidFill>
              <a:srgbClr val="2EB8D1"/>
            </a:solidFill>
            <a:prstDash val="solid"/>
          </a:ln>
        </p:spPr>
        <p:txBody>
          <a:bodyPr/>
          <a:p/>
        </p:txBody>
      </p:sp>
      <p:sp>
        <p:nvSpPr>
          <p:cNvPr id="14" name="Text 12"/>
          <p:cNvSpPr/>
          <p:nvPr/>
        </p:nvSpPr>
        <p:spPr>
          <a:xfrm>
            <a:off x="1106424" y="3346704"/>
            <a:ext cx="10232136" cy="649224"/>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Peek and locate the message without removing it.</a:t>
            </a:r>
            <a:endParaRPr lang="en-US" sz="1800" dirty="0"/>
          </a:p>
        </p:txBody>
      </p:sp>
      <p:sp>
        <p:nvSpPr>
          <p:cNvPr id="15" name="Shape 13"/>
          <p:cNvSpPr/>
          <p:nvPr/>
        </p:nvSpPr>
        <p:spPr>
          <a:xfrm>
            <a:off x="868680" y="4151376"/>
            <a:ext cx="91440" cy="91440"/>
          </a:xfrm>
          <a:prstGeom prst="roundRect">
            <a:avLst>
              <a:gd name="adj" fmla="val 160000"/>
            </a:avLst>
          </a:prstGeom>
          <a:solidFill>
            <a:srgbClr val="2EB8D1"/>
          </a:solidFill>
          <a:ln w="12700">
            <a:solidFill>
              <a:srgbClr val="2EB8D1"/>
            </a:solidFill>
            <a:prstDash val="solid"/>
          </a:ln>
        </p:spPr>
        <p:txBody>
          <a:bodyPr/>
          <a:p/>
        </p:txBody>
      </p:sp>
      <p:sp>
        <p:nvSpPr>
          <p:cNvPr id="16" name="Text 14"/>
          <p:cNvSpPr/>
          <p:nvPr/>
        </p:nvSpPr>
        <p:spPr>
          <a:xfrm>
            <a:off x="1106424" y="4059936"/>
            <a:ext cx="10232136" cy="649224"/>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Receive using the approved mode and settle your own message.</a:t>
            </a:r>
            <a:endParaRPr lang="en-US" sz="1800" dirty="0"/>
          </a:p>
        </p:txBody>
      </p:sp>
      <p:sp>
        <p:nvSpPr>
          <p:cNvPr id="17" name="Shape 15"/>
          <p:cNvSpPr/>
          <p:nvPr/>
        </p:nvSpPr>
        <p:spPr>
          <a:xfrm>
            <a:off x="868680" y="4864608"/>
            <a:ext cx="91440" cy="91440"/>
          </a:xfrm>
          <a:prstGeom prst="roundRect">
            <a:avLst>
              <a:gd name="adj" fmla="val 160000"/>
            </a:avLst>
          </a:prstGeom>
          <a:solidFill>
            <a:srgbClr val="2EB8D1"/>
          </a:solidFill>
          <a:ln w="12700">
            <a:solidFill>
              <a:srgbClr val="2EB8D1"/>
            </a:solidFill>
            <a:prstDash val="solid"/>
          </a:ln>
        </p:spPr>
        <p:txBody>
          <a:bodyPr/>
          <a:p/>
        </p:txBody>
      </p:sp>
      <p:sp>
        <p:nvSpPr>
          <p:cNvPr id="18" name="Text 16"/>
          <p:cNvSpPr/>
          <p:nvPr/>
        </p:nvSpPr>
        <p:spPr>
          <a:xfrm>
            <a:off x="1106424" y="4773168"/>
            <a:ext cx="10232136" cy="649224"/>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Explain why sending does not prove processing succeeded.</a:t>
            </a:r>
            <a:endParaRPr lang="en-US" sz="18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DOCUMENT TRACKER | WORKING AZURE DEMO</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Two versions: do not confuse the demos</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Use fictional UTF-8 text only; neither version makes financial decisions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20</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Original local starter</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In-memory store and worker. Port 5193. Data is not durable across restarts.</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Separate Azure version</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Local Razor UI on 5293; real SQL, Service Bus and hosted .NET 10 Functions.</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What Completed means</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The sample passed deterministic format checks. No OCR, AI or identity verification.</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What stays local</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The website has no sign-in and is loopback-only. Do not publish it unchanged.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DOCUMENT TRACKER | WORKING AZURE DEMO</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Deployed demo: SQL outbox → queue → Function</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The website accepts work; a later SQL update records the processing outcome</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21</a:t>
            </a:r>
            <a:endParaRPr lang="en-US" sz="1000" dirty="0"/>
          </a:p>
        </p:txBody>
      </p:sp>
      <p:sp>
        <p:nvSpPr>
          <p:cNvPr id="9" name="Rounded Rectangle 8"/>
          <p:cNvSpPr/>
          <p:nvPr/>
        </p:nvSpPr>
        <p:spPr>
          <a:xfrm>
            <a:off x="731520" y="2240280"/>
            <a:ext cx="3337560" cy="114300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3063240" cy="320040"/>
          </a:xfrm>
          <a:prstGeom prst="rect">
            <a:avLst/>
          </a:prstGeom>
          <a:noFill/>
        </p:spPr>
        <p:txBody>
          <a:bodyPr wrap="square" lIns="27432" rIns="27432" tIns="18288" bIns="18288">
            <a:spAutoFit/>
          </a:bodyPr>
          <a:lstStyle/>
          <a:p>
            <a:pPr>
              <a:spcAft>
                <a:spcPts val="700"/>
              </a:spcAft>
              <a:defRPr sz="2000" b="1">
                <a:solidFill>
                  <a:srgbClr val="101D35"/>
                </a:solidFill>
                <a:latin typeface="Aptos"/>
              </a:defRPr>
            </a:pPr>
            <a:r>
              <a:t>1  Local website</a:t>
            </a:r>
          </a:p>
        </p:txBody>
      </p:sp>
      <p:sp>
        <p:nvSpPr>
          <p:cNvPr id="11" name="TextBox 10"/>
          <p:cNvSpPr txBox="1"/>
          <p:nvPr/>
        </p:nvSpPr>
        <p:spPr>
          <a:xfrm>
            <a:off x="868680" y="2743200"/>
            <a:ext cx="3063240" cy="5943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Upload .txt</a:t>
            </a:r>
          </a:p>
          <a:p>
            <a:pPr>
              <a:spcAft>
                <a:spcPts val="700"/>
              </a:spcAft>
              <a:defRPr sz="1600" b="0">
                <a:solidFill>
                  <a:srgbClr val="1E3047"/>
                </a:solidFill>
                <a:latin typeface="Aptos"/>
              </a:defRPr>
            </a:pPr>
            <a:r>
              <a:t>Port 5293</a:t>
            </a:r>
          </a:p>
        </p:txBody>
      </p:sp>
      <p:sp>
        <p:nvSpPr>
          <p:cNvPr id="12" name="Rounded Rectangle 11"/>
          <p:cNvSpPr/>
          <p:nvPr/>
        </p:nvSpPr>
        <p:spPr>
          <a:xfrm>
            <a:off x="4389120" y="2240280"/>
            <a:ext cx="3337560" cy="114300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331720"/>
            <a:ext cx="3063240" cy="320040"/>
          </a:xfrm>
          <a:prstGeom prst="rect">
            <a:avLst/>
          </a:prstGeom>
          <a:noFill/>
        </p:spPr>
        <p:txBody>
          <a:bodyPr wrap="square" lIns="27432" rIns="27432" tIns="18288" bIns="18288">
            <a:spAutoFit/>
          </a:bodyPr>
          <a:lstStyle/>
          <a:p>
            <a:pPr>
              <a:spcAft>
                <a:spcPts val="700"/>
              </a:spcAft>
              <a:defRPr sz="2000" b="1">
                <a:solidFill>
                  <a:srgbClr val="101D35"/>
                </a:solidFill>
                <a:latin typeface="Aptos"/>
              </a:defRPr>
            </a:pPr>
            <a:r>
              <a:t>2  Azure SQL</a:t>
            </a:r>
          </a:p>
        </p:txBody>
      </p:sp>
      <p:sp>
        <p:nvSpPr>
          <p:cNvPr id="14" name="TextBox 13"/>
          <p:cNvSpPr txBox="1"/>
          <p:nvPr/>
        </p:nvSpPr>
        <p:spPr>
          <a:xfrm>
            <a:off x="4526280" y="2743200"/>
            <a:ext cx="3063240" cy="5943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Document + outbox</a:t>
            </a:r>
          </a:p>
          <a:p>
            <a:pPr>
              <a:spcAft>
                <a:spcPts val="700"/>
              </a:spcAft>
              <a:defRPr sz="1600" b="0">
                <a:solidFill>
                  <a:srgbClr val="1E3047"/>
                </a:solidFill>
                <a:latin typeface="Aptos"/>
              </a:defRPr>
            </a:pPr>
            <a:r>
              <a:t>One transaction</a:t>
            </a:r>
          </a:p>
        </p:txBody>
      </p:sp>
      <p:sp>
        <p:nvSpPr>
          <p:cNvPr id="15" name="Rounded Rectangle 14"/>
          <p:cNvSpPr/>
          <p:nvPr/>
        </p:nvSpPr>
        <p:spPr>
          <a:xfrm>
            <a:off x="8046720" y="2240280"/>
            <a:ext cx="3337560" cy="114300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2331720"/>
            <a:ext cx="3063240" cy="320040"/>
          </a:xfrm>
          <a:prstGeom prst="rect">
            <a:avLst/>
          </a:prstGeom>
          <a:noFill/>
        </p:spPr>
        <p:txBody>
          <a:bodyPr wrap="square" lIns="27432" rIns="27432" tIns="18288" bIns="18288">
            <a:spAutoFit/>
          </a:bodyPr>
          <a:lstStyle/>
          <a:p>
            <a:pPr>
              <a:spcAft>
                <a:spcPts val="700"/>
              </a:spcAft>
              <a:defRPr sz="2000" b="1">
                <a:solidFill>
                  <a:srgbClr val="101D35"/>
                </a:solidFill>
                <a:latin typeface="Aptos"/>
              </a:defRPr>
            </a:pPr>
            <a:r>
              <a:t>3  Dispatcher</a:t>
            </a:r>
          </a:p>
        </p:txBody>
      </p:sp>
      <p:sp>
        <p:nvSpPr>
          <p:cNvPr id="17" name="TextBox 16"/>
          <p:cNvSpPr txBox="1"/>
          <p:nvPr/>
        </p:nvSpPr>
        <p:spPr>
          <a:xfrm>
            <a:off x="8183880" y="2743200"/>
            <a:ext cx="3063240" cy="5943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Every 15 seconds</a:t>
            </a:r>
          </a:p>
          <a:p>
            <a:pPr>
              <a:spcAft>
                <a:spcPts val="700"/>
              </a:spcAft>
              <a:defRPr sz="1600" b="0">
                <a:solidFill>
                  <a:srgbClr val="1E3047"/>
                </a:solidFill>
                <a:latin typeface="Aptos"/>
              </a:defRPr>
            </a:pPr>
            <a:r>
              <a:t>Read pending rows</a:t>
            </a:r>
          </a:p>
        </p:txBody>
      </p:sp>
      <p:sp>
        <p:nvSpPr>
          <p:cNvPr id="18" name="TextBox 17"/>
          <p:cNvSpPr txBox="1"/>
          <p:nvPr/>
        </p:nvSpPr>
        <p:spPr>
          <a:xfrm>
            <a:off x="4087368" y="2587752"/>
            <a:ext cx="274320" cy="365760"/>
          </a:xfrm>
          <a:prstGeom prst="rect">
            <a:avLst/>
          </a:prstGeom>
          <a:noFill/>
        </p:spPr>
        <p:txBody>
          <a:bodyPr wrap="square" lIns="27432" rIns="27432" tIns="18288" bIns="18288">
            <a:spAutoFit/>
          </a:bodyPr>
          <a:lstStyle/>
          <a:p>
            <a:pPr>
              <a:spcAft>
                <a:spcPts val="700"/>
              </a:spcAft>
              <a:defRPr sz="2200" b="0">
                <a:solidFill>
                  <a:srgbClr val="1768C1"/>
                </a:solidFill>
                <a:latin typeface="Aptos"/>
              </a:defRPr>
            </a:pPr>
            <a:r>
              <a:t>→</a:t>
            </a:r>
          </a:p>
        </p:txBody>
      </p:sp>
      <p:sp>
        <p:nvSpPr>
          <p:cNvPr id="19" name="TextBox 18"/>
          <p:cNvSpPr txBox="1"/>
          <p:nvPr/>
        </p:nvSpPr>
        <p:spPr>
          <a:xfrm>
            <a:off x="7744968" y="2587752"/>
            <a:ext cx="274320" cy="365760"/>
          </a:xfrm>
          <a:prstGeom prst="rect">
            <a:avLst/>
          </a:prstGeom>
          <a:noFill/>
        </p:spPr>
        <p:txBody>
          <a:bodyPr wrap="square" lIns="27432" rIns="27432" tIns="18288" bIns="18288">
            <a:spAutoFit/>
          </a:bodyPr>
          <a:lstStyle/>
          <a:p>
            <a:pPr>
              <a:spcAft>
                <a:spcPts val="700"/>
              </a:spcAft>
              <a:defRPr sz="2200" b="0">
                <a:solidFill>
                  <a:srgbClr val="1768C1"/>
                </a:solidFill>
                <a:latin typeface="Aptos"/>
              </a:defRPr>
            </a:pPr>
            <a:r>
              <a:t>→</a:t>
            </a:r>
          </a:p>
        </p:txBody>
      </p:sp>
      <p:sp>
        <p:nvSpPr>
          <p:cNvPr id="20" name="Rounded Rectangle 19"/>
          <p:cNvSpPr/>
          <p:nvPr/>
        </p:nvSpPr>
        <p:spPr>
          <a:xfrm>
            <a:off x="731520" y="3931920"/>
            <a:ext cx="3337560" cy="114300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023360"/>
            <a:ext cx="3063240" cy="320040"/>
          </a:xfrm>
          <a:prstGeom prst="rect">
            <a:avLst/>
          </a:prstGeom>
          <a:noFill/>
        </p:spPr>
        <p:txBody>
          <a:bodyPr wrap="square" lIns="27432" rIns="27432" tIns="18288" bIns="18288">
            <a:spAutoFit/>
          </a:bodyPr>
          <a:lstStyle/>
          <a:p>
            <a:pPr>
              <a:spcAft>
                <a:spcPts val="700"/>
              </a:spcAft>
              <a:defRPr sz="2000" b="1">
                <a:solidFill>
                  <a:srgbClr val="101D35"/>
                </a:solidFill>
                <a:latin typeface="Aptos"/>
              </a:defRPr>
            </a:pPr>
            <a:r>
              <a:t>6  SQL final status</a:t>
            </a:r>
          </a:p>
        </p:txBody>
      </p:sp>
      <p:sp>
        <p:nvSpPr>
          <p:cNvPr id="22" name="TextBox 21"/>
          <p:cNvSpPr txBox="1"/>
          <p:nvPr/>
        </p:nvSpPr>
        <p:spPr>
          <a:xfrm>
            <a:off x="868680" y="4434840"/>
            <a:ext cx="3063240" cy="5943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Completed / Needs review</a:t>
            </a:r>
          </a:p>
          <a:p>
            <a:pPr>
              <a:spcAft>
                <a:spcPts val="700"/>
              </a:spcAft>
              <a:defRPr sz="1600" b="0">
                <a:solidFill>
                  <a:srgbClr val="1E3047"/>
                </a:solidFill>
                <a:latin typeface="Aptos"/>
              </a:defRPr>
            </a:pPr>
            <a:r>
              <a:t>Clear uploaded text</a:t>
            </a:r>
          </a:p>
        </p:txBody>
      </p:sp>
      <p:sp>
        <p:nvSpPr>
          <p:cNvPr id="23" name="Rounded Rectangle 22"/>
          <p:cNvSpPr/>
          <p:nvPr/>
        </p:nvSpPr>
        <p:spPr>
          <a:xfrm>
            <a:off x="4389120" y="3931920"/>
            <a:ext cx="3337560" cy="114300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4023360"/>
            <a:ext cx="3063240" cy="320040"/>
          </a:xfrm>
          <a:prstGeom prst="rect">
            <a:avLst/>
          </a:prstGeom>
          <a:noFill/>
        </p:spPr>
        <p:txBody>
          <a:bodyPr wrap="square" lIns="27432" rIns="27432" tIns="18288" bIns="18288">
            <a:spAutoFit/>
          </a:bodyPr>
          <a:lstStyle/>
          <a:p>
            <a:pPr>
              <a:spcAft>
                <a:spcPts val="700"/>
              </a:spcAft>
              <a:defRPr sz="2000" b="1">
                <a:solidFill>
                  <a:srgbClr val="101D35"/>
                </a:solidFill>
                <a:latin typeface="Aptos"/>
              </a:defRPr>
            </a:pPr>
            <a:r>
              <a:t>5  Processor</a:t>
            </a:r>
          </a:p>
        </p:txBody>
      </p:sp>
      <p:sp>
        <p:nvSpPr>
          <p:cNvPr id="25" name="TextBox 24"/>
          <p:cNvSpPr txBox="1"/>
          <p:nvPr/>
        </p:nvSpPr>
        <p:spPr>
          <a:xfrm>
            <a:off x="4526280" y="4434840"/>
            <a:ext cx="3063240" cy="5943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Read SQL text</a:t>
            </a:r>
          </a:p>
          <a:p>
            <a:pPr>
              <a:spcAft>
                <a:spcPts val="700"/>
              </a:spcAft>
              <a:defRPr sz="1600" b="0">
                <a:solidFill>
                  <a:srgbClr val="1E3047"/>
                </a:solidFill>
                <a:latin typeface="Aptos"/>
              </a:defRPr>
            </a:pPr>
            <a:r>
              <a:t>Validate and settle</a:t>
            </a:r>
          </a:p>
        </p:txBody>
      </p:sp>
      <p:sp>
        <p:nvSpPr>
          <p:cNvPr id="26" name="Rounded Rectangle 25"/>
          <p:cNvSpPr/>
          <p:nvPr/>
        </p:nvSpPr>
        <p:spPr>
          <a:xfrm>
            <a:off x="8046720" y="3931920"/>
            <a:ext cx="3337560" cy="114300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3880" y="4023360"/>
            <a:ext cx="3063240" cy="320040"/>
          </a:xfrm>
          <a:prstGeom prst="rect">
            <a:avLst/>
          </a:prstGeom>
          <a:noFill/>
        </p:spPr>
        <p:txBody>
          <a:bodyPr wrap="square" lIns="27432" rIns="27432" tIns="18288" bIns="18288">
            <a:spAutoFit/>
          </a:bodyPr>
          <a:lstStyle/>
          <a:p>
            <a:pPr>
              <a:spcAft>
                <a:spcPts val="700"/>
              </a:spcAft>
              <a:defRPr sz="2000" b="1">
                <a:solidFill>
                  <a:srgbClr val="101D35"/>
                </a:solidFill>
                <a:latin typeface="Aptos"/>
              </a:defRPr>
            </a:pPr>
            <a:r>
              <a:t>4  Service Bus</a:t>
            </a:r>
          </a:p>
        </p:txBody>
      </p:sp>
      <p:sp>
        <p:nvSpPr>
          <p:cNvPr id="28" name="TextBox 27"/>
          <p:cNvSpPr txBox="1"/>
          <p:nvPr/>
        </p:nvSpPr>
        <p:spPr>
          <a:xfrm>
            <a:off x="8183880" y="4434840"/>
            <a:ext cx="3063240" cy="5943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Identifier-only message</a:t>
            </a:r>
          </a:p>
          <a:p>
            <a:pPr>
              <a:spcAft>
                <a:spcPts val="700"/>
              </a:spcAft>
              <a:defRPr sz="1600" b="0">
                <a:solidFill>
                  <a:srgbClr val="1E3047"/>
                </a:solidFill>
                <a:latin typeface="Aptos"/>
              </a:defRPr>
            </a:pPr>
            <a:r>
              <a:t>Retry / dead-letter</a:t>
            </a:r>
          </a:p>
        </p:txBody>
      </p:sp>
      <p:sp>
        <p:nvSpPr>
          <p:cNvPr id="29" name="TextBox 28"/>
          <p:cNvSpPr txBox="1"/>
          <p:nvPr/>
        </p:nvSpPr>
        <p:spPr>
          <a:xfrm>
            <a:off x="9418320" y="3474720"/>
            <a:ext cx="548640" cy="365760"/>
          </a:xfrm>
          <a:prstGeom prst="rect">
            <a:avLst/>
          </a:prstGeom>
          <a:noFill/>
        </p:spPr>
        <p:txBody>
          <a:bodyPr wrap="square" lIns="27432" rIns="27432" tIns="18288" bIns="18288">
            <a:spAutoFit/>
          </a:bodyPr>
          <a:lstStyle/>
          <a:p>
            <a:pPr>
              <a:spcAft>
                <a:spcPts val="700"/>
              </a:spcAft>
              <a:defRPr sz="2200" b="0">
                <a:solidFill>
                  <a:srgbClr val="1768C1"/>
                </a:solidFill>
                <a:latin typeface="Aptos"/>
              </a:defRPr>
            </a:pPr>
            <a:r>
              <a:t>↓</a:t>
            </a:r>
          </a:p>
        </p:txBody>
      </p:sp>
      <p:sp>
        <p:nvSpPr>
          <p:cNvPr id="30" name="TextBox 29"/>
          <p:cNvSpPr txBox="1"/>
          <p:nvPr/>
        </p:nvSpPr>
        <p:spPr>
          <a:xfrm>
            <a:off x="7744968" y="4279392"/>
            <a:ext cx="274320" cy="365760"/>
          </a:xfrm>
          <a:prstGeom prst="rect">
            <a:avLst/>
          </a:prstGeom>
          <a:noFill/>
        </p:spPr>
        <p:txBody>
          <a:bodyPr wrap="square" lIns="27432" rIns="27432" tIns="18288" bIns="18288">
            <a:spAutoFit/>
          </a:bodyPr>
          <a:lstStyle/>
          <a:p>
            <a:pPr>
              <a:spcAft>
                <a:spcPts val="700"/>
              </a:spcAft>
              <a:defRPr sz="2200" b="0">
                <a:solidFill>
                  <a:srgbClr val="1768C1"/>
                </a:solidFill>
                <a:latin typeface="Aptos"/>
              </a:defRPr>
            </a:pPr>
            <a:r>
              <a:t>←</a:t>
            </a:r>
          </a:p>
        </p:txBody>
      </p:sp>
      <p:sp>
        <p:nvSpPr>
          <p:cNvPr id="31" name="TextBox 30"/>
          <p:cNvSpPr txBox="1"/>
          <p:nvPr/>
        </p:nvSpPr>
        <p:spPr>
          <a:xfrm>
            <a:off x="4087368" y="4279392"/>
            <a:ext cx="274320" cy="365760"/>
          </a:xfrm>
          <a:prstGeom prst="rect">
            <a:avLst/>
          </a:prstGeom>
          <a:noFill/>
        </p:spPr>
        <p:txBody>
          <a:bodyPr wrap="square" lIns="27432" rIns="27432" tIns="18288" bIns="18288">
            <a:spAutoFit/>
          </a:bodyPr>
          <a:lstStyle/>
          <a:p>
            <a:pPr>
              <a:spcAft>
                <a:spcPts val="700"/>
              </a:spcAft>
              <a:defRPr sz="2200" b="0">
                <a:solidFill>
                  <a:srgbClr val="1768C1"/>
                </a:solidFill>
                <a:latin typeface="Aptos"/>
              </a:defRPr>
            </a:pPr>
            <a:r>
              <a:t>←</a:t>
            </a:r>
          </a:p>
        </p:txBody>
      </p:sp>
      <p:sp>
        <p:nvSpPr>
          <p:cNvPr id="32" name="TextBox 31"/>
          <p:cNvSpPr txBox="1"/>
          <p:nvPr/>
        </p:nvSpPr>
        <p:spPr>
          <a:xfrm>
            <a:off x="777240" y="5486400"/>
            <a:ext cx="10607040" cy="594360"/>
          </a:xfrm>
          <a:prstGeom prst="rect">
            <a:avLst/>
          </a:prstGeom>
          <a:noFill/>
        </p:spPr>
        <p:txBody>
          <a:bodyPr wrap="square" lIns="27432" rIns="27432" tIns="18288" bIns="18288">
            <a:spAutoFit/>
          </a:bodyPr>
          <a:lstStyle/>
          <a:p>
            <a:pPr>
              <a:spcAft>
                <a:spcPts val="700"/>
              </a:spcAft>
              <a:defRPr sz="1800" b="1">
                <a:solidFill>
                  <a:srgbClr val="1768C1"/>
                </a:solidFill>
                <a:latin typeface="Aptos"/>
              </a:defRPr>
            </a:pPr>
            <a:r>
              <a:t>Send first, then mark dispatched. Redelivery is possible; finalization is idempotent.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DOCUMENT TRACKER | WORKING AZURE DEMO</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Three checks: network, identity and permission</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Managed identity removes stored credentials; it does not bypass a firewall</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22</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Network: can I connect?</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SQL firewall/public access permits or rejects the connection path.</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Identity: who am I?</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Hosted Functions use system-assigned managed identity and Entra tokens.</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SQL authorization</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A contained external user plus table GRANTs permits SELECT / UPDATE.</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Service Bus authorization</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Queue-scoped Data Sender and Data Receiver allow message operations.</a:t>
            </a:r>
          </a:p>
        </p:txBody>
      </p:sp>
      <p:sp>
        <p:nvSpPr>
          <p:cNvPr id="21" name="TextBox 20"/>
          <p:cNvSpPr txBox="1"/>
          <p:nvPr/>
        </p:nvSpPr>
        <p:spPr>
          <a:xfrm>
            <a:off x="777240" y="5623560"/>
            <a:ext cx="10607040" cy="594360"/>
          </a:xfrm>
          <a:prstGeom prst="rect">
            <a:avLst/>
          </a:prstGeom>
          <a:noFill/>
        </p:spPr>
        <p:txBody>
          <a:bodyPr wrap="square" lIns="27432" rIns="27432" tIns="18288" bIns="18288">
            <a:spAutoFit/>
          </a:bodyPr>
          <a:lstStyle/>
          <a:p>
            <a:pPr>
              <a:spcAft>
                <a:spcPts val="700"/>
              </a:spcAft>
              <a:defRPr sz="1600" b="1">
                <a:solidFill>
                  <a:srgbClr val="1768C1"/>
                </a:solidFill>
                <a:latin typeface="Aptos"/>
              </a:defRPr>
            </a:pPr>
            <a:r>
              <a:t>A valid identity can still fail network access. An open network does not grant data access.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SQL: the Function needs an external database user</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Already created in firstdb by an authorized Entra administrator</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34</a:t>
            </a:r>
            <a:endParaRPr lang="en-US" sz="1000" dirty="0"/>
          </a:p>
        </p:txBody>
      </p:sp>
      <p:sp>
        <p:nvSpPr>
          <p:cNvPr id="9" name="Rounded Rectangle 8"/>
          <p:cNvSpPr/>
          <p:nvPr/>
        </p:nvSpPr>
        <p:spPr>
          <a:xfrm>
            <a:off x="731520" y="2148840"/>
            <a:ext cx="10744200" cy="233172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1720"/>
            <a:ext cx="10287000" cy="2148840"/>
          </a:xfrm>
          <a:prstGeom prst="rect">
            <a:avLst/>
          </a:prstGeom>
          <a:noFill/>
        </p:spPr>
        <p:txBody>
          <a:bodyPr wrap="square" lIns="27432" rIns="27432" tIns="18288" bIns="18288">
            <a:spAutoFit/>
          </a:bodyPr>
          <a:lstStyle/>
          <a:p>
            <a:pPr>
              <a:spcAft>
                <a:spcPts val="200"/>
              </a:spcAft>
              <a:defRPr sz="1700" b="0">
                <a:solidFill>
                  <a:srgbClr val="1E3047"/>
                </a:solidFill>
                <a:latin typeface="Consolas"/>
              </a:defRPr>
            </a:pPr>
            <a:r>
              <a:t>CREATE USER [fristAzureFunctionApp] FROM EXTERNAL PROVIDER;</a:t>
            </a:r>
          </a:p>
          <a:p>
            <a:pPr>
              <a:spcAft>
                <a:spcPts val="200"/>
              </a:spcAft>
              <a:defRPr sz="1700" b="0">
                <a:solidFill>
                  <a:srgbClr val="1E3047"/>
                </a:solidFill>
                <a:latin typeface="Consolas"/>
              </a:defRPr>
            </a:pPr>
          </a:p>
          <a:p>
            <a:pPr>
              <a:spcAft>
                <a:spcPts val="200"/>
              </a:spcAft>
              <a:defRPr sz="1700" b="0">
                <a:solidFill>
                  <a:srgbClr val="1E3047"/>
                </a:solidFill>
                <a:latin typeface="Consolas"/>
              </a:defRPr>
            </a:pPr>
            <a:r>
              <a:t>GRANT SELECT, UPDATE ON OBJECT::lbs_training.Documents</a:t>
            </a:r>
          </a:p>
          <a:p>
            <a:pPr>
              <a:spcAft>
                <a:spcPts val="200"/>
              </a:spcAft>
              <a:defRPr sz="1700" b="0">
                <a:solidFill>
                  <a:srgbClr val="1E3047"/>
                </a:solidFill>
                <a:latin typeface="Consolas"/>
              </a:defRPr>
            </a:pPr>
            <a:r>
              <a:t>    TO [fristAzureFunctionApp];</a:t>
            </a:r>
          </a:p>
          <a:p>
            <a:pPr>
              <a:spcAft>
                <a:spcPts val="200"/>
              </a:spcAft>
              <a:defRPr sz="1700" b="0">
                <a:solidFill>
                  <a:srgbClr val="1E3047"/>
                </a:solidFill>
                <a:latin typeface="Consolas"/>
              </a:defRPr>
            </a:pPr>
            <a:r>
              <a:t>GRANT SELECT, UPDATE ON OBJECT::lbs_training.Outbox</a:t>
            </a:r>
          </a:p>
          <a:p>
            <a:pPr>
              <a:spcAft>
                <a:spcPts val="200"/>
              </a:spcAft>
              <a:defRPr sz="1700" b="0">
                <a:solidFill>
                  <a:srgbClr val="1E3047"/>
                </a:solidFill>
                <a:latin typeface="Consolas"/>
              </a:defRPr>
            </a:pPr>
            <a:r>
              <a:t>    TO [fristAzureFunctionApp];</a:t>
            </a:r>
          </a:p>
        </p:txBody>
      </p:sp>
      <p:sp>
        <p:nvSpPr>
          <p:cNvPr id="11" name="TextBox 10"/>
          <p:cNvSpPr txBox="1"/>
          <p:nvPr/>
        </p:nvSpPr>
        <p:spPr>
          <a:xfrm>
            <a:off x="777240" y="4709160"/>
            <a:ext cx="10607040" cy="960120"/>
          </a:xfrm>
          <a:prstGeom prst="rect">
            <a:avLst/>
          </a:prstGeom>
          <a:noFill/>
        </p:spPr>
        <p:txBody>
          <a:bodyPr wrap="square" lIns="27432" rIns="27432" tIns="18288" bIns="18288">
            <a:spAutoFit/>
          </a:bodyPr>
          <a:lstStyle/>
          <a:p>
            <a:pPr>
              <a:spcAft>
                <a:spcPts val="700"/>
              </a:spcAft>
              <a:defRPr sz="1900" b="0">
                <a:solidFill>
                  <a:srgbClr val="101D35"/>
                </a:solidFill>
                <a:latin typeface="Aptos"/>
              </a:defRPr>
            </a:pPr>
            <a:r>
              <a:t>Enabling identity alone does not create this user.</a:t>
            </a:r>
          </a:p>
          <a:p>
            <a:pPr>
              <a:spcAft>
                <a:spcPts val="700"/>
              </a:spcAft>
              <a:defRPr sz="1900" b="0">
                <a:solidFill>
                  <a:srgbClr val="101D35"/>
                </a:solidFill>
                <a:latin typeface="Aptos"/>
              </a:defRPr>
            </a:pPr>
            <a:r>
              <a:t>The external user maps the workload identity; SQL grants authorize its table operations.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Who needs which permissions?</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Use the narrowest scope; browser users and workload identities are different</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35</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Local website / developer</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Azure CLI identity: SELECT + INSERT Documents; INSERT Outbox. Current lab login is an elevated admin.</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Hosted Function identity</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SELECT + UPDATE on Documents and Outbox. No INSERT, DELETE or db_owner is needed.</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Hosted messaging</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Data Sender + Data Receiver on document-processing. No broad subscription role is required.</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Future Azure website</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Separate web managed identity and SQL user. No Service Bus data role: it writes the outbox.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SQL network lesson: valid identity, blocked IP</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Incident: processor invoked, but SQL rejected the connection</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36</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Observed failure</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SQL logs: client IP 85.210.45.84 was not allowed. The document stayed Queued.</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Why exact IP rules failed</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Flex workers used changing addresses, including addresses absent from the reported list.</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Owner's no-VNet lab choice</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Enabled SQL: Allow Azure services and resources to access this server.</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Security trade-off</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Allows Azure-origin connection attempts from other subscriptions too. SQL identity and grants still apply.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“Allow Azure services” is not a universal trust rule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Network exceptions have different meanings in different Azure products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37</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Azure SQL exception</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Broad Azure-origin access; not limited to this Function, tenant, RG or subscription.</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Service Bus trusted services</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A service-specific supported list and scenarios. Not every Function is automatically exempt.</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Storage trusted services</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A separate Storage rule. It does not configure SQL or Service Bus access.</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Lab boundaries</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No VNet requested. No messaging/storage exception was changed to fix this SQL incident.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Hosted Function settings: identity-based connections</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Double underscores separate configuration sections; preserve existing host storage</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38</a:t>
            </a:r>
            <a:endParaRPr lang="en-US" sz="1000" dirty="0"/>
          </a:p>
        </p:txBody>
      </p:sp>
      <p:sp>
        <p:nvSpPr>
          <p:cNvPr id="9" name="Rounded Rectangle 8"/>
          <p:cNvSpPr/>
          <p:nvPr/>
        </p:nvSpPr>
        <p:spPr>
          <a:xfrm>
            <a:off x="731520" y="2148840"/>
            <a:ext cx="10744200" cy="521207"/>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21992"/>
            <a:ext cx="5486400" cy="365760"/>
          </a:xfrm>
          <a:prstGeom prst="rect">
            <a:avLst/>
          </a:prstGeom>
          <a:noFill/>
        </p:spPr>
        <p:txBody>
          <a:bodyPr wrap="square" lIns="27432" rIns="27432" tIns="18288" bIns="18288">
            <a:spAutoFit/>
          </a:bodyPr>
          <a:lstStyle/>
          <a:p>
            <a:pPr>
              <a:spcAft>
                <a:spcPts val="700"/>
              </a:spcAft>
              <a:defRPr sz="1300" b="1">
                <a:solidFill>
                  <a:srgbClr val="101D35"/>
                </a:solidFill>
                <a:latin typeface="Consolas"/>
              </a:defRPr>
            </a:pPr>
            <a:r>
              <a:t>Sql__Server</a:t>
            </a:r>
          </a:p>
        </p:txBody>
      </p:sp>
      <p:sp>
        <p:nvSpPr>
          <p:cNvPr id="11" name="TextBox 10"/>
          <p:cNvSpPr txBox="1"/>
          <p:nvPr/>
        </p:nvSpPr>
        <p:spPr>
          <a:xfrm>
            <a:off x="6400800" y="2221992"/>
            <a:ext cx="4846320" cy="365760"/>
          </a:xfrm>
          <a:prstGeom prst="rect">
            <a:avLst/>
          </a:prstGeom>
          <a:noFill/>
        </p:spPr>
        <p:txBody>
          <a:bodyPr wrap="square" lIns="27432" rIns="27432" tIns="18288" bIns="18288">
            <a:spAutoFit/>
          </a:bodyPr>
          <a:lstStyle/>
          <a:p>
            <a:pPr>
              <a:spcAft>
                <a:spcPts val="700"/>
              </a:spcAft>
              <a:defRPr sz="1300" b="0">
                <a:solidFill>
                  <a:srgbClr val="1E3047"/>
                </a:solidFill>
                <a:latin typeface="Consolas"/>
              </a:defRPr>
            </a:pPr>
            <a:r>
              <a:t>firstsqlserver2026.database.windows.net</a:t>
            </a:r>
          </a:p>
        </p:txBody>
      </p:sp>
      <p:sp>
        <p:nvSpPr>
          <p:cNvPr id="12" name="Rounded Rectangle 11"/>
          <p:cNvSpPr/>
          <p:nvPr/>
        </p:nvSpPr>
        <p:spPr>
          <a:xfrm>
            <a:off x="731520" y="2743200"/>
            <a:ext cx="10744200" cy="521207"/>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816352"/>
            <a:ext cx="5486400" cy="365760"/>
          </a:xfrm>
          <a:prstGeom prst="rect">
            <a:avLst/>
          </a:prstGeom>
          <a:noFill/>
        </p:spPr>
        <p:txBody>
          <a:bodyPr wrap="square" lIns="27432" rIns="27432" tIns="18288" bIns="18288">
            <a:spAutoFit/>
          </a:bodyPr>
          <a:lstStyle/>
          <a:p>
            <a:pPr>
              <a:spcAft>
                <a:spcPts val="700"/>
              </a:spcAft>
              <a:defRPr sz="1300" b="1">
                <a:solidFill>
                  <a:srgbClr val="101D35"/>
                </a:solidFill>
                <a:latin typeface="Consolas"/>
              </a:defRPr>
            </a:pPr>
            <a:r>
              <a:t>Sql__Database</a:t>
            </a:r>
          </a:p>
        </p:txBody>
      </p:sp>
      <p:sp>
        <p:nvSpPr>
          <p:cNvPr id="14" name="TextBox 13"/>
          <p:cNvSpPr txBox="1"/>
          <p:nvPr/>
        </p:nvSpPr>
        <p:spPr>
          <a:xfrm>
            <a:off x="6400800" y="2816352"/>
            <a:ext cx="4846320" cy="365760"/>
          </a:xfrm>
          <a:prstGeom prst="rect">
            <a:avLst/>
          </a:prstGeom>
          <a:noFill/>
        </p:spPr>
        <p:txBody>
          <a:bodyPr wrap="square" lIns="27432" rIns="27432" tIns="18288" bIns="18288">
            <a:spAutoFit/>
          </a:bodyPr>
          <a:lstStyle/>
          <a:p>
            <a:pPr>
              <a:spcAft>
                <a:spcPts val="700"/>
              </a:spcAft>
              <a:defRPr sz="1300" b="0">
                <a:solidFill>
                  <a:srgbClr val="1E3047"/>
                </a:solidFill>
                <a:latin typeface="Consolas"/>
              </a:defRPr>
            </a:pPr>
            <a:r>
              <a:t>firstdb</a:t>
            </a:r>
          </a:p>
        </p:txBody>
      </p:sp>
      <p:sp>
        <p:nvSpPr>
          <p:cNvPr id="15" name="Rounded Rectangle 14"/>
          <p:cNvSpPr/>
          <p:nvPr/>
        </p:nvSpPr>
        <p:spPr>
          <a:xfrm>
            <a:off x="731520" y="3337560"/>
            <a:ext cx="10744200" cy="521207"/>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410712"/>
            <a:ext cx="5486400" cy="365760"/>
          </a:xfrm>
          <a:prstGeom prst="rect">
            <a:avLst/>
          </a:prstGeom>
          <a:noFill/>
        </p:spPr>
        <p:txBody>
          <a:bodyPr wrap="square" lIns="27432" rIns="27432" tIns="18288" bIns="18288">
            <a:spAutoFit/>
          </a:bodyPr>
          <a:lstStyle/>
          <a:p>
            <a:pPr>
              <a:spcAft>
                <a:spcPts val="700"/>
              </a:spcAft>
              <a:defRPr sz="1300" b="1">
                <a:solidFill>
                  <a:srgbClr val="101D35"/>
                </a:solidFill>
                <a:latin typeface="Consolas"/>
              </a:defRPr>
            </a:pPr>
            <a:r>
              <a:t>ServiceBusConnection__fullyQualifiedNamespace</a:t>
            </a:r>
          </a:p>
        </p:txBody>
      </p:sp>
      <p:sp>
        <p:nvSpPr>
          <p:cNvPr id="17" name="TextBox 16"/>
          <p:cNvSpPr txBox="1"/>
          <p:nvPr/>
        </p:nvSpPr>
        <p:spPr>
          <a:xfrm>
            <a:off x="6400800" y="3410712"/>
            <a:ext cx="4846320" cy="365760"/>
          </a:xfrm>
          <a:prstGeom prst="rect">
            <a:avLst/>
          </a:prstGeom>
          <a:noFill/>
        </p:spPr>
        <p:txBody>
          <a:bodyPr wrap="square" lIns="27432" rIns="27432" tIns="18288" bIns="18288">
            <a:spAutoFit/>
          </a:bodyPr>
          <a:lstStyle/>
          <a:p>
            <a:pPr>
              <a:spcAft>
                <a:spcPts val="700"/>
              </a:spcAft>
              <a:defRPr sz="1300" b="0">
                <a:solidFill>
                  <a:srgbClr val="1E3047"/>
                </a:solidFill>
                <a:latin typeface="Consolas"/>
              </a:defRPr>
            </a:pPr>
            <a:r>
              <a:t>fristazureservicebus.servicebus.windows.net</a:t>
            </a:r>
          </a:p>
        </p:txBody>
      </p:sp>
      <p:sp>
        <p:nvSpPr>
          <p:cNvPr id="18" name="Rounded Rectangle 17"/>
          <p:cNvSpPr/>
          <p:nvPr/>
        </p:nvSpPr>
        <p:spPr>
          <a:xfrm>
            <a:off x="731520" y="3931920"/>
            <a:ext cx="10744200" cy="521207"/>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005072"/>
            <a:ext cx="5486400" cy="365760"/>
          </a:xfrm>
          <a:prstGeom prst="rect">
            <a:avLst/>
          </a:prstGeom>
          <a:noFill/>
        </p:spPr>
        <p:txBody>
          <a:bodyPr wrap="square" lIns="27432" rIns="27432" tIns="18288" bIns="18288">
            <a:spAutoFit/>
          </a:bodyPr>
          <a:lstStyle/>
          <a:p>
            <a:pPr>
              <a:spcAft>
                <a:spcPts val="700"/>
              </a:spcAft>
              <a:defRPr sz="1300" b="1">
                <a:solidFill>
                  <a:srgbClr val="101D35"/>
                </a:solidFill>
                <a:latin typeface="Consolas"/>
              </a:defRPr>
            </a:pPr>
            <a:r>
              <a:t>ServiceBusConnection__credential</a:t>
            </a:r>
          </a:p>
        </p:txBody>
      </p:sp>
      <p:sp>
        <p:nvSpPr>
          <p:cNvPr id="20" name="TextBox 19"/>
          <p:cNvSpPr txBox="1"/>
          <p:nvPr/>
        </p:nvSpPr>
        <p:spPr>
          <a:xfrm>
            <a:off x="6400800" y="4005072"/>
            <a:ext cx="4846320" cy="365760"/>
          </a:xfrm>
          <a:prstGeom prst="rect">
            <a:avLst/>
          </a:prstGeom>
          <a:noFill/>
        </p:spPr>
        <p:txBody>
          <a:bodyPr wrap="square" lIns="27432" rIns="27432" tIns="18288" bIns="18288">
            <a:spAutoFit/>
          </a:bodyPr>
          <a:lstStyle/>
          <a:p>
            <a:pPr>
              <a:spcAft>
                <a:spcPts val="700"/>
              </a:spcAft>
              <a:defRPr sz="1300" b="0">
                <a:solidFill>
                  <a:srgbClr val="1E3047"/>
                </a:solidFill>
                <a:latin typeface="Consolas"/>
              </a:defRPr>
            </a:pPr>
            <a:r>
              <a:t>managedidentity</a:t>
            </a:r>
          </a:p>
        </p:txBody>
      </p:sp>
      <p:sp>
        <p:nvSpPr>
          <p:cNvPr id="21" name="Rounded Rectangle 20"/>
          <p:cNvSpPr/>
          <p:nvPr/>
        </p:nvSpPr>
        <p:spPr>
          <a:xfrm>
            <a:off x="731520" y="4526280"/>
            <a:ext cx="10744200" cy="521207"/>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599432"/>
            <a:ext cx="5486400" cy="365760"/>
          </a:xfrm>
          <a:prstGeom prst="rect">
            <a:avLst/>
          </a:prstGeom>
          <a:noFill/>
        </p:spPr>
        <p:txBody>
          <a:bodyPr wrap="square" lIns="27432" rIns="27432" tIns="18288" bIns="18288">
            <a:spAutoFit/>
          </a:bodyPr>
          <a:lstStyle/>
          <a:p>
            <a:pPr>
              <a:spcAft>
                <a:spcPts val="700"/>
              </a:spcAft>
              <a:defRPr sz="1300" b="1">
                <a:solidFill>
                  <a:srgbClr val="101D35"/>
                </a:solidFill>
                <a:latin typeface="Consolas"/>
              </a:defRPr>
            </a:pPr>
            <a:r>
              <a:t>QueueName</a:t>
            </a:r>
          </a:p>
        </p:txBody>
      </p:sp>
      <p:sp>
        <p:nvSpPr>
          <p:cNvPr id="23" name="TextBox 22"/>
          <p:cNvSpPr txBox="1"/>
          <p:nvPr/>
        </p:nvSpPr>
        <p:spPr>
          <a:xfrm>
            <a:off x="6400800" y="4599432"/>
            <a:ext cx="4846320" cy="365760"/>
          </a:xfrm>
          <a:prstGeom prst="rect">
            <a:avLst/>
          </a:prstGeom>
          <a:noFill/>
        </p:spPr>
        <p:txBody>
          <a:bodyPr wrap="square" lIns="27432" rIns="27432" tIns="18288" bIns="18288">
            <a:spAutoFit/>
          </a:bodyPr>
          <a:lstStyle/>
          <a:p>
            <a:pPr>
              <a:spcAft>
                <a:spcPts val="700"/>
              </a:spcAft>
              <a:defRPr sz="1300" b="0">
                <a:solidFill>
                  <a:srgbClr val="1E3047"/>
                </a:solidFill>
                <a:latin typeface="Consolas"/>
              </a:defRPr>
            </a:pPr>
            <a:r>
              <a:t>document-processing</a:t>
            </a:r>
          </a:p>
        </p:txBody>
      </p:sp>
      <p:sp>
        <p:nvSpPr>
          <p:cNvPr id="24" name="TextBox 23"/>
          <p:cNvSpPr txBox="1"/>
          <p:nvPr/>
        </p:nvSpPr>
        <p:spPr>
          <a:xfrm>
            <a:off x="777240" y="5349240"/>
            <a:ext cx="10607040" cy="594360"/>
          </a:xfrm>
          <a:prstGeom prst="rect">
            <a:avLst/>
          </a:prstGeom>
          <a:noFill/>
        </p:spPr>
        <p:txBody>
          <a:bodyPr wrap="square" lIns="27432" rIns="27432" tIns="18288" bIns="18288">
            <a:spAutoFit/>
          </a:bodyPr>
          <a:lstStyle/>
          <a:p>
            <a:pPr>
              <a:spcAft>
                <a:spcPts val="700"/>
              </a:spcAft>
              <a:defRPr sz="1800" b="1">
                <a:solidFill>
                  <a:srgbClr val="1768C1"/>
                </a:solidFill>
                <a:latin typeface="Aptos"/>
              </a:defRPr>
            </a:pPr>
            <a:r>
              <a:t>Both Functions must be present: DispatchTrainingDocuments and ProcessTrainingDocument.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DOCUMENT TRACKER | WORKING AZURE DEMO</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Instructor demo: one upload, end-to-end evidence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Use the Azure-backed website at http://127.0.0.1:5293</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23</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1  Prepare</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Confirm account, firstdb, queue, identity and both hosted Functions. Use fictional samples only.</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2  Upload</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Sample 01 + LBS-DEMO-1001. Capture the document GUID from the details URL.</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3  Observe</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Refresh Queued → Completed. Show processor telemetry, not just timer success.</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4  Explain</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SQL stores the job; Service Bus delivers the identifier; Function finalizes SQL and clears 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DOCUMENT TRACKER | WORKING AZURE DEMO</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Observed result: new uploads completed</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Owner-supplied evidence | 29 October 2026, around 22:05 UTC</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24</a:t>
            </a:r>
            <a:endParaRPr lang="en-US" sz="1000" dirty="0"/>
          </a:p>
        </p:txBody>
      </p:sp>
      <p:pic>
        <p:nvPicPr>
          <p:cNvPr id="9" name="Picture 8" descr="Pasted Image 2.png"/>
          <p:cNvPicPr>
            <a:picLocks noChangeAspect="1"/>
          </p:cNvPicPr>
          <p:nvPr/>
        </p:nvPicPr>
        <p:blipFill>
          <a:blip r:embed="rId3"/>
          <a:stretch>
            <a:fillRect/>
          </a:stretch>
        </p:blipFill>
        <p:spPr>
          <a:xfrm>
            <a:off x="777240" y="2286000"/>
            <a:ext cx="7315200" cy="2176488"/>
          </a:xfrm>
          <a:prstGeom prst="rect">
            <a:avLst/>
          </a:prstGeom>
        </p:spPr>
      </p:pic>
      <p:sp>
        <p:nvSpPr>
          <p:cNvPr id="10" name="TextBox 9"/>
          <p:cNvSpPr txBox="1"/>
          <p:nvPr/>
        </p:nvSpPr>
        <p:spPr>
          <a:xfrm>
            <a:off x="8366760" y="2331720"/>
            <a:ext cx="3017520" cy="2651760"/>
          </a:xfrm>
          <a:prstGeom prst="rect">
            <a:avLst/>
          </a:prstGeom>
          <a:noFill/>
        </p:spPr>
        <p:txBody>
          <a:bodyPr wrap="square" lIns="27432" rIns="27432" tIns="18288" bIns="18288">
            <a:spAutoFit/>
          </a:bodyPr>
          <a:lstStyle/>
          <a:p>
            <a:pPr>
              <a:spcAft>
                <a:spcPts val="700"/>
              </a:spcAft>
              <a:defRPr sz="1900" b="0">
                <a:solidFill>
                  <a:srgbClr val="101D35"/>
                </a:solidFill>
                <a:latin typeface="Aptos"/>
              </a:defRPr>
            </a:pPr>
            <a:r>
              <a:t>Four successful sample-01 jobs.</a:t>
            </a:r>
          </a:p>
          <a:p>
            <a:pPr>
              <a:spcAft>
                <a:spcPts val="700"/>
              </a:spcAft>
              <a:defRPr sz="1900" b="0">
                <a:solidFill>
                  <a:srgbClr val="101D35"/>
                </a:solidFill>
                <a:latin typeface="Aptos"/>
              </a:defRPr>
            </a:pPr>
          </a:p>
          <a:p>
            <a:pPr>
              <a:spcAft>
                <a:spcPts val="700"/>
              </a:spcAft>
              <a:defRPr sz="1900" b="0">
                <a:solidFill>
                  <a:srgbClr val="101D35"/>
                </a:solidFill>
                <a:latin typeface="Aptos"/>
              </a:defRPr>
            </a:pPr>
            <a:r>
              <a:t>Evidence of these runs, not a new ten-case regression or production certification.</a:t>
            </a:r>
          </a:p>
        </p:txBody>
      </p:sp>
      <p:sp>
        <p:nvSpPr>
          <p:cNvPr id="11" name="TextBox 10"/>
          <p:cNvSpPr txBox="1"/>
          <p:nvPr/>
        </p:nvSpPr>
        <p:spPr>
          <a:xfrm>
            <a:off x="777240" y="5166360"/>
            <a:ext cx="10607040" cy="777240"/>
          </a:xfrm>
          <a:prstGeom prst="rect">
            <a:avLst/>
          </a:prstGeom>
          <a:noFill/>
        </p:spPr>
        <p:txBody>
          <a:bodyPr wrap="square" lIns="27432" rIns="27432" tIns="18288" bIns="18288">
            <a:spAutoFit/>
          </a:bodyPr>
          <a:lstStyle/>
          <a:p>
            <a:pPr>
              <a:spcAft>
                <a:spcPts val="700"/>
              </a:spcAft>
              <a:defRPr sz="1800" b="1">
                <a:solidFill>
                  <a:srgbClr val="1768C1"/>
                </a:solidFill>
                <a:latin typeface="Aptos"/>
              </a:defRPr>
            </a:pPr>
            <a:r>
              <a:t>Old Queued rows can remain if their messages were already dead-lettered. Recovery is separate.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Testing: validate outcomes, not just delivery</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Three Completed + seven Needs review for a fresh approved ten-case run</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39</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Expected sample results</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01, 05, 06 → Completed. 02, 03, 04, 07, 08, 09, 10 → Needs review.</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Offline checks</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Test doubles cover validation, redelivery and failure paths. They do not prove Azure connectivity.</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Live acceptance</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Test-Live.ps1 -SubmitTrainingData writes ten real records and checks expected final statuses.</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Persistence / content</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Restart UI; records remain. Finalized SQL rows have CompletedAt and DocumentText NULL.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Troubleshooting and dead-letter recovery</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Inspect first; fix the root cause before replaying approved identifiers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40</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Look at the processor</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ProcessTrainingDocument requests/exceptions. A healthy timer can dispatch zero while old jobs are dead-lettered.</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Read the error layer</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IP not allowed → network. Login failed → identity. Permission denied → SQL grants or messaging roles.</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Inspect without consuming</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Use Peek. Queue Active means enabled, not healthy; outgoing metrics include retries.</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Replay safely</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Approved IDs only: send replacement, confirm broker acceptance, then complete the locked DLQ message.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External attendees: guest identity is not RG access</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Two steps: invite into Entra, then assign a scoped Azure resource role</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41</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Invite</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Entra ID → Users → Invite external user. Guest accepts with their own account.</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Assign</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Training → IAM → Reader for observation. Contributor can change/delete resources; avoid Owner.</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Verify scope</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RG role covers that RG, not the whole subscription. Check inherited and group-based access.</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Separate data permissions</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SQL user + grants and queue Data Sender/Receiver are separate. Website users need app authorization.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000" b="1" spc="180" kern="0" dirty="0">
                <a:solidFill>
                  <a:srgbClr val="1768C1"/>
                </a:solidFill>
                <a:latin typeface="Aptos" pitchFamily="34" charset="0"/>
                <a:ea typeface="Aptos" pitchFamily="34" charset="-122"/>
                <a:cs typeface="Aptos" pitchFamily="34" charset="-120"/>
              </a:rPr>
              <a:t>OPTIONAL APPENDIX | IDENTITY, OPERATIONS AND HOMEWORK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2800" b="1" dirty="0">
                <a:solidFill>
                  <a:srgbClr val="101D35"/>
                </a:solidFill>
                <a:latin typeface="Aptos" pitchFamily="34" charset="0"/>
                <a:ea typeface="Aptos" pitchFamily="34" charset="-122"/>
                <a:cs typeface="Aptos" pitchFamily="34" charset="-120"/>
              </a:rPr>
              <a:t>Homework: host the website securely in Azure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Proposed enhancement only; current UI is still local and unauthenticated</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42</a:t>
            </a:r>
            <a:endParaRPr lang="en-US" sz="1000" dirty="0"/>
          </a:p>
        </p:txBody>
      </p:sp>
      <p:sp>
        <p:nvSpPr>
          <p:cNvPr id="9" name="Rounded Rectangle 8"/>
          <p:cNvSpPr/>
          <p:nvPr/>
        </p:nvSpPr>
        <p:spPr>
          <a:xfrm>
            <a:off x="73152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Secure the users</a:t>
            </a:r>
          </a:p>
        </p:txBody>
      </p:sp>
      <p:sp>
        <p:nvSpPr>
          <p:cNvPr id="11" name="TextBox 10"/>
          <p:cNvSpPr txBox="1"/>
          <p:nvPr/>
        </p:nvSpPr>
        <p:spPr>
          <a:xfrm>
            <a:off x="91440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Entra sign-in, approved-user restrictions and per-document authorization. Test denied access too.</a:t>
            </a:r>
          </a:p>
        </p:txBody>
      </p:sp>
      <p:sp>
        <p:nvSpPr>
          <p:cNvPr id="12" name="Rounded Rectangle 11"/>
          <p:cNvSpPr/>
          <p:nvPr/>
        </p:nvSpPr>
        <p:spPr>
          <a:xfrm>
            <a:off x="6263640" y="2103120"/>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212848"/>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Host the website</a:t>
            </a:r>
          </a:p>
        </p:txBody>
      </p:sp>
      <p:sp>
        <p:nvSpPr>
          <p:cNvPr id="14" name="TextBox 13"/>
          <p:cNvSpPr txBox="1"/>
          <p:nvPr/>
        </p:nvSpPr>
        <p:spPr>
          <a:xfrm>
            <a:off x="6446520" y="2688336"/>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Approved App Service with supported .NET 10 configuration. Separate web managed identity.</a:t>
            </a:r>
          </a:p>
        </p:txBody>
      </p:sp>
      <p:sp>
        <p:nvSpPr>
          <p:cNvPr id="15" name="Rounded Rectangle 14"/>
          <p:cNvSpPr/>
          <p:nvPr/>
        </p:nvSpPr>
        <p:spPr>
          <a:xfrm>
            <a:off x="73152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Grant SQL only</a:t>
            </a:r>
          </a:p>
        </p:txBody>
      </p:sp>
      <p:sp>
        <p:nvSpPr>
          <p:cNvPr id="17" name="TextBox 16"/>
          <p:cNvSpPr txBox="1"/>
          <p:nvPr/>
        </p:nvSpPr>
        <p:spPr>
          <a:xfrm>
            <a:off x="91440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Web identity: SELECT + INSERT Documents; INSERT Outbox. Reuse existing Functions and queue.</a:t>
            </a:r>
          </a:p>
        </p:txBody>
      </p:sp>
      <p:sp>
        <p:nvSpPr>
          <p:cNvPr id="18" name="Rounded Rectangle 17"/>
          <p:cNvSpPr/>
          <p:nvPr/>
        </p:nvSpPr>
        <p:spPr>
          <a:xfrm>
            <a:off x="6263640" y="3767328"/>
            <a:ext cx="5166360" cy="1508760"/>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77056"/>
            <a:ext cx="4800600" cy="393192"/>
          </a:xfrm>
          <a:prstGeom prst="rect">
            <a:avLst/>
          </a:prstGeom>
          <a:noFill/>
        </p:spPr>
        <p:txBody>
          <a:bodyPr wrap="square" lIns="27432" rIns="27432" tIns="18288" bIns="18288">
            <a:spAutoFit/>
          </a:bodyPr>
          <a:lstStyle/>
          <a:p>
            <a:pPr>
              <a:spcAft>
                <a:spcPts val="700"/>
              </a:spcAft>
              <a:defRPr sz="1900" b="1">
                <a:solidFill>
                  <a:srgbClr val="101D35"/>
                </a:solidFill>
                <a:latin typeface="Aptos"/>
              </a:defRPr>
            </a:pPr>
            <a:r>
              <a:t>Operational follow-up</a:t>
            </a:r>
          </a:p>
        </p:txBody>
      </p:sp>
      <p:sp>
        <p:nvSpPr>
          <p:cNvPr id="20" name="TextBox 19"/>
          <p:cNvSpPr txBox="1"/>
          <p:nvPr/>
        </p:nvSpPr>
        <p:spPr>
          <a:xfrm>
            <a:off x="6446520" y="4352544"/>
            <a:ext cx="4800600" cy="822960"/>
          </a:xfrm>
          <a:prstGeom prst="rect">
            <a:avLst/>
          </a:prstGeom>
          <a:noFill/>
        </p:spPr>
        <p:txBody>
          <a:bodyPr wrap="square" lIns="27432" rIns="27432" tIns="18288" bIns="18288">
            <a:spAutoFit/>
          </a:bodyPr>
          <a:lstStyle/>
          <a:p>
            <a:pPr>
              <a:spcAft>
                <a:spcPts val="700"/>
              </a:spcAft>
              <a:defRPr sz="1600" b="0">
                <a:solidFill>
                  <a:srgbClr val="1E3047"/>
                </a:solidFill>
                <a:latin typeface="Aptos"/>
              </a:defRPr>
            </a:pPr>
            <a:r>
              <a:t>Ten-case regression, approved DLQ recovery, alerts, retention, cost review and rollback.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TRANSITION</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From messaging to intelligent processing</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Messaging moves work; AI can help interpret or classify its content</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25</a:t>
            </a:r>
            <a:endParaRPr lang="en-US" sz="1000" dirty="0"/>
          </a:p>
        </p:txBody>
      </p:sp>
      <p:sp>
        <p:nvSpPr>
          <p:cNvPr id="9" name="Shape 7"/>
          <p:cNvSpPr/>
          <p:nvPr/>
        </p:nvSpPr>
        <p:spPr>
          <a:xfrm>
            <a:off x="640080" y="246888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10" name="Text 8"/>
          <p:cNvSpPr/>
          <p:nvPr/>
        </p:nvSpPr>
        <p:spPr>
          <a:xfrm>
            <a:off x="777240" y="267004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Application</a:t>
            </a:r>
            <a:endParaRPr lang="en-US" sz="1700" dirty="0"/>
          </a:p>
        </p:txBody>
      </p:sp>
      <p:sp>
        <p:nvSpPr>
          <p:cNvPr id="11" name="Text 9"/>
          <p:cNvSpPr/>
          <p:nvPr/>
        </p:nvSpPr>
        <p:spPr>
          <a:xfrm>
            <a:off x="768096" y="308152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Receives request</a:t>
            </a:r>
            <a:endParaRPr lang="en-US" sz="1300" dirty="0"/>
          </a:p>
        </p:txBody>
      </p:sp>
      <p:sp>
        <p:nvSpPr>
          <p:cNvPr id="12" name="Text 10"/>
          <p:cNvSpPr/>
          <p:nvPr/>
        </p:nvSpPr>
        <p:spPr>
          <a:xfrm>
            <a:off x="2598725"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3" name="Shape 11"/>
          <p:cNvSpPr/>
          <p:nvPr/>
        </p:nvSpPr>
        <p:spPr>
          <a:xfrm>
            <a:off x="2891333" y="2468880"/>
            <a:ext cx="1922069" cy="1188720"/>
          </a:xfrm>
          <a:prstGeom prst="roundRect">
            <a:avLst>
              <a:gd name="adj" fmla="val 12308"/>
            </a:avLst>
          </a:prstGeom>
          <a:solidFill>
            <a:srgbClr val="EAF8F8"/>
          </a:solidFill>
          <a:ln w="12700">
            <a:solidFill>
              <a:srgbClr val="EAF8F8"/>
            </a:solidFill>
            <a:prstDash val="solid"/>
          </a:ln>
        </p:spPr>
        <p:txBody>
          <a:bodyPr/>
          <a:p/>
        </p:txBody>
      </p:sp>
      <p:sp>
        <p:nvSpPr>
          <p:cNvPr id="14" name="Text 12"/>
          <p:cNvSpPr/>
          <p:nvPr/>
        </p:nvSpPr>
        <p:spPr>
          <a:xfrm>
            <a:off x="3028493" y="267004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Service Bus</a:t>
            </a:r>
            <a:endParaRPr lang="en-US" sz="1700" dirty="0"/>
          </a:p>
        </p:txBody>
      </p:sp>
      <p:sp>
        <p:nvSpPr>
          <p:cNvPr id="15" name="Text 13"/>
          <p:cNvSpPr/>
          <p:nvPr/>
        </p:nvSpPr>
        <p:spPr>
          <a:xfrm>
            <a:off x="3019349" y="308152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Queues work</a:t>
            </a:r>
            <a:endParaRPr lang="en-US" sz="1300" dirty="0"/>
          </a:p>
        </p:txBody>
      </p:sp>
      <p:sp>
        <p:nvSpPr>
          <p:cNvPr id="16" name="Text 14"/>
          <p:cNvSpPr/>
          <p:nvPr/>
        </p:nvSpPr>
        <p:spPr>
          <a:xfrm>
            <a:off x="4849978"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7" name="Shape 15"/>
          <p:cNvSpPr/>
          <p:nvPr/>
        </p:nvSpPr>
        <p:spPr>
          <a:xfrm>
            <a:off x="5142586" y="246888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18" name="Text 16"/>
          <p:cNvSpPr/>
          <p:nvPr/>
        </p:nvSpPr>
        <p:spPr>
          <a:xfrm>
            <a:off x="5279746" y="267004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Worker</a:t>
            </a:r>
            <a:endParaRPr lang="en-US" sz="1700" dirty="0"/>
          </a:p>
        </p:txBody>
      </p:sp>
      <p:sp>
        <p:nvSpPr>
          <p:cNvPr id="19" name="Text 17"/>
          <p:cNvSpPr/>
          <p:nvPr/>
        </p:nvSpPr>
        <p:spPr>
          <a:xfrm>
            <a:off x="5270602" y="308152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Orchestrates steps</a:t>
            </a:r>
            <a:endParaRPr lang="en-US" sz="1300" dirty="0"/>
          </a:p>
        </p:txBody>
      </p:sp>
      <p:sp>
        <p:nvSpPr>
          <p:cNvPr id="20" name="Text 18"/>
          <p:cNvSpPr/>
          <p:nvPr/>
        </p:nvSpPr>
        <p:spPr>
          <a:xfrm>
            <a:off x="7101230"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1" name="Shape 19"/>
          <p:cNvSpPr/>
          <p:nvPr/>
        </p:nvSpPr>
        <p:spPr>
          <a:xfrm>
            <a:off x="7393838" y="2468880"/>
            <a:ext cx="1922069" cy="1188720"/>
          </a:xfrm>
          <a:prstGeom prst="roundRect">
            <a:avLst>
              <a:gd name="adj" fmla="val 12308"/>
            </a:avLst>
          </a:prstGeom>
          <a:solidFill>
            <a:srgbClr val="EAF8F8"/>
          </a:solidFill>
          <a:ln w="12700">
            <a:solidFill>
              <a:srgbClr val="EAF8F8"/>
            </a:solidFill>
            <a:prstDash val="solid"/>
          </a:ln>
        </p:spPr>
        <p:txBody>
          <a:bodyPr/>
          <a:p/>
        </p:txBody>
      </p:sp>
      <p:sp>
        <p:nvSpPr>
          <p:cNvPr id="22" name="Text 20"/>
          <p:cNvSpPr/>
          <p:nvPr/>
        </p:nvSpPr>
        <p:spPr>
          <a:xfrm>
            <a:off x="7530998" y="267004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Azure AI</a:t>
            </a:r>
            <a:endParaRPr lang="en-US" sz="1700" dirty="0"/>
          </a:p>
        </p:txBody>
      </p:sp>
      <p:sp>
        <p:nvSpPr>
          <p:cNvPr id="23" name="Text 21"/>
          <p:cNvSpPr/>
          <p:nvPr/>
        </p:nvSpPr>
        <p:spPr>
          <a:xfrm>
            <a:off x="7521854" y="308152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Analyses content</a:t>
            </a:r>
            <a:endParaRPr lang="en-US" sz="1300" dirty="0"/>
          </a:p>
        </p:txBody>
      </p:sp>
      <p:sp>
        <p:nvSpPr>
          <p:cNvPr id="24" name="Text 22"/>
          <p:cNvSpPr/>
          <p:nvPr/>
        </p:nvSpPr>
        <p:spPr>
          <a:xfrm>
            <a:off x="9352483" y="290779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5" name="Shape 23"/>
          <p:cNvSpPr/>
          <p:nvPr/>
        </p:nvSpPr>
        <p:spPr>
          <a:xfrm>
            <a:off x="9645091" y="246888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26" name="Text 24"/>
          <p:cNvSpPr/>
          <p:nvPr/>
        </p:nvSpPr>
        <p:spPr>
          <a:xfrm>
            <a:off x="9782251" y="267004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Human review</a:t>
            </a:r>
            <a:endParaRPr lang="en-US" sz="1700" dirty="0"/>
          </a:p>
        </p:txBody>
      </p:sp>
      <p:sp>
        <p:nvSpPr>
          <p:cNvPr id="27" name="Text 25"/>
          <p:cNvSpPr/>
          <p:nvPr/>
        </p:nvSpPr>
        <p:spPr>
          <a:xfrm>
            <a:off x="9773107" y="308152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Approves decisions</a:t>
            </a:r>
            <a:endParaRPr lang="en-US" sz="1300" dirty="0"/>
          </a:p>
        </p:txBody>
      </p:sp>
      <p:sp>
        <p:nvSpPr>
          <p:cNvPr id="28" name="Text 26"/>
          <p:cNvSpPr/>
          <p:nvPr/>
        </p:nvSpPr>
        <p:spPr>
          <a:xfrm>
            <a:off x="914400" y="4818888"/>
            <a:ext cx="10424160" cy="594360"/>
          </a:xfrm>
          <a:prstGeom prst="rect">
            <a:avLst/>
          </a:prstGeom>
          <a:noFill/>
          <a:ln/>
        </p:spPr>
        <p:txBody>
          <a:bodyPr wrap="square" lIns="0" tIns="0" rIns="0" bIns="0" rtlCol="0" anchor="ctr"/>
          <a:lstStyle/>
          <a:p>
            <a:pPr algn="ctr" indent="0" marL="0">
              <a:buNone/>
            </a:pPr>
            <a:r>
              <a:rPr lang="en-US" sz="1900" b="1" dirty="0">
                <a:solidFill>
                  <a:srgbClr val="1768C1"/>
                </a:solidFill>
                <a:latin typeface="Aptos" pitchFamily="34" charset="0"/>
                <a:ea typeface="Aptos" pitchFamily="34" charset="-122"/>
                <a:cs typeface="Aptos" pitchFamily="34" charset="-120"/>
              </a:rPr>
              <a:t>AI assists the workflow; identity, data protection, validation and human oversight still matter.</a:t>
            </a:r>
            <a:endParaRPr lang="en-US" sz="1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MICROSOFT AZURE AI</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What do we mean by Azure AI services?</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Select services based on the problem—not because AI is available</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26</a:t>
            </a:r>
            <a:endParaRPr lang="en-US" sz="1000" dirty="0"/>
          </a:p>
        </p:txBody>
      </p:sp>
      <p:sp>
        <p:nvSpPr>
          <p:cNvPr id="9" name="Shape 7"/>
          <p:cNvSpPr/>
          <p:nvPr/>
        </p:nvSpPr>
        <p:spPr>
          <a:xfrm>
            <a:off x="731520" y="2011680"/>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0" name="Shape 8"/>
          <p:cNvSpPr/>
          <p:nvPr/>
        </p:nvSpPr>
        <p:spPr>
          <a:xfrm>
            <a:off x="731520" y="2011680"/>
            <a:ext cx="64008" cy="1417320"/>
          </a:xfrm>
          <a:prstGeom prst="rect">
            <a:avLst/>
          </a:prstGeom>
          <a:solidFill>
            <a:srgbClr val="1768C1"/>
          </a:solidFill>
          <a:ln w="12700">
            <a:solidFill>
              <a:srgbClr val="1768C1"/>
            </a:solidFill>
            <a:prstDash val="solid"/>
          </a:ln>
        </p:spPr>
        <p:txBody>
          <a:bodyPr/>
          <a:p/>
        </p:txBody>
      </p:sp>
      <p:sp>
        <p:nvSpPr>
          <p:cNvPr id="11" name="Text 9"/>
          <p:cNvSpPr/>
          <p:nvPr/>
        </p:nvSpPr>
        <p:spPr>
          <a:xfrm>
            <a:off x="960120" y="2176272"/>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Azure AI Document Intelligence</a:t>
            </a:r>
            <a:endParaRPr lang="en-US" sz="1900" dirty="0"/>
          </a:p>
        </p:txBody>
      </p:sp>
      <p:sp>
        <p:nvSpPr>
          <p:cNvPr id="12" name="Text 10"/>
          <p:cNvSpPr/>
          <p:nvPr/>
        </p:nvSpPr>
        <p:spPr>
          <a:xfrm>
            <a:off x="960120" y="2670048"/>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Extract structured fields from forms and documents.</a:t>
            </a:r>
            <a:endParaRPr lang="en-US" sz="1500" dirty="0"/>
          </a:p>
        </p:txBody>
      </p:sp>
      <p:sp>
        <p:nvSpPr>
          <p:cNvPr id="13" name="Shape 11"/>
          <p:cNvSpPr/>
          <p:nvPr/>
        </p:nvSpPr>
        <p:spPr>
          <a:xfrm>
            <a:off x="6400800" y="2011680"/>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4" name="Shape 12"/>
          <p:cNvSpPr/>
          <p:nvPr/>
        </p:nvSpPr>
        <p:spPr>
          <a:xfrm>
            <a:off x="6400800" y="2011680"/>
            <a:ext cx="64008" cy="1417320"/>
          </a:xfrm>
          <a:prstGeom prst="rect">
            <a:avLst/>
          </a:prstGeom>
          <a:solidFill>
            <a:srgbClr val="1768C1"/>
          </a:solidFill>
          <a:ln w="12700">
            <a:solidFill>
              <a:srgbClr val="1768C1"/>
            </a:solidFill>
            <a:prstDash val="solid"/>
          </a:ln>
        </p:spPr>
        <p:txBody>
          <a:bodyPr/>
          <a:p/>
        </p:txBody>
      </p:sp>
      <p:sp>
        <p:nvSpPr>
          <p:cNvPr id="15" name="Text 13"/>
          <p:cNvSpPr/>
          <p:nvPr/>
        </p:nvSpPr>
        <p:spPr>
          <a:xfrm>
            <a:off x="6629400" y="2176272"/>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Azure AI Language</a:t>
            </a:r>
            <a:endParaRPr lang="en-US" sz="1900" dirty="0"/>
          </a:p>
        </p:txBody>
      </p:sp>
      <p:sp>
        <p:nvSpPr>
          <p:cNvPr id="16" name="Text 14"/>
          <p:cNvSpPr/>
          <p:nvPr/>
        </p:nvSpPr>
        <p:spPr>
          <a:xfrm>
            <a:off x="6629400" y="2670048"/>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Analyse text, classify content or detect entities.</a:t>
            </a:r>
            <a:endParaRPr lang="en-US" sz="1500" dirty="0"/>
          </a:p>
        </p:txBody>
      </p:sp>
      <p:sp>
        <p:nvSpPr>
          <p:cNvPr id="17" name="Shape 15"/>
          <p:cNvSpPr/>
          <p:nvPr/>
        </p:nvSpPr>
        <p:spPr>
          <a:xfrm>
            <a:off x="731520" y="36301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8" name="Shape 16"/>
          <p:cNvSpPr/>
          <p:nvPr/>
        </p:nvSpPr>
        <p:spPr>
          <a:xfrm>
            <a:off x="731520" y="3630168"/>
            <a:ext cx="64008" cy="1417320"/>
          </a:xfrm>
          <a:prstGeom prst="rect">
            <a:avLst/>
          </a:prstGeom>
          <a:solidFill>
            <a:srgbClr val="1768C1"/>
          </a:solidFill>
          <a:ln w="12700">
            <a:solidFill>
              <a:srgbClr val="1768C1"/>
            </a:solidFill>
            <a:prstDash val="solid"/>
          </a:ln>
        </p:spPr>
        <p:txBody>
          <a:bodyPr/>
          <a:p/>
        </p:txBody>
      </p:sp>
      <p:sp>
        <p:nvSpPr>
          <p:cNvPr id="19" name="Text 17"/>
          <p:cNvSpPr/>
          <p:nvPr/>
        </p:nvSpPr>
        <p:spPr>
          <a:xfrm>
            <a:off x="960120" y="37947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Azure AI Search</a:t>
            </a:r>
            <a:endParaRPr lang="en-US" sz="1900" dirty="0"/>
          </a:p>
        </p:txBody>
      </p:sp>
      <p:sp>
        <p:nvSpPr>
          <p:cNvPr id="20" name="Text 18"/>
          <p:cNvSpPr/>
          <p:nvPr/>
        </p:nvSpPr>
        <p:spPr>
          <a:xfrm>
            <a:off x="960120" y="42885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Index and retrieve relevant enterprise information.</a:t>
            </a:r>
            <a:endParaRPr lang="en-US" sz="1500" dirty="0"/>
          </a:p>
        </p:txBody>
      </p:sp>
      <p:sp>
        <p:nvSpPr>
          <p:cNvPr id="21" name="Shape 19"/>
          <p:cNvSpPr/>
          <p:nvPr/>
        </p:nvSpPr>
        <p:spPr>
          <a:xfrm>
            <a:off x="6400800" y="36301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22" name="Shape 20"/>
          <p:cNvSpPr/>
          <p:nvPr/>
        </p:nvSpPr>
        <p:spPr>
          <a:xfrm>
            <a:off x="6400800" y="3630168"/>
            <a:ext cx="64008" cy="1417320"/>
          </a:xfrm>
          <a:prstGeom prst="rect">
            <a:avLst/>
          </a:prstGeom>
          <a:solidFill>
            <a:srgbClr val="198D76"/>
          </a:solidFill>
          <a:ln w="12700">
            <a:solidFill>
              <a:srgbClr val="198D76"/>
            </a:solidFill>
            <a:prstDash val="solid"/>
          </a:ln>
        </p:spPr>
        <p:txBody>
          <a:bodyPr/>
          <a:p/>
        </p:txBody>
      </p:sp>
      <p:sp>
        <p:nvSpPr>
          <p:cNvPr id="23" name="Text 21"/>
          <p:cNvSpPr/>
          <p:nvPr/>
        </p:nvSpPr>
        <p:spPr>
          <a:xfrm>
            <a:off x="6629400" y="37947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Microsoft Foundry / Azure OpenAI</a:t>
            </a:r>
            <a:endParaRPr lang="en-US" sz="1900" dirty="0"/>
          </a:p>
        </p:txBody>
      </p:sp>
      <p:sp>
        <p:nvSpPr>
          <p:cNvPr id="24" name="Text 22"/>
          <p:cNvSpPr/>
          <p:nvPr/>
        </p:nvSpPr>
        <p:spPr>
          <a:xfrm>
            <a:off x="6629400" y="42885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Build generative AI experiences using deployed models and governed access.</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MICROSOFT AZURE AI</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Which AI service should we choose?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Map the business requirement to the appropriate capability</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27</a:t>
            </a:r>
            <a:endParaRPr lang="en-US" sz="1000" dirty="0"/>
          </a:p>
        </p:txBody>
      </p:sp>
      <p:sp>
        <p:nvSpPr>
          <p:cNvPr id="9" name="Shape 7"/>
          <p:cNvSpPr/>
          <p:nvPr/>
        </p:nvSpPr>
        <p:spPr>
          <a:xfrm>
            <a:off x="777240" y="2103120"/>
            <a:ext cx="10561320" cy="704088"/>
          </a:xfrm>
          <a:prstGeom prst="roundRect">
            <a:avLst>
              <a:gd name="adj" fmla="val 20779"/>
            </a:avLst>
          </a:prstGeom>
          <a:solidFill>
            <a:srgbClr val="EAF2FB"/>
          </a:solidFill>
          <a:ln w="12700">
            <a:solidFill>
              <a:srgbClr val="EAF2FB"/>
            </a:solidFill>
            <a:prstDash val="solid"/>
          </a:ln>
        </p:spPr>
        <p:txBody>
          <a:bodyPr/>
          <a:p/>
        </p:txBody>
      </p:sp>
      <p:sp>
        <p:nvSpPr>
          <p:cNvPr id="10" name="Text 8"/>
          <p:cNvSpPr/>
          <p:nvPr/>
        </p:nvSpPr>
        <p:spPr>
          <a:xfrm>
            <a:off x="1005840" y="2249424"/>
            <a:ext cx="4846320" cy="402336"/>
          </a:xfrm>
          <a:prstGeom prst="rect">
            <a:avLst/>
          </a:prstGeom>
          <a:noFill/>
          <a:ln/>
        </p:spPr>
        <p:txBody>
          <a:bodyPr wrap="square" lIns="0" tIns="0" rIns="0" bIns="0" rtlCol="0" anchor="ctr"/>
          <a:lstStyle/>
          <a:p>
            <a:pPr indent="0" marL="0">
              <a:buNone/>
            </a:pPr>
            <a:r>
              <a:rPr lang="en-US" sz="1800" b="1" dirty="0">
                <a:solidFill>
                  <a:srgbClr val="1E3047"/>
                </a:solidFill>
                <a:latin typeface="Aptos" pitchFamily="34" charset="0"/>
                <a:ea typeface="Aptos" pitchFamily="34" charset="-122"/>
                <a:cs typeface="Aptos" pitchFamily="34" charset="-120"/>
              </a:rPr>
              <a:t>Read a mortgage PDF</a:t>
            </a:r>
            <a:endParaRPr lang="en-US" sz="1800" dirty="0"/>
          </a:p>
        </p:txBody>
      </p:sp>
      <p:sp>
        <p:nvSpPr>
          <p:cNvPr id="11" name="Text 9"/>
          <p:cNvSpPr/>
          <p:nvPr/>
        </p:nvSpPr>
        <p:spPr>
          <a:xfrm>
            <a:off x="5925312" y="2249424"/>
            <a:ext cx="5029200" cy="402336"/>
          </a:xfrm>
          <a:prstGeom prst="rect">
            <a:avLst/>
          </a:prstGeom>
          <a:noFill/>
          <a:ln/>
        </p:spPr>
        <p:txBody>
          <a:bodyPr wrap="square" lIns="0" tIns="0" rIns="0" bIns="0" rtlCol="0" anchor="ctr"/>
          <a:lstStyle/>
          <a:p>
            <a:pPr indent="0" marL="0">
              <a:buNone/>
            </a:pPr>
            <a:r>
              <a:rPr lang="en-US" sz="1700" dirty="0">
                <a:solidFill>
                  <a:srgbClr val="1768C1"/>
                </a:solidFill>
                <a:latin typeface="Aptos" pitchFamily="34" charset="0"/>
                <a:ea typeface="Aptos" pitchFamily="34" charset="-122"/>
                <a:cs typeface="Aptos" pitchFamily="34" charset="-120"/>
              </a:rPr>
              <a:t>→  Document Intelligence</a:t>
            </a:r>
            <a:endParaRPr lang="en-US" sz="1700" dirty="0"/>
          </a:p>
        </p:txBody>
      </p:sp>
      <p:sp>
        <p:nvSpPr>
          <p:cNvPr id="12" name="Shape 10"/>
          <p:cNvSpPr/>
          <p:nvPr/>
        </p:nvSpPr>
        <p:spPr>
          <a:xfrm>
            <a:off x="777240" y="2962656"/>
            <a:ext cx="10561320" cy="704088"/>
          </a:xfrm>
          <a:prstGeom prst="roundRect">
            <a:avLst>
              <a:gd name="adj" fmla="val 20779"/>
            </a:avLst>
          </a:prstGeom>
          <a:solidFill>
            <a:srgbClr val="F6F9FC"/>
          </a:solidFill>
          <a:ln w="12700">
            <a:solidFill>
              <a:srgbClr val="F6F9FC"/>
            </a:solidFill>
            <a:prstDash val="solid"/>
          </a:ln>
        </p:spPr>
        <p:txBody>
          <a:bodyPr/>
          <a:p/>
        </p:txBody>
      </p:sp>
      <p:sp>
        <p:nvSpPr>
          <p:cNvPr id="13" name="Text 11"/>
          <p:cNvSpPr/>
          <p:nvPr/>
        </p:nvSpPr>
        <p:spPr>
          <a:xfrm>
            <a:off x="1005840" y="3108960"/>
            <a:ext cx="4846320" cy="402336"/>
          </a:xfrm>
          <a:prstGeom prst="rect">
            <a:avLst/>
          </a:prstGeom>
          <a:noFill/>
          <a:ln/>
        </p:spPr>
        <p:txBody>
          <a:bodyPr wrap="square" lIns="0" tIns="0" rIns="0" bIns="0" rtlCol="0" anchor="ctr"/>
          <a:lstStyle/>
          <a:p>
            <a:pPr indent="0" marL="0">
              <a:buNone/>
            </a:pPr>
            <a:r>
              <a:rPr lang="en-US" sz="1800" b="1" dirty="0">
                <a:solidFill>
                  <a:srgbClr val="1E3047"/>
                </a:solidFill>
                <a:latin typeface="Aptos" pitchFamily="34" charset="0"/>
                <a:ea typeface="Aptos" pitchFamily="34" charset="-122"/>
                <a:cs typeface="Aptos" pitchFamily="34" charset="-120"/>
              </a:rPr>
              <a:t>Find answers in approved policies</a:t>
            </a:r>
            <a:endParaRPr lang="en-US" sz="1800" dirty="0"/>
          </a:p>
        </p:txBody>
      </p:sp>
      <p:sp>
        <p:nvSpPr>
          <p:cNvPr id="14" name="Text 12"/>
          <p:cNvSpPr/>
          <p:nvPr/>
        </p:nvSpPr>
        <p:spPr>
          <a:xfrm>
            <a:off x="5925312" y="3108960"/>
            <a:ext cx="5029200" cy="402336"/>
          </a:xfrm>
          <a:prstGeom prst="rect">
            <a:avLst/>
          </a:prstGeom>
          <a:noFill/>
          <a:ln/>
        </p:spPr>
        <p:txBody>
          <a:bodyPr wrap="square" lIns="0" tIns="0" rIns="0" bIns="0" rtlCol="0" anchor="ctr"/>
          <a:lstStyle/>
          <a:p>
            <a:pPr indent="0" marL="0">
              <a:buNone/>
            </a:pPr>
            <a:r>
              <a:rPr lang="en-US" sz="1700" dirty="0">
                <a:solidFill>
                  <a:srgbClr val="1768C1"/>
                </a:solidFill>
                <a:latin typeface="Aptos" pitchFamily="34" charset="0"/>
                <a:ea typeface="Aptos" pitchFamily="34" charset="-122"/>
                <a:cs typeface="Aptos" pitchFamily="34" charset="-120"/>
              </a:rPr>
              <a:t>→  Azure AI Search + a language model</a:t>
            </a:r>
            <a:endParaRPr lang="en-US" sz="1700" dirty="0"/>
          </a:p>
        </p:txBody>
      </p:sp>
      <p:sp>
        <p:nvSpPr>
          <p:cNvPr id="15" name="Shape 13"/>
          <p:cNvSpPr/>
          <p:nvPr/>
        </p:nvSpPr>
        <p:spPr>
          <a:xfrm>
            <a:off x="777240" y="3822192"/>
            <a:ext cx="10561320" cy="704088"/>
          </a:xfrm>
          <a:prstGeom prst="roundRect">
            <a:avLst>
              <a:gd name="adj" fmla="val 20779"/>
            </a:avLst>
          </a:prstGeom>
          <a:solidFill>
            <a:srgbClr val="EAF2FB"/>
          </a:solidFill>
          <a:ln w="12700">
            <a:solidFill>
              <a:srgbClr val="EAF2FB"/>
            </a:solidFill>
            <a:prstDash val="solid"/>
          </a:ln>
        </p:spPr>
        <p:txBody>
          <a:bodyPr/>
          <a:p/>
        </p:txBody>
      </p:sp>
      <p:sp>
        <p:nvSpPr>
          <p:cNvPr id="16" name="Text 14"/>
          <p:cNvSpPr/>
          <p:nvPr/>
        </p:nvSpPr>
        <p:spPr>
          <a:xfrm>
            <a:off x="1005840" y="3968496"/>
            <a:ext cx="4846320" cy="402336"/>
          </a:xfrm>
          <a:prstGeom prst="rect">
            <a:avLst/>
          </a:prstGeom>
          <a:noFill/>
          <a:ln/>
        </p:spPr>
        <p:txBody>
          <a:bodyPr wrap="square" lIns="0" tIns="0" rIns="0" bIns="0" rtlCol="0" anchor="ctr"/>
          <a:lstStyle/>
          <a:p>
            <a:pPr indent="0" marL="0">
              <a:buNone/>
            </a:pPr>
            <a:r>
              <a:rPr lang="en-US" sz="1800" b="1" dirty="0">
                <a:solidFill>
                  <a:srgbClr val="1E3047"/>
                </a:solidFill>
                <a:latin typeface="Aptos" pitchFamily="34" charset="0"/>
                <a:ea typeface="Aptos" pitchFamily="34" charset="-122"/>
                <a:cs typeface="Aptos" pitchFamily="34" charset="-120"/>
              </a:rPr>
              <a:t>Summarise an applicant’s note</a:t>
            </a:r>
            <a:endParaRPr lang="en-US" sz="1800" dirty="0"/>
          </a:p>
        </p:txBody>
      </p:sp>
      <p:sp>
        <p:nvSpPr>
          <p:cNvPr id="17" name="Text 15"/>
          <p:cNvSpPr/>
          <p:nvPr/>
        </p:nvSpPr>
        <p:spPr>
          <a:xfrm>
            <a:off x="5925312" y="3968496"/>
            <a:ext cx="5029200" cy="402336"/>
          </a:xfrm>
          <a:prstGeom prst="rect">
            <a:avLst/>
          </a:prstGeom>
          <a:noFill/>
          <a:ln/>
        </p:spPr>
        <p:txBody>
          <a:bodyPr wrap="square" lIns="0" tIns="0" rIns="0" bIns="0" rtlCol="0" anchor="ctr"/>
          <a:lstStyle/>
          <a:p>
            <a:pPr indent="0" marL="0">
              <a:buNone/>
            </a:pPr>
            <a:r>
              <a:rPr lang="en-US" sz="1700" dirty="0">
                <a:solidFill>
                  <a:srgbClr val="1768C1"/>
                </a:solidFill>
                <a:latin typeface="Aptos" pitchFamily="34" charset="0"/>
                <a:ea typeface="Aptos" pitchFamily="34" charset="-122"/>
                <a:cs typeface="Aptos" pitchFamily="34" charset="-120"/>
              </a:rPr>
              <a:t>→  Generative model with safeguards</a:t>
            </a:r>
            <a:endParaRPr lang="en-US" sz="1700" dirty="0"/>
          </a:p>
        </p:txBody>
      </p:sp>
      <p:sp>
        <p:nvSpPr>
          <p:cNvPr id="18" name="Shape 16"/>
          <p:cNvSpPr/>
          <p:nvPr/>
        </p:nvSpPr>
        <p:spPr>
          <a:xfrm>
            <a:off x="777240" y="4681728"/>
            <a:ext cx="10561320" cy="704088"/>
          </a:xfrm>
          <a:prstGeom prst="roundRect">
            <a:avLst>
              <a:gd name="adj" fmla="val 20779"/>
            </a:avLst>
          </a:prstGeom>
          <a:solidFill>
            <a:srgbClr val="F6F9FC"/>
          </a:solidFill>
          <a:ln w="12700">
            <a:solidFill>
              <a:srgbClr val="F6F9FC"/>
            </a:solidFill>
            <a:prstDash val="solid"/>
          </a:ln>
        </p:spPr>
        <p:txBody>
          <a:bodyPr/>
          <a:p/>
        </p:txBody>
      </p:sp>
      <p:sp>
        <p:nvSpPr>
          <p:cNvPr id="19" name="Text 17"/>
          <p:cNvSpPr/>
          <p:nvPr/>
        </p:nvSpPr>
        <p:spPr>
          <a:xfrm>
            <a:off x="1005840" y="4828032"/>
            <a:ext cx="4846320" cy="402336"/>
          </a:xfrm>
          <a:prstGeom prst="rect">
            <a:avLst/>
          </a:prstGeom>
          <a:noFill/>
          <a:ln/>
        </p:spPr>
        <p:txBody>
          <a:bodyPr wrap="square" lIns="0" tIns="0" rIns="0" bIns="0" rtlCol="0" anchor="ctr"/>
          <a:lstStyle/>
          <a:p>
            <a:pPr indent="0" marL="0">
              <a:buNone/>
            </a:pPr>
            <a:r>
              <a:rPr lang="en-US" sz="1800" b="1" dirty="0">
                <a:solidFill>
                  <a:srgbClr val="1E3047"/>
                </a:solidFill>
                <a:latin typeface="Aptos" pitchFamily="34" charset="0"/>
                <a:ea typeface="Aptos" pitchFamily="34" charset="-122"/>
                <a:cs typeface="Aptos" pitchFamily="34" charset="-120"/>
              </a:rPr>
              <a:t>Flag ambiguous extraction</a:t>
            </a:r>
            <a:endParaRPr lang="en-US" sz="1800" dirty="0"/>
          </a:p>
        </p:txBody>
      </p:sp>
      <p:sp>
        <p:nvSpPr>
          <p:cNvPr id="20" name="Text 18"/>
          <p:cNvSpPr/>
          <p:nvPr/>
        </p:nvSpPr>
        <p:spPr>
          <a:xfrm>
            <a:off x="5925312" y="4828032"/>
            <a:ext cx="5029200" cy="402336"/>
          </a:xfrm>
          <a:prstGeom prst="rect">
            <a:avLst/>
          </a:prstGeom>
          <a:noFill/>
          <a:ln/>
        </p:spPr>
        <p:txBody>
          <a:bodyPr wrap="square" lIns="0" tIns="0" rIns="0" bIns="0" rtlCol="0" anchor="ctr"/>
          <a:lstStyle/>
          <a:p>
            <a:pPr indent="0" marL="0">
              <a:buNone/>
            </a:pPr>
            <a:r>
              <a:rPr lang="en-US" sz="1700" dirty="0">
                <a:solidFill>
                  <a:srgbClr val="1768C1"/>
                </a:solidFill>
                <a:latin typeface="Aptos" pitchFamily="34" charset="0"/>
                <a:ea typeface="Aptos" pitchFamily="34" charset="-122"/>
                <a:cs typeface="Aptos" pitchFamily="34" charset="-120"/>
              </a:rPr>
              <a:t>→  Confidence checks + human review</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AZURE AI WALKTHROUGH</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Create and test an Azure AI resource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Demo route: document extraction using fictional sample documents</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28</a:t>
            </a:r>
            <a:endParaRPr lang="en-US" sz="1000" dirty="0"/>
          </a:p>
        </p:txBody>
      </p:sp>
      <p:sp>
        <p:nvSpPr>
          <p:cNvPr id="9" name="Shape 7"/>
          <p:cNvSpPr/>
          <p:nvPr/>
        </p:nvSpPr>
        <p:spPr>
          <a:xfrm>
            <a:off x="868680" y="2029968"/>
            <a:ext cx="91440" cy="91440"/>
          </a:xfrm>
          <a:prstGeom prst="roundRect">
            <a:avLst>
              <a:gd name="adj" fmla="val 160000"/>
            </a:avLst>
          </a:prstGeom>
          <a:solidFill>
            <a:srgbClr val="2EB8D1"/>
          </a:solidFill>
          <a:ln w="12700">
            <a:solidFill>
              <a:srgbClr val="2EB8D1"/>
            </a:solidFill>
            <a:prstDash val="solid"/>
          </a:ln>
        </p:spPr>
        <p:txBody>
          <a:bodyPr/>
          <a:p/>
        </p:txBody>
      </p:sp>
      <p:sp>
        <p:nvSpPr>
          <p:cNvPr id="10" name="Text 8"/>
          <p:cNvSpPr/>
          <p:nvPr/>
        </p:nvSpPr>
        <p:spPr>
          <a:xfrm>
            <a:off x="1106424" y="1938528"/>
            <a:ext cx="10277856" cy="621792"/>
          </a:xfrm>
          <a:prstGeom prst="rect">
            <a:avLst/>
          </a:prstGeom>
          <a:noFill/>
          <a:ln/>
        </p:spPr>
        <p:txBody>
          <a:bodyPr wrap="square" lIns="0" tIns="0" rIns="0" bIns="0" rtlCol="0" anchor="ctr"/>
          <a:lstStyle/>
          <a:p>
            <a:pPr indent="0" marL="0">
              <a:buNone/>
            </a:pPr>
            <a:r>
              <a:rPr lang="en-US" sz="1750" dirty="0">
                <a:solidFill>
                  <a:srgbClr val="1E3047"/>
                </a:solidFill>
                <a:latin typeface="Aptos" pitchFamily="34" charset="0"/>
                <a:ea typeface="Aptos" pitchFamily="34" charset="-122"/>
                <a:cs typeface="Aptos" pitchFamily="34" charset="-120"/>
              </a:rPr>
              <a:t>Confirm approved subscription, region, resource and access.</a:t>
            </a:r>
            <a:endParaRPr lang="en-US" sz="1750" dirty="0"/>
          </a:p>
        </p:txBody>
      </p:sp>
      <p:sp>
        <p:nvSpPr>
          <p:cNvPr id="11" name="Shape 9"/>
          <p:cNvSpPr/>
          <p:nvPr/>
        </p:nvSpPr>
        <p:spPr>
          <a:xfrm>
            <a:off x="868680" y="2715768"/>
            <a:ext cx="91440" cy="91440"/>
          </a:xfrm>
          <a:prstGeom prst="roundRect">
            <a:avLst>
              <a:gd name="adj" fmla="val 160000"/>
            </a:avLst>
          </a:prstGeom>
          <a:solidFill>
            <a:srgbClr val="2EB8D1"/>
          </a:solidFill>
          <a:ln w="12700">
            <a:solidFill>
              <a:srgbClr val="2EB8D1"/>
            </a:solidFill>
            <a:prstDash val="solid"/>
          </a:ln>
        </p:spPr>
        <p:txBody>
          <a:bodyPr/>
          <a:p/>
        </p:txBody>
      </p:sp>
      <p:sp>
        <p:nvSpPr>
          <p:cNvPr id="12" name="Text 10"/>
          <p:cNvSpPr/>
          <p:nvPr/>
        </p:nvSpPr>
        <p:spPr>
          <a:xfrm>
            <a:off x="1106424" y="2624328"/>
            <a:ext cx="10277856" cy="621792"/>
          </a:xfrm>
          <a:prstGeom prst="rect">
            <a:avLst/>
          </a:prstGeom>
          <a:noFill/>
          <a:ln/>
        </p:spPr>
        <p:txBody>
          <a:bodyPr wrap="square" lIns="0" tIns="0" rIns="0" bIns="0" rtlCol="0" anchor="ctr"/>
          <a:lstStyle/>
          <a:p>
            <a:pPr indent="0" marL="0">
              <a:buNone/>
            </a:pPr>
            <a:r>
              <a:rPr lang="en-US" sz="1750" dirty="0">
                <a:solidFill>
                  <a:srgbClr val="1E3047"/>
                </a:solidFill>
                <a:latin typeface="Aptos" pitchFamily="34" charset="0"/>
                <a:ea typeface="Aptos" pitchFamily="34" charset="-122"/>
                <a:cs typeface="Aptos" pitchFamily="34" charset="-120"/>
              </a:rPr>
              <a:t>Create or open the approved Document Intelligence resource.</a:t>
            </a:r>
            <a:endParaRPr lang="en-US" sz="1750" dirty="0"/>
          </a:p>
        </p:txBody>
      </p:sp>
      <p:sp>
        <p:nvSpPr>
          <p:cNvPr id="13" name="Shape 11"/>
          <p:cNvSpPr/>
          <p:nvPr/>
        </p:nvSpPr>
        <p:spPr>
          <a:xfrm>
            <a:off x="868680" y="3401568"/>
            <a:ext cx="91440" cy="91440"/>
          </a:xfrm>
          <a:prstGeom prst="roundRect">
            <a:avLst>
              <a:gd name="adj" fmla="val 160000"/>
            </a:avLst>
          </a:prstGeom>
          <a:solidFill>
            <a:srgbClr val="2EB8D1"/>
          </a:solidFill>
          <a:ln w="12700">
            <a:solidFill>
              <a:srgbClr val="2EB8D1"/>
            </a:solidFill>
            <a:prstDash val="solid"/>
          </a:ln>
        </p:spPr>
        <p:txBody>
          <a:bodyPr/>
          <a:p/>
        </p:txBody>
      </p:sp>
      <p:sp>
        <p:nvSpPr>
          <p:cNvPr id="14" name="Text 12"/>
          <p:cNvSpPr/>
          <p:nvPr/>
        </p:nvSpPr>
        <p:spPr>
          <a:xfrm>
            <a:off x="1106424" y="3310128"/>
            <a:ext cx="10277856" cy="621792"/>
          </a:xfrm>
          <a:prstGeom prst="rect">
            <a:avLst/>
          </a:prstGeom>
          <a:noFill/>
          <a:ln/>
        </p:spPr>
        <p:txBody>
          <a:bodyPr wrap="square" lIns="0" tIns="0" rIns="0" bIns="0" rtlCol="0" anchor="ctr"/>
          <a:lstStyle/>
          <a:p>
            <a:pPr indent="0" marL="0">
              <a:buNone/>
            </a:pPr>
            <a:r>
              <a:rPr lang="en-US" sz="1750" dirty="0">
                <a:solidFill>
                  <a:srgbClr val="1E3047"/>
                </a:solidFill>
                <a:latin typeface="Aptos" pitchFamily="34" charset="0"/>
                <a:ea typeface="Aptos" pitchFamily="34" charset="-122"/>
                <a:cs typeface="Aptos" pitchFamily="34" charset="-120"/>
              </a:rPr>
              <a:t>Open Document Intelligence Studio or supported portal experience.</a:t>
            </a:r>
            <a:endParaRPr lang="en-US" sz="1750" dirty="0"/>
          </a:p>
        </p:txBody>
      </p:sp>
      <p:sp>
        <p:nvSpPr>
          <p:cNvPr id="15" name="Shape 13"/>
          <p:cNvSpPr/>
          <p:nvPr/>
        </p:nvSpPr>
        <p:spPr>
          <a:xfrm>
            <a:off x="868680" y="4087368"/>
            <a:ext cx="91440" cy="91440"/>
          </a:xfrm>
          <a:prstGeom prst="roundRect">
            <a:avLst>
              <a:gd name="adj" fmla="val 160000"/>
            </a:avLst>
          </a:prstGeom>
          <a:solidFill>
            <a:srgbClr val="2EB8D1"/>
          </a:solidFill>
          <a:ln w="12700">
            <a:solidFill>
              <a:srgbClr val="2EB8D1"/>
            </a:solidFill>
            <a:prstDash val="solid"/>
          </a:ln>
        </p:spPr>
        <p:txBody>
          <a:bodyPr/>
          <a:p/>
        </p:txBody>
      </p:sp>
      <p:sp>
        <p:nvSpPr>
          <p:cNvPr id="16" name="Text 14"/>
          <p:cNvSpPr/>
          <p:nvPr/>
        </p:nvSpPr>
        <p:spPr>
          <a:xfrm>
            <a:off x="1106424" y="3995928"/>
            <a:ext cx="10277856" cy="621792"/>
          </a:xfrm>
          <a:prstGeom prst="rect">
            <a:avLst/>
          </a:prstGeom>
          <a:noFill/>
          <a:ln/>
        </p:spPr>
        <p:txBody>
          <a:bodyPr wrap="square" lIns="0" tIns="0" rIns="0" bIns="0" rtlCol="0" anchor="ctr"/>
          <a:lstStyle/>
          <a:p>
            <a:pPr indent="0" marL="0">
              <a:buNone/>
            </a:pPr>
            <a:r>
              <a:rPr lang="en-US" sz="1750" dirty="0">
                <a:solidFill>
                  <a:srgbClr val="1E3047"/>
                </a:solidFill>
                <a:latin typeface="Aptos" pitchFamily="34" charset="0"/>
                <a:ea typeface="Aptos" pitchFamily="34" charset="-122"/>
                <a:cs typeface="Aptos" pitchFamily="34" charset="-120"/>
              </a:rPr>
              <a:t>Choose Read or Layout; upload the supplied fictional PDF.</a:t>
            </a:r>
            <a:endParaRPr lang="en-US" sz="1750" dirty="0"/>
          </a:p>
        </p:txBody>
      </p:sp>
      <p:sp>
        <p:nvSpPr>
          <p:cNvPr id="17" name="Shape 15"/>
          <p:cNvSpPr/>
          <p:nvPr/>
        </p:nvSpPr>
        <p:spPr>
          <a:xfrm>
            <a:off x="868680" y="4773168"/>
            <a:ext cx="91440" cy="91440"/>
          </a:xfrm>
          <a:prstGeom prst="roundRect">
            <a:avLst>
              <a:gd name="adj" fmla="val 160000"/>
            </a:avLst>
          </a:prstGeom>
          <a:solidFill>
            <a:srgbClr val="2EB8D1"/>
          </a:solidFill>
          <a:ln w="12700">
            <a:solidFill>
              <a:srgbClr val="2EB8D1"/>
            </a:solidFill>
            <a:prstDash val="solid"/>
          </a:ln>
        </p:spPr>
        <p:txBody>
          <a:bodyPr/>
          <a:p/>
        </p:txBody>
      </p:sp>
      <p:sp>
        <p:nvSpPr>
          <p:cNvPr id="18" name="Text 16"/>
          <p:cNvSpPr/>
          <p:nvPr/>
        </p:nvSpPr>
        <p:spPr>
          <a:xfrm>
            <a:off x="1106424" y="4681728"/>
            <a:ext cx="10277856" cy="621792"/>
          </a:xfrm>
          <a:prstGeom prst="rect">
            <a:avLst/>
          </a:prstGeom>
          <a:noFill/>
          <a:ln/>
        </p:spPr>
        <p:txBody>
          <a:bodyPr wrap="square" lIns="0" tIns="0" rIns="0" bIns="0" rtlCol="0" anchor="ctr"/>
          <a:lstStyle/>
          <a:p>
            <a:pPr indent="0" marL="0">
              <a:buNone/>
            </a:pPr>
            <a:r>
              <a:rPr lang="en-US" sz="1750" dirty="0">
                <a:solidFill>
                  <a:srgbClr val="1E3047"/>
                </a:solidFill>
                <a:latin typeface="Aptos" pitchFamily="34" charset="0"/>
                <a:ea typeface="Aptos" pitchFamily="34" charset="-122"/>
                <a:cs typeface="Aptos" pitchFamily="34" charset="-120"/>
              </a:rPr>
              <a:t>Run analysis; inspect extracted fields, confidence and limitations.</a:t>
            </a:r>
            <a:endParaRPr lang="en-US" sz="1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AZURE AI DEMONSTRATION</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What should learners observe?</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AI output is evidence to review—not an automatic business approval</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29</a:t>
            </a:r>
            <a:endParaRPr lang="en-US" sz="1000" dirty="0"/>
          </a:p>
        </p:txBody>
      </p:sp>
      <p:sp>
        <p:nvSpPr>
          <p:cNvPr id="9" name="Shape 7"/>
          <p:cNvSpPr/>
          <p:nvPr/>
        </p:nvSpPr>
        <p:spPr>
          <a:xfrm>
            <a:off x="731520" y="2148840"/>
            <a:ext cx="5257800" cy="2468880"/>
          </a:xfrm>
          <a:prstGeom prst="roundRect">
            <a:avLst>
              <a:gd name="adj" fmla="val 5926"/>
            </a:avLst>
          </a:prstGeom>
          <a:solidFill>
            <a:srgbClr val="F3F7FB"/>
          </a:solidFill>
          <a:ln w="12700">
            <a:solidFill>
              <a:srgbClr val="F3F7FB"/>
            </a:solidFill>
            <a:prstDash val="solid"/>
          </a:ln>
        </p:spPr>
        <p:txBody>
          <a:bodyPr/>
          <a:p/>
        </p:txBody>
      </p:sp>
      <p:sp>
        <p:nvSpPr>
          <p:cNvPr id="10" name="Shape 8"/>
          <p:cNvSpPr/>
          <p:nvPr/>
        </p:nvSpPr>
        <p:spPr>
          <a:xfrm>
            <a:off x="731520" y="2148840"/>
            <a:ext cx="64008" cy="2468880"/>
          </a:xfrm>
          <a:prstGeom prst="rect">
            <a:avLst/>
          </a:prstGeom>
          <a:solidFill>
            <a:srgbClr val="198D76"/>
          </a:solidFill>
          <a:ln w="12700">
            <a:solidFill>
              <a:srgbClr val="198D76"/>
            </a:solidFill>
            <a:prstDash val="solid"/>
          </a:ln>
        </p:spPr>
        <p:txBody>
          <a:bodyPr/>
          <a:p/>
        </p:txBody>
      </p:sp>
      <p:sp>
        <p:nvSpPr>
          <p:cNvPr id="11" name="Text 9"/>
          <p:cNvSpPr/>
          <p:nvPr/>
        </p:nvSpPr>
        <p:spPr>
          <a:xfrm>
            <a:off x="960120" y="2313432"/>
            <a:ext cx="48006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Model-specific results</a:t>
            </a:r>
            <a:endParaRPr lang="en-US" sz="1900" dirty="0"/>
          </a:p>
        </p:txBody>
      </p:sp>
      <p:sp>
        <p:nvSpPr>
          <p:cNvPr id="12" name="Text 10"/>
          <p:cNvSpPr/>
          <p:nvPr/>
        </p:nvSpPr>
        <p:spPr>
          <a:xfrm>
            <a:off x="960120" y="2807208"/>
            <a:ext cx="4800600" cy="170992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Read: text. Layout: structure and tables. Semantic fields depend on the model/features.</a:t>
            </a:r>
            <a:endParaRPr lang="en-US" sz="1500" dirty="0"/>
          </a:p>
        </p:txBody>
      </p:sp>
      <p:sp>
        <p:nvSpPr>
          <p:cNvPr id="13" name="Shape 11"/>
          <p:cNvSpPr/>
          <p:nvPr/>
        </p:nvSpPr>
        <p:spPr>
          <a:xfrm>
            <a:off x="6172200" y="2148840"/>
            <a:ext cx="5257800" cy="2468880"/>
          </a:xfrm>
          <a:prstGeom prst="roundRect">
            <a:avLst>
              <a:gd name="adj" fmla="val 5926"/>
            </a:avLst>
          </a:prstGeom>
          <a:solidFill>
            <a:srgbClr val="F3F7FB"/>
          </a:solidFill>
          <a:ln w="12700">
            <a:solidFill>
              <a:srgbClr val="F3F7FB"/>
            </a:solidFill>
            <a:prstDash val="solid"/>
          </a:ln>
        </p:spPr>
        <p:txBody>
          <a:bodyPr/>
          <a:p/>
        </p:txBody>
      </p:sp>
      <p:sp>
        <p:nvSpPr>
          <p:cNvPr id="14" name="Shape 12"/>
          <p:cNvSpPr/>
          <p:nvPr/>
        </p:nvSpPr>
        <p:spPr>
          <a:xfrm>
            <a:off x="6172200" y="2148840"/>
            <a:ext cx="64008" cy="2468880"/>
          </a:xfrm>
          <a:prstGeom prst="rect">
            <a:avLst/>
          </a:prstGeom>
          <a:solidFill>
            <a:srgbClr val="F6A640"/>
          </a:solidFill>
          <a:ln w="12700">
            <a:solidFill>
              <a:srgbClr val="F6A640"/>
            </a:solidFill>
            <a:prstDash val="solid"/>
          </a:ln>
        </p:spPr>
        <p:txBody>
          <a:bodyPr/>
          <a:p/>
        </p:txBody>
      </p:sp>
      <p:sp>
        <p:nvSpPr>
          <p:cNvPr id="15" name="Text 13"/>
          <p:cNvSpPr/>
          <p:nvPr/>
        </p:nvSpPr>
        <p:spPr>
          <a:xfrm>
            <a:off x="6400800" y="2313432"/>
            <a:ext cx="48006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Important limitations</a:t>
            </a:r>
            <a:endParaRPr lang="en-US" sz="1900" dirty="0"/>
          </a:p>
        </p:txBody>
      </p:sp>
      <p:sp>
        <p:nvSpPr>
          <p:cNvPr id="16" name="Text 14"/>
          <p:cNvSpPr/>
          <p:nvPr/>
        </p:nvSpPr>
        <p:spPr>
          <a:xfrm>
            <a:off x="6400800" y="2807208"/>
            <a:ext cx="4800600" cy="170992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Model mistakes, missing fields, confidence uncertainty, sensitive data and operational cost.</a:t>
            </a:r>
            <a:endParaRPr lang="en-US" sz="1500" dirty="0"/>
          </a:p>
        </p:txBody>
      </p:sp>
      <p:sp>
        <p:nvSpPr>
          <p:cNvPr id="17" name="Text 15"/>
          <p:cNvSpPr/>
          <p:nvPr/>
        </p:nvSpPr>
        <p:spPr>
          <a:xfrm>
            <a:off x="914400" y="5093208"/>
            <a:ext cx="10424160" cy="594360"/>
          </a:xfrm>
          <a:prstGeom prst="rect">
            <a:avLst/>
          </a:prstGeom>
          <a:noFill/>
          <a:ln/>
        </p:spPr>
        <p:txBody>
          <a:bodyPr wrap="square" lIns="0" tIns="0" rIns="0" bIns="0" rtlCol="0" anchor="ctr"/>
          <a:lstStyle/>
          <a:p>
            <a:pPr algn="ctr" indent="0" marL="0">
              <a:buNone/>
            </a:pPr>
            <a:r>
              <a:rPr lang="en-US" sz="1800" b="1" dirty="0">
                <a:solidFill>
                  <a:srgbClr val="1768C1"/>
                </a:solidFill>
                <a:latin typeface="Aptos" pitchFamily="34" charset="0"/>
                <a:ea typeface="Aptos" pitchFamily="34" charset="-122"/>
                <a:cs typeface="Aptos" pitchFamily="34" charset="-120"/>
              </a:rPr>
              <a:t>Question: Which fields would require human confirmation before a lending decision?</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REAL-WORLD DESIGN</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Putting Service Bus and Azure AI together</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Illustrative target architecture—not an already deployed integration</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30</a:t>
            </a:r>
            <a:endParaRPr lang="en-US" sz="1000" dirty="0"/>
          </a:p>
        </p:txBody>
      </p:sp>
      <p:sp>
        <p:nvSpPr>
          <p:cNvPr id="9" name="Shape 7"/>
          <p:cNvSpPr/>
          <p:nvPr/>
        </p:nvSpPr>
        <p:spPr>
          <a:xfrm>
            <a:off x="640080" y="242316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10" name="Text 8"/>
          <p:cNvSpPr/>
          <p:nvPr/>
        </p:nvSpPr>
        <p:spPr>
          <a:xfrm>
            <a:off x="777240"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Upload / API</a:t>
            </a:r>
            <a:endParaRPr lang="en-US" sz="1700" dirty="0"/>
          </a:p>
        </p:txBody>
      </p:sp>
      <p:sp>
        <p:nvSpPr>
          <p:cNvPr id="11" name="Text 9"/>
          <p:cNvSpPr/>
          <p:nvPr/>
        </p:nvSpPr>
        <p:spPr>
          <a:xfrm>
            <a:off x="768096"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Creates job</a:t>
            </a:r>
            <a:endParaRPr lang="en-US" sz="1300" dirty="0"/>
          </a:p>
        </p:txBody>
      </p:sp>
      <p:sp>
        <p:nvSpPr>
          <p:cNvPr id="12" name="Text 10"/>
          <p:cNvSpPr/>
          <p:nvPr/>
        </p:nvSpPr>
        <p:spPr>
          <a:xfrm>
            <a:off x="2598725"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3" name="Shape 11"/>
          <p:cNvSpPr/>
          <p:nvPr/>
        </p:nvSpPr>
        <p:spPr>
          <a:xfrm>
            <a:off x="2891333" y="2423160"/>
            <a:ext cx="1922069" cy="1188720"/>
          </a:xfrm>
          <a:prstGeom prst="roundRect">
            <a:avLst>
              <a:gd name="adj" fmla="val 12308"/>
            </a:avLst>
          </a:prstGeom>
          <a:solidFill>
            <a:srgbClr val="EAF8F8"/>
          </a:solidFill>
          <a:ln w="12700">
            <a:solidFill>
              <a:srgbClr val="EAF8F8"/>
            </a:solidFill>
            <a:prstDash val="solid"/>
          </a:ln>
        </p:spPr>
        <p:txBody>
          <a:bodyPr/>
          <a:p/>
        </p:txBody>
      </p:sp>
      <p:sp>
        <p:nvSpPr>
          <p:cNvPr id="14" name="Text 12"/>
          <p:cNvSpPr/>
          <p:nvPr/>
        </p:nvSpPr>
        <p:spPr>
          <a:xfrm>
            <a:off x="3028493"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Blob Storage</a:t>
            </a:r>
            <a:endParaRPr lang="en-US" sz="1700" dirty="0"/>
          </a:p>
        </p:txBody>
      </p:sp>
      <p:sp>
        <p:nvSpPr>
          <p:cNvPr id="15" name="Text 13"/>
          <p:cNvSpPr/>
          <p:nvPr/>
        </p:nvSpPr>
        <p:spPr>
          <a:xfrm>
            <a:off x="3019349"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Holds document</a:t>
            </a:r>
            <a:endParaRPr lang="en-US" sz="1300" dirty="0"/>
          </a:p>
        </p:txBody>
      </p:sp>
      <p:sp>
        <p:nvSpPr>
          <p:cNvPr id="16" name="Text 14"/>
          <p:cNvSpPr/>
          <p:nvPr/>
        </p:nvSpPr>
        <p:spPr>
          <a:xfrm>
            <a:off x="4849978"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17" name="Shape 15"/>
          <p:cNvSpPr/>
          <p:nvPr/>
        </p:nvSpPr>
        <p:spPr>
          <a:xfrm>
            <a:off x="5142586" y="242316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18" name="Text 16"/>
          <p:cNvSpPr/>
          <p:nvPr/>
        </p:nvSpPr>
        <p:spPr>
          <a:xfrm>
            <a:off x="5279746"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Service Bus</a:t>
            </a:r>
            <a:endParaRPr lang="en-US" sz="1700" dirty="0"/>
          </a:p>
        </p:txBody>
      </p:sp>
      <p:sp>
        <p:nvSpPr>
          <p:cNvPr id="19" name="Text 17"/>
          <p:cNvSpPr/>
          <p:nvPr/>
        </p:nvSpPr>
        <p:spPr>
          <a:xfrm>
            <a:off x="5270602"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Queues reference</a:t>
            </a:r>
            <a:endParaRPr lang="en-US" sz="1300" dirty="0"/>
          </a:p>
        </p:txBody>
      </p:sp>
      <p:sp>
        <p:nvSpPr>
          <p:cNvPr id="20" name="Text 18"/>
          <p:cNvSpPr/>
          <p:nvPr/>
        </p:nvSpPr>
        <p:spPr>
          <a:xfrm>
            <a:off x="7101230"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1" name="Shape 19"/>
          <p:cNvSpPr/>
          <p:nvPr/>
        </p:nvSpPr>
        <p:spPr>
          <a:xfrm>
            <a:off x="7393838" y="2423160"/>
            <a:ext cx="1922069" cy="1188720"/>
          </a:xfrm>
          <a:prstGeom prst="roundRect">
            <a:avLst>
              <a:gd name="adj" fmla="val 12308"/>
            </a:avLst>
          </a:prstGeom>
          <a:solidFill>
            <a:srgbClr val="EAF8F8"/>
          </a:solidFill>
          <a:ln w="12700">
            <a:solidFill>
              <a:srgbClr val="EAF8F8"/>
            </a:solidFill>
            <a:prstDash val="solid"/>
          </a:ln>
        </p:spPr>
        <p:txBody>
          <a:bodyPr/>
          <a:p/>
        </p:txBody>
      </p:sp>
      <p:sp>
        <p:nvSpPr>
          <p:cNvPr id="22" name="Text 20"/>
          <p:cNvSpPr/>
          <p:nvPr/>
        </p:nvSpPr>
        <p:spPr>
          <a:xfrm>
            <a:off x="7530998"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Worker</a:t>
            </a:r>
            <a:endParaRPr lang="en-US" sz="1700" dirty="0"/>
          </a:p>
        </p:txBody>
      </p:sp>
      <p:sp>
        <p:nvSpPr>
          <p:cNvPr id="23" name="Text 21"/>
          <p:cNvSpPr/>
          <p:nvPr/>
        </p:nvSpPr>
        <p:spPr>
          <a:xfrm>
            <a:off x="7521854"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Calls AI service</a:t>
            </a:r>
            <a:endParaRPr lang="en-US" sz="1300" dirty="0"/>
          </a:p>
        </p:txBody>
      </p:sp>
      <p:sp>
        <p:nvSpPr>
          <p:cNvPr id="24" name="Text 22"/>
          <p:cNvSpPr/>
          <p:nvPr/>
        </p:nvSpPr>
        <p:spPr>
          <a:xfrm>
            <a:off x="9352483" y="2862072"/>
            <a:ext cx="265176" cy="365760"/>
          </a:xfrm>
          <a:prstGeom prst="rect">
            <a:avLst/>
          </a:prstGeom>
          <a:noFill/>
          <a:ln/>
        </p:spPr>
        <p:txBody>
          <a:bodyPr wrap="square" lIns="0" tIns="0" rIns="0" bIns="0" rtlCol="0" anchor="ctr"/>
          <a:lstStyle/>
          <a:p>
            <a:pPr algn="ctr" indent="0" marL="0">
              <a:buNone/>
            </a:pPr>
            <a:r>
              <a:rPr lang="en-US" sz="2300" b="1" dirty="0">
                <a:solidFill>
                  <a:srgbClr val="1768C1"/>
                </a:solidFill>
                <a:latin typeface="Aptos" pitchFamily="34" charset="0"/>
                <a:ea typeface="Aptos" pitchFamily="34" charset="-122"/>
                <a:cs typeface="Aptos" pitchFamily="34" charset="-120"/>
              </a:rPr>
              <a:t>→</a:t>
            </a:r>
            <a:endParaRPr lang="en-US" sz="2300" dirty="0"/>
          </a:p>
        </p:txBody>
      </p:sp>
      <p:sp>
        <p:nvSpPr>
          <p:cNvPr id="25" name="Shape 23"/>
          <p:cNvSpPr/>
          <p:nvPr/>
        </p:nvSpPr>
        <p:spPr>
          <a:xfrm>
            <a:off x="9645091" y="2423160"/>
            <a:ext cx="1922069" cy="1188720"/>
          </a:xfrm>
          <a:prstGeom prst="roundRect">
            <a:avLst>
              <a:gd name="adj" fmla="val 12308"/>
            </a:avLst>
          </a:prstGeom>
          <a:solidFill>
            <a:srgbClr val="EEF5FC"/>
          </a:solidFill>
          <a:ln w="12700">
            <a:solidFill>
              <a:srgbClr val="EEF5FC"/>
            </a:solidFill>
            <a:prstDash val="solid"/>
          </a:ln>
        </p:spPr>
        <p:txBody>
          <a:bodyPr/>
          <a:p/>
        </p:txBody>
      </p:sp>
      <p:sp>
        <p:nvSpPr>
          <p:cNvPr id="26" name="Text 24"/>
          <p:cNvSpPr/>
          <p:nvPr/>
        </p:nvSpPr>
        <p:spPr>
          <a:xfrm>
            <a:off x="9782251" y="2624328"/>
            <a:ext cx="1647749" cy="329184"/>
          </a:xfrm>
          <a:prstGeom prst="rect">
            <a:avLst/>
          </a:prstGeom>
          <a:noFill/>
          <a:ln/>
        </p:spPr>
        <p:txBody>
          <a:bodyPr wrap="square" lIns="0" tIns="0" rIns="0" bIns="0" rtlCol="0" anchor="ctr"/>
          <a:lstStyle/>
          <a:p>
            <a:pPr algn="ctr" indent="0" marL="0">
              <a:buNone/>
            </a:pPr>
            <a:r>
              <a:rPr lang="en-US" sz="1700" b="1" dirty="0">
                <a:solidFill>
                  <a:srgbClr val="1E3047"/>
                </a:solidFill>
                <a:latin typeface="Aptos" pitchFamily="34" charset="0"/>
                <a:ea typeface="Aptos" pitchFamily="34" charset="-122"/>
                <a:cs typeface="Aptos" pitchFamily="34" charset="-120"/>
              </a:rPr>
              <a:t>Review UI</a:t>
            </a:r>
            <a:endParaRPr lang="en-US" sz="1700" dirty="0"/>
          </a:p>
        </p:txBody>
      </p:sp>
      <p:sp>
        <p:nvSpPr>
          <p:cNvPr id="27" name="Text 25"/>
          <p:cNvSpPr/>
          <p:nvPr/>
        </p:nvSpPr>
        <p:spPr>
          <a:xfrm>
            <a:off x="9773107" y="3035808"/>
            <a:ext cx="1666037" cy="411480"/>
          </a:xfrm>
          <a:prstGeom prst="rect">
            <a:avLst/>
          </a:prstGeom>
          <a:noFill/>
          <a:ln/>
        </p:spPr>
        <p:txBody>
          <a:bodyPr wrap="square" lIns="0" tIns="0" rIns="0" bIns="0" rtlCol="0" anchor="ctr"/>
          <a:lstStyle/>
          <a:p>
            <a:pPr algn="ctr" indent="0" marL="0">
              <a:buNone/>
            </a:pPr>
            <a:r>
              <a:rPr lang="en-US" sz="1300" dirty="0">
                <a:solidFill>
                  <a:srgbClr val="1E3047"/>
                </a:solidFill>
                <a:latin typeface="Aptos" pitchFamily="34" charset="0"/>
                <a:ea typeface="Aptos" pitchFamily="34" charset="-122"/>
                <a:cs typeface="Aptos" pitchFamily="34" charset="-120"/>
              </a:rPr>
              <a:t>Shows result</a:t>
            </a:r>
            <a:endParaRPr lang="en-US" sz="1300" dirty="0"/>
          </a:p>
        </p:txBody>
      </p:sp>
      <p:sp>
        <p:nvSpPr>
          <p:cNvPr id="28" name="Shape 26"/>
          <p:cNvSpPr/>
          <p:nvPr/>
        </p:nvSpPr>
        <p:spPr>
          <a:xfrm>
            <a:off x="914400" y="4617720"/>
            <a:ext cx="10241280" cy="1005840"/>
          </a:xfrm>
          <a:prstGeom prst="roundRect">
            <a:avLst>
              <a:gd name="adj" fmla="val 14545"/>
            </a:avLst>
          </a:prstGeom>
          <a:solidFill>
            <a:srgbClr val="EEF5FC"/>
          </a:solidFill>
          <a:ln w="12700">
            <a:solidFill>
              <a:srgbClr val="EEF5FC"/>
            </a:solidFill>
            <a:prstDash val="solid"/>
          </a:ln>
        </p:spPr>
        <p:txBody>
          <a:bodyPr/>
          <a:p/>
        </p:txBody>
      </p:sp>
      <p:sp>
        <p:nvSpPr>
          <p:cNvPr id="29" name="Text 27"/>
          <p:cNvSpPr/>
          <p:nvPr/>
        </p:nvSpPr>
        <p:spPr>
          <a:xfrm>
            <a:off x="1234440" y="4837176"/>
            <a:ext cx="9601200" cy="548640"/>
          </a:xfrm>
          <a:prstGeom prst="rect">
            <a:avLst/>
          </a:prstGeom>
          <a:noFill/>
          <a:ln/>
        </p:spPr>
        <p:txBody>
          <a:bodyPr wrap="square" lIns="0" tIns="0" rIns="0" bIns="0" rtlCol="0" anchor="ctr"/>
          <a:lstStyle/>
          <a:p>
            <a:pPr algn="ctr" indent="0" marL="0">
              <a:buNone/>
            </a:pPr>
            <a:r>
              <a:rPr lang="en-US" sz="1800" b="1" dirty="0">
                <a:solidFill>
                  <a:srgbClr val="1E3047"/>
                </a:solidFill>
                <a:latin typeface="Aptos" pitchFamily="34" charset="0"/>
                <a:ea typeface="Aptos" pitchFamily="34" charset="-122"/>
                <a:cs typeface="Aptos" pitchFamily="34" charset="-120"/>
              </a:rPr>
              <a:t>Production design also needs Entra identities, durable status, retries, telemetry and access controls.</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OPERATIONAL READINESS</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How do we know the workflow is healthy?</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Bring yesterday’s monitoring services into the design</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31</a:t>
            </a:r>
            <a:endParaRPr lang="en-US" sz="1000" dirty="0"/>
          </a:p>
        </p:txBody>
      </p:sp>
      <p:sp>
        <p:nvSpPr>
          <p:cNvPr id="9" name="Shape 7"/>
          <p:cNvSpPr/>
          <p:nvPr/>
        </p:nvSpPr>
        <p:spPr>
          <a:xfrm>
            <a:off x="731520" y="2011680"/>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0" name="Shape 8"/>
          <p:cNvSpPr/>
          <p:nvPr/>
        </p:nvSpPr>
        <p:spPr>
          <a:xfrm>
            <a:off x="731520" y="2011680"/>
            <a:ext cx="64008" cy="1417320"/>
          </a:xfrm>
          <a:prstGeom prst="rect">
            <a:avLst/>
          </a:prstGeom>
          <a:solidFill>
            <a:srgbClr val="1768C1"/>
          </a:solidFill>
          <a:ln w="12700">
            <a:solidFill>
              <a:srgbClr val="1768C1"/>
            </a:solidFill>
            <a:prstDash val="solid"/>
          </a:ln>
        </p:spPr>
        <p:txBody>
          <a:bodyPr/>
          <a:p/>
        </p:txBody>
      </p:sp>
      <p:sp>
        <p:nvSpPr>
          <p:cNvPr id="11" name="Text 9"/>
          <p:cNvSpPr/>
          <p:nvPr/>
        </p:nvSpPr>
        <p:spPr>
          <a:xfrm>
            <a:off x="960120" y="2176272"/>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Application Insights</a:t>
            </a:r>
            <a:endParaRPr lang="en-US" sz="1900" dirty="0"/>
          </a:p>
        </p:txBody>
      </p:sp>
      <p:sp>
        <p:nvSpPr>
          <p:cNvPr id="12" name="Text 10"/>
          <p:cNvSpPr/>
          <p:nvPr/>
        </p:nvSpPr>
        <p:spPr>
          <a:xfrm>
            <a:off x="960120" y="2670048"/>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Request traces, failures, dependencies and latency.</a:t>
            </a:r>
            <a:endParaRPr lang="en-US" sz="1500" dirty="0"/>
          </a:p>
        </p:txBody>
      </p:sp>
      <p:sp>
        <p:nvSpPr>
          <p:cNvPr id="13" name="Shape 11"/>
          <p:cNvSpPr/>
          <p:nvPr/>
        </p:nvSpPr>
        <p:spPr>
          <a:xfrm>
            <a:off x="6400800" y="2011680"/>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4" name="Shape 12"/>
          <p:cNvSpPr/>
          <p:nvPr/>
        </p:nvSpPr>
        <p:spPr>
          <a:xfrm>
            <a:off x="6400800" y="2011680"/>
            <a:ext cx="64008" cy="1417320"/>
          </a:xfrm>
          <a:prstGeom prst="rect">
            <a:avLst/>
          </a:prstGeom>
          <a:solidFill>
            <a:srgbClr val="1768C1"/>
          </a:solidFill>
          <a:ln w="12700">
            <a:solidFill>
              <a:srgbClr val="1768C1"/>
            </a:solidFill>
            <a:prstDash val="solid"/>
          </a:ln>
        </p:spPr>
        <p:txBody>
          <a:bodyPr/>
          <a:p/>
        </p:txBody>
      </p:sp>
      <p:sp>
        <p:nvSpPr>
          <p:cNvPr id="15" name="Text 13"/>
          <p:cNvSpPr/>
          <p:nvPr/>
        </p:nvSpPr>
        <p:spPr>
          <a:xfrm>
            <a:off x="6629400" y="2176272"/>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Log Analytics</a:t>
            </a:r>
            <a:endParaRPr lang="en-US" sz="1900" dirty="0"/>
          </a:p>
        </p:txBody>
      </p:sp>
      <p:sp>
        <p:nvSpPr>
          <p:cNvPr id="16" name="Text 14"/>
          <p:cNvSpPr/>
          <p:nvPr/>
        </p:nvSpPr>
        <p:spPr>
          <a:xfrm>
            <a:off x="6629400" y="2670048"/>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Query correlated operational logs using KQL.</a:t>
            </a:r>
            <a:endParaRPr lang="en-US" sz="1500" dirty="0"/>
          </a:p>
        </p:txBody>
      </p:sp>
      <p:sp>
        <p:nvSpPr>
          <p:cNvPr id="17" name="Shape 15"/>
          <p:cNvSpPr/>
          <p:nvPr/>
        </p:nvSpPr>
        <p:spPr>
          <a:xfrm>
            <a:off x="731520" y="36301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18" name="Shape 16"/>
          <p:cNvSpPr/>
          <p:nvPr/>
        </p:nvSpPr>
        <p:spPr>
          <a:xfrm>
            <a:off x="731520" y="3630168"/>
            <a:ext cx="64008" cy="1417320"/>
          </a:xfrm>
          <a:prstGeom prst="rect">
            <a:avLst/>
          </a:prstGeom>
          <a:solidFill>
            <a:srgbClr val="1768C1"/>
          </a:solidFill>
          <a:ln w="12700">
            <a:solidFill>
              <a:srgbClr val="1768C1"/>
            </a:solidFill>
            <a:prstDash val="solid"/>
          </a:ln>
        </p:spPr>
        <p:txBody>
          <a:bodyPr/>
          <a:p/>
        </p:txBody>
      </p:sp>
      <p:sp>
        <p:nvSpPr>
          <p:cNvPr id="19" name="Text 17"/>
          <p:cNvSpPr/>
          <p:nvPr/>
        </p:nvSpPr>
        <p:spPr>
          <a:xfrm>
            <a:off x="960120" y="37947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Azure Load Testing</a:t>
            </a:r>
            <a:endParaRPr lang="en-US" sz="1900" dirty="0"/>
          </a:p>
        </p:txBody>
      </p:sp>
      <p:sp>
        <p:nvSpPr>
          <p:cNvPr id="20" name="Text 18"/>
          <p:cNvSpPr/>
          <p:nvPr/>
        </p:nvSpPr>
        <p:spPr>
          <a:xfrm>
            <a:off x="960120" y="42885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Test an approved workload under controlled traffic.</a:t>
            </a:r>
            <a:endParaRPr lang="en-US" sz="1500" dirty="0"/>
          </a:p>
        </p:txBody>
      </p:sp>
      <p:sp>
        <p:nvSpPr>
          <p:cNvPr id="21" name="Shape 19"/>
          <p:cNvSpPr/>
          <p:nvPr/>
        </p:nvSpPr>
        <p:spPr>
          <a:xfrm>
            <a:off x="6400800" y="3630168"/>
            <a:ext cx="5394960" cy="1417320"/>
          </a:xfrm>
          <a:prstGeom prst="roundRect">
            <a:avLst>
              <a:gd name="adj" fmla="val 10323"/>
            </a:avLst>
          </a:prstGeom>
          <a:solidFill>
            <a:srgbClr val="F3F7FB"/>
          </a:solidFill>
          <a:ln w="12700">
            <a:solidFill>
              <a:srgbClr val="F3F7FB"/>
            </a:solidFill>
            <a:prstDash val="solid"/>
          </a:ln>
        </p:spPr>
        <p:txBody>
          <a:bodyPr/>
          <a:p/>
        </p:txBody>
      </p:sp>
      <p:sp>
        <p:nvSpPr>
          <p:cNvPr id="22" name="Shape 20"/>
          <p:cNvSpPr/>
          <p:nvPr/>
        </p:nvSpPr>
        <p:spPr>
          <a:xfrm>
            <a:off x="6400800" y="3630168"/>
            <a:ext cx="64008" cy="1417320"/>
          </a:xfrm>
          <a:prstGeom prst="rect">
            <a:avLst/>
          </a:prstGeom>
          <a:solidFill>
            <a:srgbClr val="1768C1"/>
          </a:solidFill>
          <a:ln w="12700">
            <a:solidFill>
              <a:srgbClr val="1768C1"/>
            </a:solidFill>
            <a:prstDash val="solid"/>
          </a:ln>
        </p:spPr>
        <p:txBody>
          <a:bodyPr/>
          <a:p/>
        </p:txBody>
      </p:sp>
      <p:sp>
        <p:nvSpPr>
          <p:cNvPr id="23" name="Text 21"/>
          <p:cNvSpPr/>
          <p:nvPr/>
        </p:nvSpPr>
        <p:spPr>
          <a:xfrm>
            <a:off x="6629400" y="3794760"/>
            <a:ext cx="493776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Cost Management</a:t>
            </a:r>
            <a:endParaRPr lang="en-US" sz="1900" dirty="0"/>
          </a:p>
        </p:txBody>
      </p:sp>
      <p:sp>
        <p:nvSpPr>
          <p:cNvPr id="24" name="Text 22"/>
          <p:cNvSpPr/>
          <p:nvPr/>
        </p:nvSpPr>
        <p:spPr>
          <a:xfrm>
            <a:off x="6629400" y="4288536"/>
            <a:ext cx="4937760" cy="65836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Review spend, forecasts, budgets and resource-level cost drivers.</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KNOWLEDGE CHECK</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Explain the architecture without the slides</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Use the fictional mortgage-processing scenario</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32</a:t>
            </a:r>
            <a:endParaRPr lang="en-US" sz="1000" dirty="0"/>
          </a:p>
        </p:txBody>
      </p:sp>
      <p:sp>
        <p:nvSpPr>
          <p:cNvPr id="9" name="Shape 7"/>
          <p:cNvSpPr/>
          <p:nvPr/>
        </p:nvSpPr>
        <p:spPr>
          <a:xfrm>
            <a:off x="868680" y="2103120"/>
            <a:ext cx="91440" cy="91440"/>
          </a:xfrm>
          <a:prstGeom prst="roundRect">
            <a:avLst>
              <a:gd name="adj" fmla="val 160000"/>
            </a:avLst>
          </a:prstGeom>
          <a:solidFill>
            <a:srgbClr val="2EB8D1"/>
          </a:solidFill>
          <a:ln w="12700">
            <a:solidFill>
              <a:srgbClr val="2EB8D1"/>
            </a:solidFill>
            <a:prstDash val="solid"/>
          </a:ln>
        </p:spPr>
        <p:txBody>
          <a:bodyPr/>
          <a:p/>
        </p:txBody>
      </p:sp>
      <p:sp>
        <p:nvSpPr>
          <p:cNvPr id="10" name="Text 8"/>
          <p:cNvSpPr/>
          <p:nvPr/>
        </p:nvSpPr>
        <p:spPr>
          <a:xfrm>
            <a:off x="1106424" y="2011680"/>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Why is Service Bus useful when downstream processing is slow?</a:t>
            </a:r>
            <a:endParaRPr lang="en-US" sz="1800" dirty="0"/>
          </a:p>
        </p:txBody>
      </p:sp>
      <p:sp>
        <p:nvSpPr>
          <p:cNvPr id="11" name="Shape 9"/>
          <p:cNvSpPr/>
          <p:nvPr/>
        </p:nvSpPr>
        <p:spPr>
          <a:xfrm>
            <a:off x="868680" y="2807208"/>
            <a:ext cx="91440" cy="91440"/>
          </a:xfrm>
          <a:prstGeom prst="roundRect">
            <a:avLst>
              <a:gd name="adj" fmla="val 160000"/>
            </a:avLst>
          </a:prstGeom>
          <a:solidFill>
            <a:srgbClr val="2EB8D1"/>
          </a:solidFill>
          <a:ln w="12700">
            <a:solidFill>
              <a:srgbClr val="2EB8D1"/>
            </a:solidFill>
            <a:prstDash val="solid"/>
          </a:ln>
        </p:spPr>
        <p:txBody>
          <a:bodyPr/>
          <a:p/>
        </p:txBody>
      </p:sp>
      <p:sp>
        <p:nvSpPr>
          <p:cNvPr id="12" name="Text 10"/>
          <p:cNvSpPr/>
          <p:nvPr/>
        </p:nvSpPr>
        <p:spPr>
          <a:xfrm>
            <a:off x="1106424" y="2715768"/>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What is the difference between a queue and a topic?</a:t>
            </a:r>
            <a:endParaRPr lang="en-US" sz="1800" dirty="0"/>
          </a:p>
        </p:txBody>
      </p:sp>
      <p:sp>
        <p:nvSpPr>
          <p:cNvPr id="13" name="Shape 11"/>
          <p:cNvSpPr/>
          <p:nvPr/>
        </p:nvSpPr>
        <p:spPr>
          <a:xfrm>
            <a:off x="868680" y="3511296"/>
            <a:ext cx="91440" cy="91440"/>
          </a:xfrm>
          <a:prstGeom prst="roundRect">
            <a:avLst>
              <a:gd name="adj" fmla="val 160000"/>
            </a:avLst>
          </a:prstGeom>
          <a:solidFill>
            <a:srgbClr val="2EB8D1"/>
          </a:solidFill>
          <a:ln w="12700">
            <a:solidFill>
              <a:srgbClr val="2EB8D1"/>
            </a:solidFill>
            <a:prstDash val="solid"/>
          </a:ln>
        </p:spPr>
        <p:txBody>
          <a:bodyPr/>
          <a:p/>
        </p:txBody>
      </p:sp>
      <p:sp>
        <p:nvSpPr>
          <p:cNvPr id="14" name="Text 12"/>
          <p:cNvSpPr/>
          <p:nvPr/>
        </p:nvSpPr>
        <p:spPr>
          <a:xfrm>
            <a:off x="1106424" y="3419856"/>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Does Peek remove a message? What does Complete do?</a:t>
            </a:r>
            <a:endParaRPr lang="en-US" sz="1800" dirty="0"/>
          </a:p>
        </p:txBody>
      </p:sp>
      <p:sp>
        <p:nvSpPr>
          <p:cNvPr id="15" name="Shape 13"/>
          <p:cNvSpPr/>
          <p:nvPr/>
        </p:nvSpPr>
        <p:spPr>
          <a:xfrm>
            <a:off x="868680" y="4215384"/>
            <a:ext cx="91440" cy="91440"/>
          </a:xfrm>
          <a:prstGeom prst="roundRect">
            <a:avLst>
              <a:gd name="adj" fmla="val 160000"/>
            </a:avLst>
          </a:prstGeom>
          <a:solidFill>
            <a:srgbClr val="2EB8D1"/>
          </a:solidFill>
          <a:ln w="12700">
            <a:solidFill>
              <a:srgbClr val="2EB8D1"/>
            </a:solidFill>
            <a:prstDash val="solid"/>
          </a:ln>
        </p:spPr>
        <p:txBody>
          <a:bodyPr/>
          <a:p/>
        </p:txBody>
      </p:sp>
      <p:sp>
        <p:nvSpPr>
          <p:cNvPr id="16" name="Text 14"/>
          <p:cNvSpPr/>
          <p:nvPr/>
        </p:nvSpPr>
        <p:spPr>
          <a:xfrm>
            <a:off x="1106424" y="4123944"/>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Which Azure AI service would extract fields from a form?</a:t>
            </a:r>
            <a:endParaRPr lang="en-US" sz="1800" dirty="0"/>
          </a:p>
        </p:txBody>
      </p:sp>
      <p:sp>
        <p:nvSpPr>
          <p:cNvPr id="17" name="Shape 15"/>
          <p:cNvSpPr/>
          <p:nvPr/>
        </p:nvSpPr>
        <p:spPr>
          <a:xfrm>
            <a:off x="868680" y="4919472"/>
            <a:ext cx="91440" cy="91440"/>
          </a:xfrm>
          <a:prstGeom prst="roundRect">
            <a:avLst>
              <a:gd name="adj" fmla="val 160000"/>
            </a:avLst>
          </a:prstGeom>
          <a:solidFill>
            <a:srgbClr val="2EB8D1"/>
          </a:solidFill>
          <a:ln w="12700">
            <a:solidFill>
              <a:srgbClr val="2EB8D1"/>
            </a:solidFill>
            <a:prstDash val="solid"/>
          </a:ln>
        </p:spPr>
        <p:txBody>
          <a:bodyPr/>
          <a:p/>
        </p:txBody>
      </p:sp>
      <p:sp>
        <p:nvSpPr>
          <p:cNvPr id="18" name="Text 16"/>
          <p:cNvSpPr/>
          <p:nvPr/>
        </p:nvSpPr>
        <p:spPr>
          <a:xfrm>
            <a:off x="1106424" y="4828032"/>
            <a:ext cx="10277856" cy="640080"/>
          </a:xfrm>
          <a:prstGeom prst="rect">
            <a:avLst/>
          </a:prstGeom>
          <a:noFill/>
          <a:ln/>
        </p:spPr>
        <p:txBody>
          <a:bodyPr wrap="square" lIns="0" tIns="0" rIns="0" bIns="0" rtlCol="0" anchor="ctr"/>
          <a:lstStyle/>
          <a:p>
            <a:pPr indent="0" marL="0">
              <a:buNone/>
            </a:pPr>
            <a:r>
              <a:rPr lang="en-US" sz="1800" dirty="0">
                <a:solidFill>
                  <a:srgbClr val="1E3047"/>
                </a:solidFill>
                <a:latin typeface="Aptos" pitchFamily="34" charset="0"/>
                <a:ea typeface="Aptos" pitchFamily="34" charset="-122"/>
                <a:cs typeface="Aptos" pitchFamily="34" charset="-120"/>
              </a:rPr>
              <a:t>Where would you look for failures, latency and costs?</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B8D1"/>
          </a:solidFill>
          <a:ln w="12700">
            <a:solidFill>
              <a:srgbClr val="2EB8D1"/>
            </a:solidFill>
            <a:prstDash val="solid"/>
          </a:ln>
        </p:spPr>
        <p:txBody>
          <a:bodyPr/>
          <a:p/>
        </p:txBody>
      </p:sp>
      <p:sp>
        <p:nvSpPr>
          <p:cNvPr id="3" name="Text 1"/>
          <p:cNvSpPr/>
          <p:nvPr/>
        </p:nvSpPr>
        <p:spPr>
          <a:xfrm>
            <a:off x="594360" y="320040"/>
            <a:ext cx="9144000" cy="274320"/>
          </a:xfrm>
          <a:prstGeom prst="rect">
            <a:avLst/>
          </a:prstGeom>
          <a:noFill/>
          <a:ln/>
        </p:spPr>
        <p:txBody>
          <a:bodyPr wrap="square" lIns="0" tIns="0" rIns="0" bIns="0" rtlCol="0" anchor="ctr"/>
          <a:lstStyle/>
          <a:p>
            <a:pPr indent="0" marL="0">
              <a:buNone/>
            </a:pPr>
            <a:r>
              <a:rPr lang="en-US" sz="1100" b="1" spc="180" kern="0" dirty="0">
                <a:solidFill>
                  <a:srgbClr val="1768C1"/>
                </a:solidFill>
                <a:latin typeface="Aptos" pitchFamily="34" charset="0"/>
                <a:ea typeface="Aptos" pitchFamily="34" charset="-122"/>
                <a:cs typeface="Aptos" pitchFamily="34" charset="-120"/>
              </a:rPr>
              <a:t>WRAP-UP</a:t>
            </a:r>
            <a:endParaRPr lang="en-US" sz="1100" dirty="0"/>
          </a:p>
        </p:txBody>
      </p:sp>
      <p:sp>
        <p:nvSpPr>
          <p:cNvPr id="4" name="Text 2"/>
          <p:cNvSpPr/>
          <p:nvPr/>
        </p:nvSpPr>
        <p:spPr>
          <a:xfrm>
            <a:off x="594360" y="758952"/>
            <a:ext cx="10972800" cy="685800"/>
          </a:xfrm>
          <a:prstGeom prst="rect">
            <a:avLst/>
          </a:prstGeom>
          <a:noFill/>
          <a:ln/>
        </p:spPr>
        <p:txBody>
          <a:bodyPr wrap="square" lIns="0" tIns="0" rIns="0" bIns="0" rtlCol="0" anchor="ctr"/>
          <a:lstStyle/>
          <a:p>
            <a:pPr indent="0" marL="0">
              <a:buNone/>
            </a:pPr>
            <a:r>
              <a:rPr lang="en-US" sz="3000" b="1" dirty="0">
                <a:solidFill>
                  <a:srgbClr val="101D35"/>
                </a:solidFill>
                <a:latin typeface="Aptos" pitchFamily="34" charset="0"/>
                <a:ea typeface="Aptos" pitchFamily="34" charset="-122"/>
                <a:cs typeface="Aptos" pitchFamily="34" charset="-120"/>
              </a:rPr>
              <a:t>What we learned today</a:t>
            </a:r>
            <a:endParaRPr lang="en-US" sz="3000" dirty="0"/>
          </a:p>
        </p:txBody>
      </p:sp>
      <p:sp>
        <p:nvSpPr>
          <p:cNvPr id="5" name="Text 3"/>
          <p:cNvSpPr/>
          <p:nvPr/>
        </p:nvSpPr>
        <p:spPr>
          <a:xfrm>
            <a:off x="612648" y="1481328"/>
            <a:ext cx="10789920" cy="512064"/>
          </a:xfrm>
          <a:prstGeom prst="rect">
            <a:avLst/>
          </a:prstGeom>
          <a:noFill/>
          <a:ln/>
        </p:spPr>
        <p:txBody>
          <a:bodyPr wrap="square" lIns="0" tIns="0" rIns="0" bIns="0" rtlCol="0" anchor="ctr"/>
          <a:lstStyle/>
          <a:p>
            <a:pPr indent="0" marL="0">
              <a:buNone/>
            </a:pPr>
            <a:r>
              <a:rPr lang="en-US" sz="1500" dirty="0">
                <a:solidFill>
                  <a:srgbClr val="587087"/>
                </a:solidFill>
                <a:latin typeface="Aptos" pitchFamily="34" charset="0"/>
                <a:ea typeface="Aptos" pitchFamily="34" charset="-122"/>
                <a:cs typeface="Aptos" pitchFamily="34" charset="-120"/>
              </a:rPr>
              <a:t>From cloud fundamentals to a practical, governed integration design</a:t>
            </a:r>
            <a:endParaRPr lang="en-US" sz="1500" dirty="0"/>
          </a:p>
        </p:txBody>
      </p:sp>
      <p:sp>
        <p:nvSpPr>
          <p:cNvPr id="6" name="Shape 4"/>
          <p:cNvSpPr/>
          <p:nvPr/>
        </p:nvSpPr>
        <p:spPr>
          <a:xfrm>
            <a:off x="594360" y="6446520"/>
            <a:ext cx="10972800" cy="0"/>
          </a:xfrm>
          <a:prstGeom prst="line">
            <a:avLst/>
          </a:prstGeom>
          <a:noFill/>
          <a:ln w="12700">
            <a:solidFill>
              <a:srgbClr val="DCE6F0"/>
            </a:solidFill>
            <a:prstDash val="solid"/>
          </a:ln>
        </p:spPr>
        <p:txBody>
          <a:bodyPr/>
          <a:p/>
        </p:txBody>
      </p:sp>
      <p:sp>
        <p:nvSpPr>
          <p:cNvPr id="7" name="Text 5"/>
          <p:cNvSpPr/>
          <p:nvPr/>
        </p:nvSpPr>
        <p:spPr>
          <a:xfrm>
            <a:off x="594360" y="6510528"/>
            <a:ext cx="9144000" cy="164592"/>
          </a:xfrm>
          <a:prstGeom prst="rect">
            <a:avLst/>
          </a:prstGeom>
          <a:noFill/>
          <a:ln/>
        </p:spPr>
        <p:txBody>
          <a:bodyPr wrap="square" lIns="0" tIns="0" rIns="0" bIns="0" rtlCol="0" anchor="ctr"/>
          <a:lstStyle/>
          <a:p>
            <a:pPr indent="0" marL="0">
              <a:buNone/>
            </a:pPr>
            <a:r>
              <a:rPr lang="en-US" sz="900" dirty="0">
                <a:solidFill>
                  <a:srgbClr val="587087"/>
                </a:solidFill>
                <a:latin typeface="Aptos" pitchFamily="34" charset="0"/>
                <a:ea typeface="Aptos" pitchFamily="34" charset="-122"/>
                <a:cs typeface="Aptos" pitchFamily="34" charset="-120"/>
              </a:rPr>
              <a:t>LBS  |  Azure Developer Training  |  Day 2  |  V3 Instructor</a:t>
            </a:r>
            <a:endParaRPr lang="en-US" sz="900" dirty="0"/>
          </a:p>
        </p:txBody>
      </p:sp>
      <p:sp>
        <p:nvSpPr>
          <p:cNvPr id="8" name="Text 6"/>
          <p:cNvSpPr/>
          <p:nvPr/>
        </p:nvSpPr>
        <p:spPr>
          <a:xfrm>
            <a:off x="11082528" y="6492240"/>
            <a:ext cx="457200" cy="201168"/>
          </a:xfrm>
          <a:prstGeom prst="rect">
            <a:avLst/>
          </a:prstGeom>
          <a:noFill/>
          <a:ln/>
        </p:spPr>
        <p:txBody>
          <a:bodyPr wrap="square" lIns="0" tIns="0" rIns="0" bIns="0" rtlCol="0" anchor="ctr"/>
          <a:lstStyle/>
          <a:p>
            <a:pPr algn="r" indent="0" marL="0">
              <a:buNone/>
            </a:pPr>
            <a:r>
              <a:rPr lang="en-US" sz="1000" b="1" dirty="0">
                <a:solidFill>
                  <a:srgbClr val="1768C1"/>
                </a:solidFill>
                <a:latin typeface="Aptos" pitchFamily="34" charset="0"/>
                <a:ea typeface="Aptos" pitchFamily="34" charset="-122"/>
                <a:cs typeface="Aptos" pitchFamily="34" charset="-120"/>
              </a:rPr>
              <a:t>33</a:t>
            </a:r>
            <a:endParaRPr lang="en-US" sz="1000" dirty="0"/>
          </a:p>
        </p:txBody>
      </p:sp>
      <p:sp>
        <p:nvSpPr>
          <p:cNvPr id="9" name="Shape 7"/>
          <p:cNvSpPr/>
          <p:nvPr/>
        </p:nvSpPr>
        <p:spPr>
          <a:xfrm>
            <a:off x="777240" y="2240280"/>
            <a:ext cx="3429000" cy="2148840"/>
          </a:xfrm>
          <a:prstGeom prst="roundRect">
            <a:avLst>
              <a:gd name="adj" fmla="val 6809"/>
            </a:avLst>
          </a:prstGeom>
          <a:solidFill>
            <a:srgbClr val="F3F7FB"/>
          </a:solidFill>
          <a:ln w="12700">
            <a:solidFill>
              <a:srgbClr val="F3F7FB"/>
            </a:solidFill>
            <a:prstDash val="solid"/>
          </a:ln>
        </p:spPr>
        <p:txBody>
          <a:bodyPr/>
          <a:p/>
        </p:txBody>
      </p:sp>
      <p:sp>
        <p:nvSpPr>
          <p:cNvPr id="10" name="Shape 8"/>
          <p:cNvSpPr/>
          <p:nvPr/>
        </p:nvSpPr>
        <p:spPr>
          <a:xfrm>
            <a:off x="777240" y="2240280"/>
            <a:ext cx="64008" cy="2148840"/>
          </a:xfrm>
          <a:prstGeom prst="rect">
            <a:avLst/>
          </a:prstGeom>
          <a:solidFill>
            <a:srgbClr val="1768C1"/>
          </a:solidFill>
          <a:ln w="12700">
            <a:solidFill>
              <a:srgbClr val="1768C1"/>
            </a:solidFill>
            <a:prstDash val="solid"/>
          </a:ln>
        </p:spPr>
        <p:txBody>
          <a:bodyPr/>
          <a:p/>
        </p:txBody>
      </p:sp>
      <p:sp>
        <p:nvSpPr>
          <p:cNvPr id="11" name="Text 9"/>
          <p:cNvSpPr/>
          <p:nvPr/>
        </p:nvSpPr>
        <p:spPr>
          <a:xfrm>
            <a:off x="1005840" y="2404872"/>
            <a:ext cx="29718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Recall</a:t>
            </a:r>
            <a:endParaRPr lang="en-US" sz="1900" dirty="0"/>
          </a:p>
        </p:txBody>
      </p:sp>
      <p:sp>
        <p:nvSpPr>
          <p:cNvPr id="12" name="Text 10"/>
          <p:cNvSpPr/>
          <p:nvPr/>
        </p:nvSpPr>
        <p:spPr>
          <a:xfrm>
            <a:off x="1005840" y="2898648"/>
            <a:ext cx="2971800" cy="138988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Azure hierarchy, identity, compute, storage and monitoring.</a:t>
            </a:r>
            <a:endParaRPr lang="en-US" sz="1500" dirty="0"/>
          </a:p>
        </p:txBody>
      </p:sp>
      <p:sp>
        <p:nvSpPr>
          <p:cNvPr id="13" name="Shape 11"/>
          <p:cNvSpPr/>
          <p:nvPr/>
        </p:nvSpPr>
        <p:spPr>
          <a:xfrm>
            <a:off x="4379976" y="2240280"/>
            <a:ext cx="3429000" cy="2148840"/>
          </a:xfrm>
          <a:prstGeom prst="roundRect">
            <a:avLst>
              <a:gd name="adj" fmla="val 6809"/>
            </a:avLst>
          </a:prstGeom>
          <a:solidFill>
            <a:srgbClr val="F3F7FB"/>
          </a:solidFill>
          <a:ln w="12700">
            <a:solidFill>
              <a:srgbClr val="F3F7FB"/>
            </a:solidFill>
            <a:prstDash val="solid"/>
          </a:ln>
        </p:spPr>
        <p:txBody>
          <a:bodyPr/>
          <a:p/>
        </p:txBody>
      </p:sp>
      <p:sp>
        <p:nvSpPr>
          <p:cNvPr id="14" name="Shape 12"/>
          <p:cNvSpPr/>
          <p:nvPr/>
        </p:nvSpPr>
        <p:spPr>
          <a:xfrm>
            <a:off x="4379976" y="2240280"/>
            <a:ext cx="64008" cy="2148840"/>
          </a:xfrm>
          <a:prstGeom prst="rect">
            <a:avLst/>
          </a:prstGeom>
          <a:solidFill>
            <a:srgbClr val="198D76"/>
          </a:solidFill>
          <a:ln w="12700">
            <a:solidFill>
              <a:srgbClr val="198D76"/>
            </a:solidFill>
            <a:prstDash val="solid"/>
          </a:ln>
        </p:spPr>
        <p:txBody>
          <a:bodyPr/>
          <a:p/>
        </p:txBody>
      </p:sp>
      <p:sp>
        <p:nvSpPr>
          <p:cNvPr id="15" name="Text 13"/>
          <p:cNvSpPr/>
          <p:nvPr/>
        </p:nvSpPr>
        <p:spPr>
          <a:xfrm>
            <a:off x="4608576" y="2404872"/>
            <a:ext cx="29718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Build</a:t>
            </a:r>
            <a:endParaRPr lang="en-US" sz="1900" dirty="0"/>
          </a:p>
        </p:txBody>
      </p:sp>
      <p:sp>
        <p:nvSpPr>
          <p:cNvPr id="16" name="Text 14"/>
          <p:cNvSpPr/>
          <p:nvPr/>
        </p:nvSpPr>
        <p:spPr>
          <a:xfrm>
            <a:off x="4608576" y="2898648"/>
            <a:ext cx="2971800" cy="138988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Understand, create and inspect a Service Bus queue.</a:t>
            </a:r>
            <a:endParaRPr lang="en-US" sz="1500" dirty="0"/>
          </a:p>
        </p:txBody>
      </p:sp>
      <p:sp>
        <p:nvSpPr>
          <p:cNvPr id="17" name="Shape 15"/>
          <p:cNvSpPr/>
          <p:nvPr/>
        </p:nvSpPr>
        <p:spPr>
          <a:xfrm>
            <a:off x="7973568" y="2240280"/>
            <a:ext cx="3429000" cy="2148840"/>
          </a:xfrm>
          <a:prstGeom prst="roundRect">
            <a:avLst>
              <a:gd name="adj" fmla="val 6809"/>
            </a:avLst>
          </a:prstGeom>
          <a:solidFill>
            <a:srgbClr val="F3F7FB"/>
          </a:solidFill>
          <a:ln w="12700">
            <a:solidFill>
              <a:srgbClr val="F3F7FB"/>
            </a:solidFill>
            <a:prstDash val="solid"/>
          </a:ln>
        </p:spPr>
        <p:txBody>
          <a:bodyPr/>
          <a:p/>
        </p:txBody>
      </p:sp>
      <p:sp>
        <p:nvSpPr>
          <p:cNvPr id="18" name="Shape 16"/>
          <p:cNvSpPr/>
          <p:nvPr/>
        </p:nvSpPr>
        <p:spPr>
          <a:xfrm>
            <a:off x="7973568" y="2240280"/>
            <a:ext cx="64008" cy="2148840"/>
          </a:xfrm>
          <a:prstGeom prst="rect">
            <a:avLst/>
          </a:prstGeom>
          <a:solidFill>
            <a:srgbClr val="1768C1"/>
          </a:solidFill>
          <a:ln w="12700">
            <a:solidFill>
              <a:srgbClr val="1768C1"/>
            </a:solidFill>
            <a:prstDash val="solid"/>
          </a:ln>
        </p:spPr>
        <p:txBody>
          <a:bodyPr/>
          <a:p/>
        </p:txBody>
      </p:sp>
      <p:sp>
        <p:nvSpPr>
          <p:cNvPr id="19" name="Text 17"/>
          <p:cNvSpPr/>
          <p:nvPr/>
        </p:nvSpPr>
        <p:spPr>
          <a:xfrm>
            <a:off x="8202168" y="2404872"/>
            <a:ext cx="2971800" cy="365760"/>
          </a:xfrm>
          <a:prstGeom prst="rect">
            <a:avLst/>
          </a:prstGeom>
          <a:noFill/>
          <a:ln/>
        </p:spPr>
        <p:txBody>
          <a:bodyPr wrap="square" lIns="0" tIns="0" rIns="0" bIns="0" rtlCol="0" anchor="ctr"/>
          <a:lstStyle/>
          <a:p>
            <a:pPr indent="0" marL="0">
              <a:buNone/>
            </a:pPr>
            <a:r>
              <a:rPr lang="en-US" sz="1900" b="1" dirty="0">
                <a:solidFill>
                  <a:srgbClr val="101D35"/>
                </a:solidFill>
                <a:latin typeface="Aptos" pitchFamily="34" charset="0"/>
                <a:ea typeface="Aptos" pitchFamily="34" charset="-122"/>
                <a:cs typeface="Aptos" pitchFamily="34" charset="-120"/>
              </a:rPr>
              <a:t>Extend</a:t>
            </a:r>
            <a:endParaRPr lang="en-US" sz="1900" dirty="0"/>
          </a:p>
        </p:txBody>
      </p:sp>
      <p:sp>
        <p:nvSpPr>
          <p:cNvPr id="20" name="Text 18"/>
          <p:cNvSpPr/>
          <p:nvPr/>
        </p:nvSpPr>
        <p:spPr>
          <a:xfrm>
            <a:off x="8202168" y="2898648"/>
            <a:ext cx="2971800" cy="1389888"/>
          </a:xfrm>
          <a:prstGeom prst="rect">
            <a:avLst/>
          </a:prstGeom>
          <a:noFill/>
          <a:ln/>
        </p:spPr>
        <p:txBody>
          <a:bodyPr wrap="square" lIns="0" tIns="0" rIns="0" bIns="0" rtlCol="0" anchor="t"/>
          <a:lstStyle/>
          <a:p>
            <a:pPr indent="0" marL="0">
              <a:buNone/>
            </a:pPr>
            <a:r>
              <a:rPr lang="en-US" sz="1500" dirty="0">
                <a:solidFill>
                  <a:srgbClr val="1E3047"/>
                </a:solidFill>
                <a:latin typeface="Aptos" pitchFamily="34" charset="0"/>
                <a:ea typeface="Aptos" pitchFamily="34" charset="-122"/>
                <a:cs typeface="Aptos" pitchFamily="34" charset="-120"/>
              </a:rPr>
              <a:t>Choose an Azure AI service and explain a safe demo.</a:t>
            </a:r>
            <a:endParaRPr lang="en-US" sz="1500" dirty="0"/>
          </a:p>
        </p:txBody>
      </p:sp>
      <p:sp>
        <p:nvSpPr>
          <p:cNvPr id="21" name="Text 19"/>
          <p:cNvSpPr/>
          <p:nvPr/>
        </p:nvSpPr>
        <p:spPr>
          <a:xfrm>
            <a:off x="914400" y="5029200"/>
            <a:ext cx="10332720" cy="640080"/>
          </a:xfrm>
          <a:prstGeom prst="rect">
            <a:avLst/>
          </a:prstGeom>
          <a:noFill/>
          <a:ln/>
        </p:spPr>
        <p:txBody>
          <a:bodyPr wrap="square" lIns="0" tIns="0" rIns="0" bIns="0" rtlCol="0" anchor="ctr"/>
          <a:lstStyle/>
          <a:p>
            <a:pPr algn="ctr" indent="0" marL="0">
              <a:buNone/>
            </a:pPr>
            <a:r>
              <a:rPr lang="en-US" sz="1600" b="1" dirty="0">
                <a:solidFill>
                  <a:srgbClr val="1768C1"/>
                </a:solidFill>
                <a:latin typeface="Aptos" pitchFamily="34" charset="0"/>
                <a:ea typeface="Aptos" pitchFamily="34" charset="-122"/>
                <a:cs typeface="Aptos" pitchFamily="34" charset="-120"/>
              </a:rPr>
              <a:t>Next: optional appendix demos cover identity, operations and secure Azure website homework.</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 Azure Integration and Microsoft AI</dc:title>
  <dc:subject>Day 2 Azure developer instructor-led training</dc:subject>
  <dc:creator>Azure Training</dc:creator>
  <cp:lastModifiedBy>Azure Training</cp:lastModifiedBy>
  <cp:revision>1</cp:revision>
  <dcterms:created xsi:type="dcterms:W3CDTF">2026-10-29T21:05:01Z</dcterms:created>
  <dcterms:modified xsi:type="dcterms:W3CDTF">2026-10-29T21:05:01Z</dcterms:modified>
</cp:coreProperties>
</file>