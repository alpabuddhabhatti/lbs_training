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94" r:id="rId45"/>
    <p:sldId id="295" r:id="rId46"/>
    <p:sldId id="296" r:id="rId47"/>
    <p:sldId id="297" r:id="rId48"/>
    <p:sldId id="298" r:id="rId49"/>
    <p:sldId id="259" r:id="rId11"/>
    <p:sldId id="260" r:id="rId12"/>
    <p:sldId id="286" r:id="rId38"/>
    <p:sldId id="287" r:id="rId39"/>
    <p:sldId id="288" r:id="rId40"/>
    <p:sldId id="261" r:id="rId13"/>
    <p:sldId id="262" r:id="rId14"/>
    <p:sldId id="263" r:id="rId15"/>
    <p:sldId id="264" r:id="rId16"/>
    <p:sldId id="289" r:id="rId35"/>
    <p:sldId id="265" r:id="rId17"/>
    <p:sldId id="266" r:id="rId18"/>
    <p:sldId id="267" r:id="rId19"/>
    <p:sldId id="268" r:id="rId20"/>
    <p:sldId id="269" r:id="rId21"/>
    <p:sldId id="290" r:id="rId41"/>
    <p:sldId id="270" r:id="rId22"/>
    <p:sldId id="271" r:id="rId23"/>
    <p:sldId id="272" r:id="rId24"/>
    <p:sldId id="273" r:id="rId25"/>
    <p:sldId id="291" r:id="rId42"/>
    <p:sldId id="274" r:id="rId26"/>
    <p:sldId id="275" r:id="rId27"/>
    <p:sldId id="276" r:id="rId28"/>
    <p:sldId id="277" r:id="rId29"/>
    <p:sldId id="292" r:id="rId43"/>
    <p:sldId id="278" r:id="rId30"/>
    <p:sldId id="279" r:id="rId31"/>
    <p:sldId id="280" r:id="rId32"/>
    <p:sldId id="281" r:id="rId33"/>
    <p:sldId id="293" r:id="rId44"/>
    <p:sldId id="282" r:id="rId34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5.xml"/><Relationship Id="rId31" Type="http://schemas.openxmlformats.org/officeDocument/2006/relationships/slide" Target="slides/slide36.xml"/><Relationship Id="rId32" Type="http://schemas.openxmlformats.org/officeDocument/2006/relationships/slide" Target="slides/slide37.xml"/><Relationship Id="rId33" Type="http://schemas.openxmlformats.org/officeDocument/2006/relationships/slide" Target="slides/slide38.xml"/><Relationship Id="rId34" Type="http://schemas.openxmlformats.org/officeDocument/2006/relationships/slide" Target="slides/slide40.xml"/><Relationship Id="rId35" Type="http://schemas.openxmlformats.org/officeDocument/2006/relationships/slide" Target="slides/slide18.xml"/><Relationship Id="rId36" Type="http://schemas.openxmlformats.org/officeDocument/2006/relationships/slide" Target="slides/slide41.xml"/><Relationship Id="rId37" Type="http://schemas.openxmlformats.org/officeDocument/2006/relationships/slide" Target="slides/slide42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24.xml"/><Relationship Id="rId42" Type="http://schemas.openxmlformats.org/officeDocument/2006/relationships/slide" Target="slides/slide29.xml"/><Relationship Id="rId43" Type="http://schemas.openxmlformats.org/officeDocument/2006/relationships/slide" Target="slides/slide34.xml"/><Relationship Id="rId44" Type="http://schemas.openxmlformats.org/officeDocument/2006/relationships/slide" Target="slides/slide39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Relationship Id="rId48" Type="http://schemas.openxmlformats.org/officeDocument/2006/relationships/slide" Target="slides/slide7.xml"/><Relationship Id="rId4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calculator/" TargetMode="External"/><Relationship Id="rId3" Type="http://schemas.openxmlformats.org/officeDocument/2006/relationships/hyperlink" Target="https://portal.azure.com/#view/Microsoft_Azure_CostManagement/Menu/~/overview" TargetMode="Externa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hyperlink" Target="Basic_Lab_02_Blob_Storage_Portal_And_VS_Code.docx" TargetMode="External"/><Relationship Id="rId4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hyperlink" Target="Basic_Lab_00_START_HERE.docx" TargetMode="External"/><Relationship Id="rId4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hyperlink" Target="Basic_Lab_VS_Code_Azure_Function_And_Dummy_Tracker.docx" TargetMode="External"/><Relationship Id="rId4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azure-sql-database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hyperlink" Target="../Labs/PortalAndVsCodeBasics/Samples/Sql/04-instructor-verification.sql" TargetMode="External"/><Relationship Id="rId4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storage/blobs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functions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azure/azure-monitor/fundamentals/best-practices-cost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hyperlink" Target="../Labs/PortalAndVsCodeBasics/Samples/Logs/01-fictional-status.kql" TargetMode="External"/><Relationship Id="rId4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hyperlink" Target="../Labs/PortalAndVsCodeBasics/Samples/Logs/01-fictional-status.kql" TargetMode="External"/><Relationship Id="rId4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app-service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4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hyperlink" Target="Basic_Lab_01_Azure_SQL_Portal_And_VS_Code.docx" TargetMode="External"/><Relationship Id="rId4" Type="http://schemas.openxmlformats.org/officeDocument/2006/relationships/hyperlink" Target="Basic_Lab_02_Blob_Storage_Portal_And_VS_Code.docx" TargetMode="External"/><Relationship Id="rId5" Type="http://schemas.openxmlformats.org/officeDocument/2006/relationships/hyperlink" Target="Basic_Lab_VS_Code_Azure_Function_And_Dummy_Tracker.docx" TargetMode="External"/><Relationship Id="rId6" Type="http://schemas.openxmlformats.org/officeDocument/2006/relationships/hyperlink" Target="Basic_Lab_03_Log_Analytics_Portal_And_VS_Code.docx" TargetMode="External"/><Relationship Id="rId7" Type="http://schemas.openxmlformats.org/officeDocument/2006/relationships/notesSlide" Target="../notesSlides/notesSlide30.xml"/><Relationship Id="rId8" Type="http://schemas.openxmlformats.org/officeDocument/2006/relationships/hyperlink" Target="Day_1_Illustrated_Quick_Referenc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WELCOME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Day 1 | Azure components, one at a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Today's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Understand the service before connecting it to an app.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See the same resource in the portal and VS Code.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Leave with repeatable, evidence-based exercises.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Our working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Explain -&gt; portal -&gt; VS Code -&gt; verify -&gt; practise.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Use existing, approved training resources.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Fictional data only; no secrets on screen.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Start Here: Phase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LEARNING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Two days: understand first, integrate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Day 1 |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Orientation and Azure access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SQL and Blob Storage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HTTP Function, Logs and basic KQL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Day 2 | messaging and Azure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Service Bus and the Azure tracker demo</a:t>
            </a:r>
          </a:p>
          <a:p>
            <a:r>
              <a:rPr/>
              <a:t>• Azure AI services and practical walkthrough</a:t>
            </a:r>
          </a:p>
          <a:p>
            <a:r>
              <a:rPr/>
              <a:t>• Optional identity, monitoring and cost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The tracker uses SQL / Service Bus / Functions; AI is a separate practical.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Phases A, B and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Day 1 route | protect hands-on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First half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>
                <a:latin typeface="Arial"/>
              </a:rPr>
              <a:t>09:45-11:05 welcome + foundations + orientation</a:t>
            </a:r>
          </a:p>
          <a:p>
            <a:r>
              <a:rPr sz="1900">
                <a:latin typeface="Arial"/>
              </a:rPr>
              <a:t>11:05-12:20 SQL + paired cost decision</a:t>
            </a:r>
          </a:p>
          <a:p>
            <a:r>
              <a:rPr sz="1900">
                <a:latin typeface="Arial"/>
              </a:rPr>
              <a:t>12:20-12:35 break; 12:35-13:40 Blob</a:t>
            </a:r>
          </a:p>
          <a:p>
            <a:r>
              <a:rPr sz="1900">
                <a:latin typeface="Arial"/>
              </a:rPr>
              <a:t>13:40-14:25 lunch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Second half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>
                <a:latin typeface="Arial"/>
              </a:rPr>
              <a:t>14:25-15:40 Function; 15:40-15:55 break</a:t>
            </a:r>
          </a:p>
          <a:p>
            <a:r>
              <a:rPr sz="1900">
                <a:latin typeface="Arial"/>
              </a:rPr>
              <a:t>15:55-16:50 Logs / KQL</a:t>
            </a:r>
          </a:p>
          <a:p>
            <a:r>
              <a:rPr sz="1900">
                <a:latin typeface="Arial"/>
              </a:rPr>
              <a:t>16:50-17:30 recap, costs and cleanup</a:t>
            </a:r>
          </a:p>
          <a:p>
            <a:r>
              <a:rPr sz="1900">
                <a:latin typeface="Arial"/>
              </a:rPr>
              <a:t>Optional UI only if time permits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 sz="1400"/>
              <a:t>DAY 1  /  FROM .NET TO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 sz="3000"/>
              <a:t>You know .NET. Where would you host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611112"/>
            <a:ext cx="960120" cy="20116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r>
              <a:rPr sz="1000"/>
              <a:t>INTRO 1</a:t>
            </a:r>
          </a:p>
        </p:txBody>
      </p:sp>
      <p:pic>
        <p:nvPicPr>
          <p:cNvPr id="15" name="Picture 14" descr="Pasted Imag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31" y="1783080"/>
            <a:ext cx="10788737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80760"/>
            <a:ext cx="11201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Managed services reduce server administration; you still manage application, data, access and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 sz="1400"/>
              <a:t>DAY 1  /  FROM .NET TO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 sz="3000"/>
              <a:t>Azure names | connect them to familiar ideas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 sz="2300"/>
              <a:t>Organisation and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596896"/>
            <a:ext cx="4956048" cy="2651760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Tenant:</a:t>
            </a:r>
            <a:r>
              <a:rPr sz="1900" b="0">
                <a:solidFill>
                  <a:srgbClr val="18344E"/>
                </a:solidFill>
                <a:latin typeface="Aptos"/>
              </a:rPr>
              <a:t> your identity directory.</a:t>
            </a:r>
          </a:p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Subscription:</a:t>
            </a:r>
            <a:r>
              <a:rPr sz="1900" b="0">
                <a:solidFill>
                  <a:srgbClr val="18344E"/>
                </a:solidFill>
                <a:latin typeface="Aptos"/>
              </a:rPr>
              <a:t> billing and management boundary.</a:t>
            </a:r>
          </a:p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Resource group (RG):</a:t>
            </a:r>
            <a:r>
              <a:rPr sz="1900" b="0">
                <a:solidFill>
                  <a:srgbClr val="18344E"/>
                </a:solidFill>
                <a:latin typeface="Aptos"/>
              </a:rPr>
              <a:t> groups related resources.</a:t>
            </a:r>
          </a:p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Resource:</a:t>
            </a:r>
            <a:r>
              <a:rPr sz="1900" b="0">
                <a:solidFill>
                  <a:srgbClr val="18344E"/>
                </a:solidFill>
                <a:latin typeface="Aptos"/>
              </a:rPr>
              <a:t> an actual database, app or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 sz="2300"/>
              <a:t>Location and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596896"/>
            <a:ext cx="4956048" cy="2651760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Region:</a:t>
            </a:r>
            <a:r>
              <a:rPr sz="1900" b="0">
                <a:solidFill>
                  <a:srgbClr val="18344E"/>
                </a:solidFill>
                <a:latin typeface="Aptos"/>
              </a:rPr>
              <a:t> geographic hosting area.</a:t>
            </a:r>
          </a:p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Zone:</a:t>
            </a:r>
            <a:r>
              <a:rPr sz="1900" b="0">
                <a:solidFill>
                  <a:srgbClr val="18344E"/>
                </a:solidFill>
                <a:latin typeface="Aptos"/>
              </a:rPr>
              <a:t> separate datacentre group in a region.</a:t>
            </a:r>
          </a:p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Portal:</a:t>
            </a:r>
            <a:r>
              <a:rPr sz="1900" b="0">
                <a:solidFill>
                  <a:srgbClr val="18344E"/>
                </a:solidFill>
                <a:latin typeface="Aptos"/>
              </a:rPr>
              <a:t> website for managing Azure.</a:t>
            </a:r>
          </a:p>
          <a:p>
            <a:pPr marL="192024" indent="-173736">
              <a:buChar char="•"/>
            </a:pPr>
            <a:r>
              <a:rPr sz="1900" b="1">
                <a:solidFill>
                  <a:srgbClr val="00858A"/>
                </a:solidFill>
                <a:latin typeface="Aptos"/>
              </a:rPr>
              <a:t>RBAC:</a:t>
            </a:r>
            <a:r>
              <a:rPr sz="1900" b="0">
                <a:solidFill>
                  <a:srgbClr val="18344E"/>
                </a:solidFill>
                <a:latin typeface="Aptos"/>
              </a:rPr>
              <a:t> who can do what, at which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611112"/>
            <a:ext cx="960120" cy="20116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r>
              <a:rPr sz="1000"/>
              <a:t>INTRO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 sz="1400"/>
              <a:t>DAY 1  /  FROM .NET TO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 sz="3000"/>
              <a:t>One fictional mortgage application | which service?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 sz="2300"/>
              <a:t>Run the application and its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596896"/>
            <a:ext cx="4956048" cy="2651760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.NET API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App Service.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Application records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Azure SQL.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PDF documents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Blob Storage.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Small event-driven code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Functions.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Queued background work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Service Bus.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 sz="2300"/>
              <a:t>Protect, observe and control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596896"/>
            <a:ext cx="4956048" cy="2651760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Secrets, keys, certificates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Key Vault.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Password-free app identity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Managed Identity.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Requests and failures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Application Insights.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Analyse monitoring data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Logs / KQL.</a:t>
            </a:r>
          </a:p>
          <a:p>
            <a:pPr marL="192024" indent="-173736">
              <a:buChar char="•"/>
            </a:pPr>
            <a:r>
              <a:rPr sz="1900" b="0">
                <a:solidFill>
                  <a:srgbClr val="18344E"/>
                </a:solidFill>
                <a:latin typeface="Aptos"/>
              </a:rPr>
              <a:t>Understand spending -&gt; </a:t>
            </a:r>
            <a:r>
              <a:rPr sz="1900" b="1">
                <a:solidFill>
                  <a:srgbClr val="00858A"/>
                </a:solidFill>
                <a:latin typeface="Aptos"/>
              </a:rPr>
              <a:t>Cost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611112"/>
            <a:ext cx="960120" cy="20116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r>
              <a:rPr sz="1000"/>
              <a:t>INTRO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 sz="1400"/>
              <a:t>DAY 1  /  FROM .NET TO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 sz="3000"/>
              <a:t>A customer's request | the services work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611112"/>
            <a:ext cx="960120" cy="20116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r>
              <a:rPr sz="1000"/>
              <a:t>INTRO 4</a:t>
            </a:r>
          </a:p>
        </p:txBody>
      </p:sp>
      <p:pic>
        <p:nvPicPr>
          <p:cNvPr id="15" name="Picture 14" descr="Pasted Imag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255" y="1783080"/>
            <a:ext cx="6539488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080760"/>
            <a:ext cx="11201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Fictional example. Monitoring runs alongside the app, not as the next request step. Labs test components separately.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 sz="1400"/>
              <a:t>DAY 1  /  FROM .NET TO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 sz="3000"/>
              <a:t>Your turn | choose the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 sz="2300"/>
              <a:t>Think in pairs | 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596896"/>
            <a:ext cx="4956048" cy="2651760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marL="192024" indent="-173736">
              <a:buNone/>
            </a:pPr>
            <a:r>
              <a:rPr sz="1900" b="1">
                <a:solidFill>
                  <a:srgbClr val="00858A"/>
                </a:solidFill>
                <a:latin typeface="Aptos"/>
              </a:rPr>
              <a:t>1. </a:t>
            </a:r>
            <a:r>
              <a:rPr sz="1900" b="0">
                <a:solidFill>
                  <a:srgbClr val="18344E"/>
                </a:solidFill>
                <a:latin typeface="Aptos"/>
              </a:rPr>
              <a:t>Where would you run a </a:t>
            </a:r>
            <a:r>
              <a:rPr sz="1900" b="1">
                <a:solidFill>
                  <a:srgbClr val="18344E"/>
                </a:solidFill>
                <a:latin typeface="Aptos"/>
              </a:rPr>
              <a:t>.NET API</a:t>
            </a:r>
            <a:r>
              <a:rPr sz="1900" b="0">
                <a:solidFill>
                  <a:srgbClr val="18344E"/>
                </a:solidFill>
                <a:latin typeface="Aptos"/>
              </a:rPr>
              <a:t>?</a:t>
            </a:r>
          </a:p>
          <a:p>
            <a:pPr marL="192024" indent="-173736">
              <a:buNone/>
            </a:pPr>
            <a:r>
              <a:rPr sz="1900" b="1">
                <a:solidFill>
                  <a:srgbClr val="00858A"/>
                </a:solidFill>
                <a:latin typeface="Aptos"/>
              </a:rPr>
              <a:t>2. </a:t>
            </a:r>
            <a:r>
              <a:rPr sz="1900" b="0">
                <a:solidFill>
                  <a:srgbClr val="18344E"/>
                </a:solidFill>
                <a:latin typeface="Aptos"/>
              </a:rPr>
              <a:t>Where would you store </a:t>
            </a:r>
            <a:r>
              <a:rPr sz="1900" b="1">
                <a:solidFill>
                  <a:srgbClr val="18344E"/>
                </a:solidFill>
                <a:latin typeface="Aptos"/>
              </a:rPr>
              <a:t>application records</a:t>
            </a:r>
            <a:r>
              <a:rPr sz="1900" b="0">
                <a:solidFill>
                  <a:srgbClr val="18344E"/>
                </a:solidFill>
                <a:latin typeface="Aptos"/>
              </a:rPr>
              <a:t>?</a:t>
            </a:r>
          </a:p>
          <a:p>
            <a:pPr marL="192024" indent="-173736">
              <a:buNone/>
            </a:pPr>
            <a:r>
              <a:rPr sz="1900" b="1">
                <a:solidFill>
                  <a:srgbClr val="00858A"/>
                </a:solidFill>
                <a:latin typeface="Aptos"/>
              </a:rPr>
              <a:t>3. </a:t>
            </a:r>
            <a:r>
              <a:rPr sz="1900" b="0">
                <a:solidFill>
                  <a:srgbClr val="18344E"/>
                </a:solidFill>
                <a:latin typeface="Aptos"/>
              </a:rPr>
              <a:t>Where would you store an </a:t>
            </a:r>
            <a:r>
              <a:rPr sz="1900" b="1">
                <a:solidFill>
                  <a:srgbClr val="18344E"/>
                </a:solidFill>
                <a:latin typeface="Aptos"/>
              </a:rPr>
              <a:t>uploaded PDF</a:t>
            </a:r>
            <a:r>
              <a:rPr sz="1900" b="0">
                <a:solidFill>
                  <a:srgbClr val="18344E"/>
                </a:solidFill>
                <a:latin typeface="Aptos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 sz="2300"/>
              <a:t>Discuss together | 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596896"/>
            <a:ext cx="4956048" cy="2651760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marL="192024" indent="-173736">
              <a:buNone/>
            </a:pPr>
            <a:r>
              <a:rPr sz="1900" b="1">
                <a:solidFill>
                  <a:srgbClr val="00858A"/>
                </a:solidFill>
                <a:latin typeface="Aptos"/>
              </a:rPr>
              <a:t>4. </a:t>
            </a:r>
            <a:r>
              <a:rPr sz="1900" b="0">
                <a:solidFill>
                  <a:srgbClr val="18344E"/>
                </a:solidFill>
                <a:latin typeface="Aptos"/>
              </a:rPr>
              <a:t>Access storage </a:t>
            </a:r>
            <a:r>
              <a:rPr sz="1900" b="1">
                <a:solidFill>
                  <a:srgbClr val="18344E"/>
                </a:solidFill>
                <a:latin typeface="Aptos"/>
              </a:rPr>
              <a:t>without an app password</a:t>
            </a:r>
            <a:r>
              <a:rPr sz="1900" b="0">
                <a:solidFill>
                  <a:srgbClr val="18344E"/>
                </a:solidFill>
                <a:latin typeface="Aptos"/>
              </a:rPr>
              <a:t>?</a:t>
            </a:r>
          </a:p>
          <a:p>
            <a:pPr marL="192024" indent="-173736">
              <a:buNone/>
            </a:pPr>
            <a:r>
              <a:rPr sz="1900" b="1">
                <a:solidFill>
                  <a:srgbClr val="00858A"/>
                </a:solidFill>
                <a:latin typeface="Aptos"/>
              </a:rPr>
              <a:t>5. </a:t>
            </a:r>
            <a:r>
              <a:rPr sz="1900" b="0">
                <a:solidFill>
                  <a:srgbClr val="18344E"/>
                </a:solidFill>
                <a:latin typeface="Aptos"/>
              </a:rPr>
              <a:t>Investigate a </a:t>
            </a:r>
            <a:r>
              <a:rPr sz="1900" b="1">
                <a:solidFill>
                  <a:srgbClr val="18344E"/>
                </a:solidFill>
                <a:latin typeface="Aptos"/>
              </a:rPr>
              <a:t>failed API request</a:t>
            </a:r>
            <a:r>
              <a:rPr sz="1900" b="0">
                <a:solidFill>
                  <a:srgbClr val="18344E"/>
                </a:solidFill>
                <a:latin typeface="Aptos"/>
              </a:rPr>
              <a:t>?</a:t>
            </a:r>
          </a:p>
          <a:p>
            <a:pPr marL="192024" indent="-173736">
              <a:buNone/>
            </a:pPr>
            <a:r>
              <a:rPr sz="1900" b="1">
                <a:solidFill>
                  <a:srgbClr val="00858A"/>
                </a:solidFill>
                <a:latin typeface="Aptos"/>
              </a:rPr>
              <a:t>6. </a:t>
            </a:r>
            <a:r>
              <a:rPr sz="1900" b="0">
                <a:solidFill>
                  <a:srgbClr val="18344E"/>
                </a:solidFill>
                <a:latin typeface="Aptos"/>
              </a:rPr>
              <a:t>Check </a:t>
            </a:r>
            <a:r>
              <a:rPr sz="1900" b="1">
                <a:solidFill>
                  <a:srgbClr val="18344E"/>
                </a:solidFill>
                <a:latin typeface="Aptos"/>
              </a:rPr>
              <a:t>how much Azure is costing</a:t>
            </a:r>
            <a:r>
              <a:rPr sz="1900" b="0">
                <a:solidFill>
                  <a:srgbClr val="18344E"/>
                </a:solidFill>
                <a:latin typeface="Aptos"/>
              </a:rPr>
              <a:t>?</a:t>
            </a:r>
          </a:p>
          <a:p>
            <a:pPr marL="192024" indent="-173736">
              <a:buNone/>
            </a:pPr>
            <a:r>
              <a:rPr sz="1800" b="1">
                <a:solidFill>
                  <a:srgbClr val="00858A"/>
                </a:solidFill>
                <a:latin typeface="Aptos"/>
              </a:rPr>
              <a:t>Explain why, not just the service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611112"/>
            <a:ext cx="960120" cy="20116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r>
              <a:rPr sz="1000"/>
              <a:t>INTRO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Before any write, check the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Confirm every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Tenant, subscription and resource name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Assigned table / container / Function host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Your identity, network path and 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Never use a shortcut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broad firewall rules to fix a login failure.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shared admin passwords or keys in evidence.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class-wide concurrent publish to one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Instructor checklist and component 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Azure names: where does each thing belong?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Management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Tenant: identity directory.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Subscription: resource and billing boundary.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Resource group: lifecycle grouping.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Resource: server, account, app or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Developer perspective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Code runs on your laptop OR a cloud host.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SQL server is not your local SQL Express.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workspace name is not its Workspace 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Seeing Overview does not prove data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838A"/>
                </a:solidFill>
                <a:latin typeface="Arial"/>
              </a:rPr>
              <a:t>DAY 1 / FOUNDATIONS /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Arial"/>
              </a:rPr>
              <a:t>IaaS, PaaS and SaaS | the pizza comparison</a:t>
            </a:r>
          </a:p>
        </p:txBody>
      </p:sp>
      <p:pic>
        <p:nvPicPr>
          <p:cNvPr id="4" name="Picture 3" descr="cloud-service-piz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11384280" cy="505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36578"/>
                </a:solidFill>
                <a:latin typeface="Arial"/>
              </a:rPr>
              <a:t>LBS | Azure developer training | 28 Oct 2026 | Simplified teaching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365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838A"/>
                </a:solidFill>
                <a:latin typeface="Arial"/>
              </a:rPr>
              <a:t>DAY 1 / FOUNDATIONS /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Arial"/>
              </a:rPr>
              <a:t>Tenant, subscription, resource group and resource</a:t>
            </a:r>
          </a:p>
        </p:txBody>
      </p:sp>
      <p:pic>
        <p:nvPicPr>
          <p:cNvPr id="4" name="Picture 3" descr="azure-tenant-subscription-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11384280" cy="505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36578"/>
                </a:solidFill>
                <a:latin typeface="Arial"/>
              </a:rPr>
              <a:t>LBS | Azure developer training | 28 Oct 2026 | Simplified teaching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365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838A"/>
                </a:solidFill>
                <a:latin typeface="Arial"/>
              </a:rPr>
              <a:t>DAY 1 / FOUNDATIONS /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Arial"/>
              </a:rPr>
              <a:t>Security | check the network, identity and permissions</a:t>
            </a:r>
          </a:p>
        </p:txBody>
      </p:sp>
      <p:pic>
        <p:nvPicPr>
          <p:cNvPr id="4" name="Picture 3" descr="azure-security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11384280" cy="505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36578"/>
                </a:solidFill>
                <a:latin typeface="Arial"/>
              </a:rPr>
              <a:t>LBS | Azure developer training | 28 Oct 2026 | Simplified teaching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3657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Two gates: network reachability + permission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Network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SQL: approved single-IP or private-network path.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Blob: account firewall / private endpoint policy.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TCP connection alone is not a successful SELECT.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Identity / data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Azure Reader does not grant SQL table access.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 needs a scoped data role.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Portal, CLI and MSSQL sign-in are separate.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SQL 2A; Blob 1A-1B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Blob handout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ORIENTATION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01 | one resource, two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Sign in; confirm directory and subscription.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Training; identify SQL, Storage and Function.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resource name and region; change nothing.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the supplied lab folder; check Get-Location.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Azure Resources: sign in, select subscription, Refresh.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new window may keep your old chat in the original window.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Function guide Parts 1-2; orientation-only prerequisites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Student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ORIENTATION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01 | prove your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Attendee steps | 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Find your assigned subscription and resource group.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Identify one resource in both tools.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the correct lab folder; check Get-Location.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resource name and region.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account / directory without secrets.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Missing access? Mark Blocked; do not create a replacement.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Start Here checkpoints; Function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Function handout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Azure SQL: structure is not application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What we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CREATE TABLE defines the structure.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INSERT adds fictional rows.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ALTER TABLE adds a column.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UPDATE changes a targeted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What we do not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new database is needed.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Web App / API integration today.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Saving a .sql file does not execute it.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MSSQL and portal are clients of one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Main exercise and sections 6-7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Azure SQL | avoid paying for unnecessary capacity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Compute tier, allocated capacity and storage.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Backup retention and optional replicas can add cost.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Eligible serverless auto-pause stops compute billing while paused; storage still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the assigned database; do not create a duplicate.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tiny tables and targeted queries.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Do not change tiers or auto-pause on shared databases.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Ask the owner about approved temporary-data cleanup.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02 | add an approved client 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 | authorised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Database -&gt; Server link -&gt; Security &gt; Networking.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With approval, choose Selected networks.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Add current public IPv4; Start = End.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Save, reopen and verify the exact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 before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Do not copy a screenshot's old IP.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Private laptop IP is not public outbound IP.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Leave Allow Azure services unchecked.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Wait up to five minutes, then reconnect.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Instructor permission required; a firewall rule does not create a database user.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2A A-E: complete firewall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03 | create in portal, read in VS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Connect to the assigned database, not master.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the connection check; verify DB_NAME().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02-create-and-read.sql with your suffix.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Expect exactly two fictional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 / MSSQL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Create the approved server/database profile.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Encrypt enabled; Trust server certificate=False.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a SQL file; connect it; Execute Query.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SELECT the same rows and compare.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3-6; instructor SELECT is read-only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Read-only instructor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02 | modify and verify both 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Use only your assigned table suffix.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03-modify-and-check.sql in MSSQL.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Keep GO between ALTER and later statements.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Rerun the SELECT in portal Query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Expected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Four columns, including nullable Notes.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 1: Completed / Updated from VS Code.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 2: Needs review / NULL.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Optional: change ID 2 Notes in portal; read in MSSQL.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No WHERE, no targeted update: pause and inspect before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7 and completion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SQL: classify the error before changing anything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Connectivity /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Wrong hostname: copy from server Overview.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Timeout: verify approved route and current IP.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Paused serverless database: allow resume and retry.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Blank portal blade: a portal-loading issue, not proof of SQL denial.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Authentication /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Login failed: identity, tenant and database.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Permission denied: scoped SQL rights.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Wrong result: database, suffix and selected SQL text.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Invalid Notes column: retain the GO batch boundary.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9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Blob Storage: private files, not a public website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Resource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Account -&gt; container -&gt; blob.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private container blocks anonymous reads.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Network rules and Entra data roles are separate.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This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Tiny fictional .txt files only.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Storage Blob Data Contributor at assigned container.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CLI always uses --auth-mode login.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keys, SAS or Function bindings.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1, 1A and 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Blob Storage | tiny files, appropriate access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Stored bytes, operations and redundancy.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Retrieval and data transfer can add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Cool, cold and archive may have minimum retention / early deletion charges.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tiny fictional files in your assigned container.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Hot is appropriate for this short, frequently accessed lab.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Avoid repeated downloads and unnecessary copies.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Delete only your lab data after owner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04 | prepare access without widening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Account &gt; Networking: all / selected / disabled?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Selected networks: approved exact public IP only.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IAM: verify container-scoped data role.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 view: switch to Microsoft Entra user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 the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Private container != private endpoint.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If all networks allowed, an extra IP is not needed.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Never tighten shared account networking mid-demo.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Wait for role propagation; do not add broader roles.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1A-1B; network and IAM walkthroughs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05 | portal upload -&gt; terminal download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your assigned private container.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Upload Samples\Storage\portal-note.txt.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Leave overwrite off; Refresh after success.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Confirm the file and nonzero byte length.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 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Sign Azure CLI in separately; confirm subscription.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Set $account and $container to assigned values.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List and download using --auth-mode login.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Compare source and downloaded SHA256 hashes.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2-6; copy exact commands from the handout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03 | terminal upload -&gt; portal 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and save vscode-note.txt.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Upload to your own container; no blind overwrite.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Check CLI exit code and list both names.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Refresh portal; inspect/download the new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Refresh the assigned container; confirm the uploaded name.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Download; copy its real path from browser Downloads.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Get-FileHash: compare full SHA256 with the exact source.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Repeat for both directions; no blind overwrite or deletion.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7-8; repeat-run and cleanup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HTTP Function: code that has a cloud 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Local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HelloAzureFunction: project folder.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ApplicationStatus: the function name and route.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Core Tools runs the local Functions host.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Azurite is local development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Cloud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Function App: approved deployment target.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.NET 10 isolated runtime must match the project.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Function-level key protects this training endpoint.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This fixed JSON does not read SQL or Blob.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Names, prerequisites and Parts 3-5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Azure Functions | local testing is not Azure shutdown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Hosting plan, executions and execution resources.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Always-ready instances can add baseline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Host storage, logs and network services have separate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Build and test locally first; avoid repeated cloud calls.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Reuse the approved host; no duplicate plan.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Ctrl+C stops only the local server, not Azure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Do not change shared scaling / always-ready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06 | build, host, then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Terminal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HelloAzureFunction by itself.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Create local settings from supplied example if absent.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Build; start Azurite.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 start --port 7071; KEEP IT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Terminal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Request /api/ApplicationStatus on localhost:7071.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Check reference, Received, fictionalData and message.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After testing: Ctrl+C in terminal 1; wait for prompt.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Local host stops; Azure host and source code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Build alone is not an HTTP test. Verify your own local response; Ctrl+C stops only your local host.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 3: local settings, host and second-terminal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07 | publish only to an approved 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 publishing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Confirm target name, runtime and replacement approval.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Use the supplied Function project and publish task.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Choose the assigned Function App, not a Web App.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Wait for success, then verify the deployed function.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Cloud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Get Function URL: choose default (Function key).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Not Host key or _master; paste into browser, not chat.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Keyed: expected JSON; Test/Run can show HTTP 200.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Remove ?code=...: expect HTTP 401, not a broken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Parts 4-5; test-only route if publish not 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04 | record local and cloud separately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the supplied local Function when tools are ready.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Publish only with target-owner approval.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Otherwise test the approved existing cloud endpoint.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status code and response fields, never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Local host: Passed / Blocked / Not run.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Publish: Passed / Not approved / Not run.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Cloud: expected response and keyless denial.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Website results are Not run in Function-only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Parts 3-5 and Function-related Part 8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Log Analytics is the service; KQL is the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Holds queryable log tables.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Has a name, resource ID and Workspace ID GUID.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Query access is separate from Overview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KQL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Pipe operators transform tabular results.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where filters; project selects columns.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order by sorts; summarize aggregates.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saved .kql file is not an ingested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1-3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Log Analytics | collect what you actually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Log ingestion and retention beyond included allowances.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Some table plans charge for queries / search.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Export, alerts and other monitoring features may add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the supplied synthetic query; it ingests no rows.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For real logs, use a short time range and relevant scope.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Do not enable verbose logging or new collection just for practice.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Ask the owner before changing retention or caps.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KQL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08 | start with a predictable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assigned workspace; confirm query scope.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Close Welcome and Queries hub (top-right X).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Turn Agent off; select KQL mode above the editor.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Paste supplied query; Run; expect three ordered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 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LBS-DEMO-1001: Completed.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LBS-DEMO-1002: Needs review.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LBS-DEMO-1003: Received.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Rows are synthetic; no ingestion is proven.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2-3; no ADX cluster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Supplied KQL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KQL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Read the pipeline from top to bottom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Supplied main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datatable(Reference:string, Status:string)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[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  "LBS-DEMO-1001", "Completed",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  "LBS-DEMO-1002", "Needs review",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  "LBS-DEMO-1003", "Received"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]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| order by Reference asc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Try only in a separate portal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Add a where filter for Completed: one row.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Restore the original before terminal comparison.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Keep supplied KQL and request JSON in sync.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The main script asserts exactly three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3; optional filter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Supplied KQL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KQL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05 | same query from VS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Workspace Overview &gt; Essentials &gt; copy Workspace 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Not workspace name, Subscription ID or resource 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In PortalAndVsCodeBasics, use the signed-in CLI.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the supplied script with that GUID; compare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Script prints three expected rows and PASS.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Compare with portal Logs results.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workspace and result time.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workspace key, agent or new table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4-5; exact script invocation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Optional | dummy tracker UI is not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Local-only UI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DummyDocumentTracker.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on localhost:5203 using the guide.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Check three records and detail buttons.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Say this explicitly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Fixed sample records, not SQL rows.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upload/processing or Blob integration.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The real local scenario is a different project.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website deployment required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Parts 6-8 only; optional local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App Service / local websites | understand the hosting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Paid App Service plans charge for allocated instances.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Stopping an app does not stop paid plan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Related storage, monitoring and network services can still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Run the optional dummy UI locally; Azure hosting is not required.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Never create a paid Web App without approval.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The Function FC1 plan is not the website's hosting target.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Only the owner approves plan deletion or resizing.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A repeatable troubleshooting ladder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 in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1. Correct folder, file and tool?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2. Correct tenant, subscription and target?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3. Reachable network and current IP?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4. Correct identity and scoped permission?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Then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5. Exact error / CLI exit code?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6. Small read-only request first.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7. Make one approved change; retest.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8. Save evidence without sensitive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Check each service's troubleshooting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Day 1 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Why are network and identity separate gates?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What executes when you save a SQL/KQL file?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How is a private container different from a private endpoint?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Demonstrate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Show one verified component in both tools.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a blocked step accurately.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Identify the correct guide and safe cleanup.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Tomorrow: messaging, real telemetry and the whole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Component checkpoints; retain your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Your Day 1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Use the handouts for exact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Start Here: order and checkpoints.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SQL: firewall, MSSQL and modification scripts.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Blob: network/IAM and two-way file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Continue independently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Function: local / approved publish / cloud checks.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Logs/KQL: workspace and matching synthetic query.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>
                <a:hlinkClick r:id="rId8"/>
              </a:rPr>
              <a:t>• Illustrated Day 1 quick reference: diagrams + checklist.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your own Passed / Blocked / Not run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Clickable links below; keep deck beside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110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SQL handout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7020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4"/>
              </a:rPr>
              <a:t>Blob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1931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5"/>
              </a:rPr>
              <a:t>Function handout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6841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6"/>
              </a:rPr>
              <a:t>Logs / KQL handout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V3  |  Fictional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LBS Azure Developer Training | Day 1</dc:title>
  <dc:subject>Individual component exercises, then realistic workflow and operations</dc:subject>
  <dc:creator>LBS Training</dc:creator>
  <cp:keywords>Azure, portal, VS Code, beginner, fictional data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