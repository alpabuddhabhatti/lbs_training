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86" r:id="rId38"/>
    <p:sldId id="287" r:id="rId39"/>
    <p:sldId id="288" r:id="rId40"/>
    <p:sldId id="261" r:id="rId13"/>
    <p:sldId id="262" r:id="rId14"/>
    <p:sldId id="263" r:id="rId15"/>
    <p:sldId id="264" r:id="rId16"/>
    <p:sldId id="289" r:id="rId35"/>
    <p:sldId id="265" r:id="rId17"/>
    <p:sldId id="266" r:id="rId18"/>
    <p:sldId id="267" r:id="rId19"/>
    <p:sldId id="268" r:id="rId20"/>
    <p:sldId id="269" r:id="rId21"/>
    <p:sldId id="290" r:id="rId41"/>
    <p:sldId id="270" r:id="rId22"/>
    <p:sldId id="271" r:id="rId23"/>
    <p:sldId id="272" r:id="rId24"/>
    <p:sldId id="273" r:id="rId25"/>
    <p:sldId id="291" r:id="rId42"/>
    <p:sldId id="274" r:id="rId26"/>
    <p:sldId id="275" r:id="rId27"/>
    <p:sldId id="276" r:id="rId28"/>
    <p:sldId id="277" r:id="rId29"/>
    <p:sldId id="292" r:id="rId43"/>
    <p:sldId id="278" r:id="rId30"/>
    <p:sldId id="279" r:id="rId31"/>
    <p:sldId id="280" r:id="rId32"/>
    <p:sldId id="281" r:id="rId33"/>
    <p:sldId id="293" r:id="rId44"/>
    <p:sldId id="282" r:id="rId34"/>
    <p:sldId id="284" r:id="rId36"/>
    <p:sldId id="285" r:id="rId3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5.xml"/><Relationship Id="rId35" Type="http://schemas.openxmlformats.org/officeDocument/2006/relationships/slide" Target="slides/slide13.xml"/><Relationship Id="rId36" Type="http://schemas.openxmlformats.org/officeDocument/2006/relationships/slide" Target="slides/slide36.xml"/><Relationship Id="rId37" Type="http://schemas.openxmlformats.org/officeDocument/2006/relationships/slide" Target="slides/slide37.xml"/><Relationship Id="rId38" Type="http://schemas.openxmlformats.org/officeDocument/2006/relationships/slide" Target="slides/slide6.xml"/><Relationship Id="rId39" Type="http://schemas.openxmlformats.org/officeDocument/2006/relationships/slide" Target="slides/slide7.xml"/><Relationship Id="rId40" Type="http://schemas.openxmlformats.org/officeDocument/2006/relationships/slide" Target="slides/slide8.xml"/><Relationship Id="rId41" Type="http://schemas.openxmlformats.org/officeDocument/2006/relationships/slide" Target="slides/slide19.xml"/><Relationship Id="rId42" Type="http://schemas.openxmlformats.org/officeDocument/2006/relationships/slide" Target="slides/slide24.xml"/><Relationship Id="rId43" Type="http://schemas.openxmlformats.org/officeDocument/2006/relationships/slide" Target="slides/slide29.xml"/><Relationship Id="rId44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00_START_HERE.docx" TargetMode="Externa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00_START_HERE.docx" TargetMode="Externa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00_START_HERE.docx" TargetMode="Externa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01_Azure_SQL_Portal_And_VS_Code.docx" TargetMode="External"/><Relationship Id="rId3" Type="http://schemas.openxmlformats.org/officeDocument/2006/relationships/hyperlink" Target="Basic_Lab_02_Blob_Storage_Portal_And_VS_Code.docx" TargetMode="External"/><Relationship Id="rId4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VS_Code_Azure_Function_And_Dummy_Tracker.docx" TargetMode="External"/><Relationship Id="rId3" Type="http://schemas.openxmlformats.org/officeDocument/2006/relationships/hyperlink" Target="Basic_Lab_00_START_HERE.docx" TargetMode="External"/><Relationship Id="rId4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00_START_HERE.docx" TargetMode="External"/><Relationship Id="rId3" Type="http://schemas.openxmlformats.org/officeDocument/2006/relationships/hyperlink" Target="Basic_Lab_VS_Code_Azure_Function_And_Dummy_Tracker.docx" TargetMode="External"/><Relationship Id="rId4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01_Azure_SQL_Portal_And_VS_Code.docx" TargetMode="External"/><Relationship Id="rId3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zure.microsoft.com/pricing/details/azure-sql-database/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01_Azure_SQL_Portal_And_VS_Code.docx" TargetMode="External"/><Relationship Id="rId3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01_Azure_SQL_Portal_And_VS_Code.docx" TargetMode="External"/><Relationship Id="rId3" Type="http://schemas.openxmlformats.org/officeDocument/2006/relationships/hyperlink" Target="../Labs/PortalAndVsCodeBasics/Samples/Sql/04-read-only-verification.sql" TargetMode="External"/><Relationship Id="rId4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01_Azure_SQL_Portal_And_VS_Code.docx" TargetMode="External"/><Relationship Id="rId3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01_Azure_SQL_Portal_And_VS_Code.docx" TargetMode="External"/><Relationship Id="rId3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02_Blob_Storage_Portal_And_VS_Code.docx" TargetMode="External"/><Relationship Id="rId3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zure.microsoft.com/pricing/details/storage/blobs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02_Blob_Storage_Portal_And_VS_Code.docx" TargetMode="External"/><Relationship Id="rId3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02_Blob_Storage_Portal_And_VS_Code.docx" TargetMode="External"/><Relationship Id="rId3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02_Blob_Storage_Portal_And_VS_Code.docx" TargetMode="External"/><Relationship Id="rId3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VS_Code_Azure_Function_And_Dummy_Tracker.docx" TargetMode="External"/><Relationship Id="rId3" Type="http://schemas.openxmlformats.org/officeDocument/2006/relationships/notesSlide" Target="../notesSlides/notesSlide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zure.microsoft.com/pricing/details/functions/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VS_Code_Azure_Function_And_Dummy_Tracker.docx" TargetMode="External"/><Relationship Id="rId3" Type="http://schemas.openxmlformats.org/officeDocument/2006/relationships/notesSlide" Target="../notesSlides/notesSlide1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VS_Code_Azure_Function_And_Dummy_Tracker.docx" TargetMode="External"/><Relationship Id="rId3" Type="http://schemas.openxmlformats.org/officeDocument/2006/relationships/notesSlide" Target="../notesSlides/notesSlide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VS_Code_Azure_Function_And_Dummy_Tracker.docx" TargetMode="External"/><Relationship Id="rId3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03_Log_Analytics_Portal_And_VS_Code.docx" TargetMode="External"/><Relationship Id="rId3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azure/azure-monitor/fundamentals/best-practices-cost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03_Log_Analytics_Portal_And_VS_Code.docx" TargetMode="External"/><Relationship Id="rId3" Type="http://schemas.openxmlformats.org/officeDocument/2006/relationships/hyperlink" Target="../Labs/PortalAndVsCodeBasics/Samples/Logs/01-fictional-status.kql" TargetMode="External"/><Relationship Id="rId4" Type="http://schemas.openxmlformats.org/officeDocument/2006/relationships/notesSlide" Target="../notesSlides/notesSlide2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03_Log_Analytics_Portal_And_VS_Code.docx" TargetMode="External"/><Relationship Id="rId3" Type="http://schemas.openxmlformats.org/officeDocument/2006/relationships/hyperlink" Target="../Labs/PortalAndVsCodeBasics/Samples/Logs/01-fictional-status.kql" TargetMode="External"/><Relationship Id="rId4" Type="http://schemas.openxmlformats.org/officeDocument/2006/relationships/notesSlide" Target="../notesSlides/notesSlide2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03_Log_Analytics_Portal_And_VS_Code.docx" TargetMode="External"/><Relationship Id="rId3" Type="http://schemas.openxmlformats.org/officeDocument/2006/relationships/notesSlide" Target="../notesSlides/notesSlide2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VS_Code_Azure_Function_And_Dummy_Tracker.docx" TargetMode="External"/><Relationship Id="rId3" Type="http://schemas.openxmlformats.org/officeDocument/2006/relationships/notesSlide" Target="../notesSlides/notesSlide2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zure.microsoft.com/pricing/details/app-service/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00_START_HERE.docx" TargetMode="External"/><Relationship Id="rId4" Type="http://schemas.openxmlformats.org/officeDocument/2006/relationships/notesSlide" Target="../notesSlides/notesSlide2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00_START_HERE.docx" TargetMode="External"/><Relationship Id="rId3" Type="http://schemas.openxmlformats.org/officeDocument/2006/relationships/notesSlide" Target="../notesSlides/notesSlide2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asic_Lab_00_START_HERE.docx" TargetMode="External"/><Relationship Id="rId3" Type="http://schemas.openxmlformats.org/officeDocument/2006/relationships/hyperlink" Target="Basic_Lab_01_Azure_SQL_Portal_And_VS_Code.docx" TargetMode="External"/><Relationship Id="rId4" Type="http://schemas.openxmlformats.org/officeDocument/2006/relationships/hyperlink" Target="Basic_Lab_02_Blob_Storage_Portal_And_VS_Code.docx" TargetMode="External"/><Relationship Id="rId5" Type="http://schemas.openxmlformats.org/officeDocument/2006/relationships/hyperlink" Target="Basic_Lab_VS_Code_Azure_Function_And_Dummy_Tracker.docx" TargetMode="External"/><Relationship Id="rId6" Type="http://schemas.openxmlformats.org/officeDocument/2006/relationships/hyperlink" Target="Basic_Lab_03_Log_Analytics_Portal_And_VS_Code.docx" TargetMode="External"/><Relationship Id="rId7" Type="http://schemas.openxmlformats.org/officeDocument/2006/relationships/notesSlide" Target="../notesSlides/notesSlide30.xml"/><Relationship Id="rId8" Type="http://schemas.openxmlformats.org/officeDocument/2006/relationships/hyperlink" Target="Day_1_Illustrated_Quick_Reference.pdf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WELCOME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11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Day 1 | Azure components, one at a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Today's promise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Understand the service before connecting it to an app.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See the same resource in the portal and VS Code.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Leave with repeatable, evidence-based exercises.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Our working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Explain -&gt; portal -&gt; VS Code -&gt; verify -&gt; practise.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Use existing, approved training resources.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Fictional data only; no secrets on screen.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Start Here: Phase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552754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Student route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28 Oct 2026  |  Fictional data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LEARNING PATH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11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Two days: understand first, integrate later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Day 1 | fundamentals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Orientation and Azure access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SQL and Blob Storage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HTTP Function, Logs and basic KQL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Day 2 | connections and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Service Bus and real application telemetry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Realistic document-tracker workflow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CI/CD, cost and optional IaC / automation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449824"/>
            <a:ext cx="11274552" cy="411480"/>
          </a:xfrm>
          <a:prstGeom prst="roundRect">
            <a:avLst>
              <a:gd name="adj" fmla="val 8000"/>
            </a:avLst>
          </a:prstGeom>
          <a:solidFill>
            <a:srgbClr val="11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545836"/>
            <a:ext cx="109728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rPr/>
              <a:t>Day 2 live integration is conditional on a prepared, tested application.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Phases A, B and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18504"/>
            <a:ext cx="111648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Student route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28 Oct 2026  |  Fictional data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AGENDA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11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Day 1 route | protect hands-on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First half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Orientation + safety: 30-45 min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SQL: 60-70 min including access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Blob Storage: 50-65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Second half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Function: 60-75 min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Logs / KQL: 40-50 min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Practice, troubleshooting and recap: 30-45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28 Oct 2026  |  Fictional data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SAFETY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11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Before any write, check the target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Confirm every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Tenant, subscription and resource name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Assigned table / container / Function host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Your identity, network path and permission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Never use a shortcut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No broad firewall rules to fix a login failure.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No shared admin passwords or keys in evidence.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No class-wide concurrent publish to one app.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Instructor checklist and component checkpoints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111648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Student route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28 Oct 2026  |  Fictional data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FOUNDATIONS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11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Azure names: where does each thing belong?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Management hierarchy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Tenant: identity directory.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Subscription: resource and billing boundary.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Resource group: lifecycle grouping.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Resource: server, account, app or workspace.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Developer perspective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Code runs on your laptop OR a cloud host.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A SQL server is not your local SQL Express.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A workspace name is not its Workspace ID.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Seeing Overview does not prove data access.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28 Oct 2026  |  Fictional data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838A"/>
                </a:solidFill>
                <a:latin typeface="Arial"/>
              </a:rPr>
              <a:t>DAY 1 / FOUNDATIONS / VISUAL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7365D"/>
                </a:solidFill>
                <a:latin typeface="Arial"/>
              </a:rPr>
              <a:t>IaaS, PaaS and SaaS | the pizza comparison</a:t>
            </a:r>
          </a:p>
        </p:txBody>
      </p:sp>
      <p:pic>
        <p:nvPicPr>
          <p:cNvPr id="4" name="Picture 3" descr="cloud-service-pizz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463040"/>
            <a:ext cx="11384280" cy="5059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105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36578"/>
                </a:solidFill>
                <a:latin typeface="Arial"/>
              </a:rPr>
              <a:t>LBS | Azure developer training | 28 Oct 2026 | Simplified teaching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36578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838A"/>
                </a:solidFill>
                <a:latin typeface="Arial"/>
              </a:rPr>
              <a:t>DAY 1 / FOUNDATIONS / VISUAL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7365D"/>
                </a:solidFill>
                <a:latin typeface="Arial"/>
              </a:rPr>
              <a:t>Tenant, subscription, resource group and resource</a:t>
            </a:r>
          </a:p>
        </p:txBody>
      </p:sp>
      <p:pic>
        <p:nvPicPr>
          <p:cNvPr id="4" name="Picture 3" descr="azure-tenant-subscription-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463040"/>
            <a:ext cx="11384280" cy="5059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105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36578"/>
                </a:solidFill>
                <a:latin typeface="Arial"/>
              </a:rPr>
              <a:t>LBS | Azure developer training | 28 Oct 2026 | Simplified teaching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36578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838A"/>
                </a:solidFill>
                <a:latin typeface="Arial"/>
              </a:rPr>
              <a:t>DAY 1 / FOUNDATIONS / VISUAL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7365D"/>
                </a:solidFill>
                <a:latin typeface="Arial"/>
              </a:rPr>
              <a:t>Security | check the network, identity and permissions</a:t>
            </a:r>
          </a:p>
        </p:txBody>
      </p:sp>
      <p:pic>
        <p:nvPicPr>
          <p:cNvPr id="4" name="Picture 3" descr="azure-security-g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463040"/>
            <a:ext cx="11384280" cy="5059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105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36578"/>
                </a:solidFill>
                <a:latin typeface="Arial"/>
              </a:rPr>
              <a:t>LBS | Azure developer training | 28 Oct 2026 | Simplified teaching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36578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ACCESS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11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Two gates: network reachability + permission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Network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SQL: approved single-IP or private-network path.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Blob: account firewall / private endpoint policy.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A TCP connection alone is not a successful SELECT.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Identity / data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Azure Reader does not grant SQL table access.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Blob needs a scoped data role.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Portal, CLI and MSSQL sign-in are separate.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SQL 2A; Blob 1A-1B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552754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SQL handout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4476" y="6318504"/>
            <a:ext cx="552754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3"/>
              </a:rPr>
              <a:t>Blob handout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28 Oct 2026  |  Fictional data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ORIENTATION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D6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Demo 01 | one resource, two views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Sign in; confirm directory and subscription.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Open Training; identify SQL, Storage and Function.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Record resource name and region; change nothing.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VS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Open the supplied lab folder; check Get-Location.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Azure Resources: sign in, select subscription, Refresh.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A new window may keep your old chat in the original window.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Function guide Parts 1-2; orientation-only prerequisites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552754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Function handout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4476" y="6318504"/>
            <a:ext cx="552754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3"/>
              </a:rPr>
              <a:t>Student route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28 Oct 2026  |  Fictional data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ORIENTATION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D6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EXERCISE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Exercise 01 | prove your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Attendee steps | 10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Find your assigned subscription and resource group.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Identify one resource in both tools.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Open the correct lab folder; check Get-Location.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Checkpoint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Record resource name and region.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Record account / directory without secrets.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Missing access? Mark Blocked; do not create a replacement.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Start Here checkpoints; Function Part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552754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Student route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4476" y="6318504"/>
            <a:ext cx="552754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3"/>
              </a:rPr>
              <a:t>Function handout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28 Oct 2026  |  Fictional data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SQL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11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Azure SQL: structure is not application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What we 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CREATE TABLE defines the structure.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INSERT adds fictional rows.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ALTER TABLE adds a column.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UPDATE changes a targeted row.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What we do not 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No new database is needed.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No Web App / API integration today.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Saving a .sql file does not execute it.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MSSQL and portal are clients of one database.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Main exercise and sections 6-7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111648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SQL handout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28 Oct 2026  |  Fictional data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1">
                <a:solidFill>
                  <a:srgbClr val="00838A"/>
                </a:solidFill>
                <a:latin typeface="Arial"/>
              </a:rPr>
              <a:t>DAY 1 / COST-AWARE LAB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800" b="1">
                <a:solidFill>
                  <a:srgbClr val="17365D"/>
                </a:solidFill>
                <a:latin typeface="Arial"/>
              </a:rPr>
              <a:t>Azure SQL | avoid paying for unnecessary capacity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31536" cy="370332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0838A"/>
                </a:solidFill>
                <a:latin typeface="Arial"/>
              </a:rPr>
              <a:t>What drives cost?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5029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Compute tier, allocated capacity and storage.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Backup retention and optional replicas can add cost.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Eligible serverless auto-pause stops compute billing while paused; storage still costs.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828800"/>
            <a:ext cx="5431536" cy="370332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0838A"/>
                </a:solidFill>
                <a:latin typeface="Arial"/>
              </a:rPr>
              <a:t>Student cost-saving habits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2560320"/>
            <a:ext cx="5029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Use the assigned database; do not create a duplicate.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Use tiny tables and targeted queries.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Do not change tiers or auto-pause on shared databases.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Ask the owner about approved temporary-data cleanup.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15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7365D"/>
                </a:solidFill>
                <a:latin typeface="Arial"/>
              </a:rPr>
              <a:t>Use approved existing resources. Ask before changing tiers, retention, capacity or shared settings.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6364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 b="0">
                <a:solidFill>
                  <a:srgbClr val="0066CC"/>
                </a:solidFill>
                <a:latin typeface="Arial"/>
                <a:hlinkClick r:id="rId2"/>
              </a:rPr>
              <a:t>Official service pricing / guidance (check current region and offer)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620256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900" b="0">
                <a:solidFill>
                  <a:srgbClr val="17365D"/>
                </a:solidFill>
                <a:latin typeface="Arial"/>
              </a:rPr>
              <a:t>LBS | Attendee edition | Cost tips are guidance, not a quotation or spending cap.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60196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17365D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SQL ACCESS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D6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Demo 02 | add an approved client 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Portal | authorised operator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Database -&gt; Server link -&gt; Security &gt; Networking.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With approval, choose Selected networks.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Add current public IPv4; Start = End.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Save, reopen and verify the exact rule.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Explain before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Do not copy a screenshot's old IP.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Private laptop IP is not public outbound IP.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Leave Allow Azure services unchecked.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Wait up to five minutes, then reconnect.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449824"/>
            <a:ext cx="11274552" cy="411480"/>
          </a:xfrm>
          <a:prstGeom prst="roundRect">
            <a:avLst>
              <a:gd name="adj" fmla="val 8000"/>
            </a:avLst>
          </a:prstGeom>
          <a:solidFill>
            <a:srgbClr val="11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545836"/>
            <a:ext cx="109728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rPr/>
              <a:t>Instructor permission required; a firewall rule does not create a database user.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Section 2A A-E: complete firewall walkthrough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18504"/>
            <a:ext cx="111648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SQL handout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28 Oct 2026  |  Fictional data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SQL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D6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Demo 03 | create in portal, read in VS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Connect to the assigned database, not master.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Run the connection check; verify DB_NAME().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Run 02-create-and-read.sql with your suffix.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Expect exactly two fictional rows.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VS Code / MSSQL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Create the approved server/database profile.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Encrypt enabled; Trust server certificate=False.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Open a SQL file; connect it; Execute Query.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SELECT the same rows and compare.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Sections 3-6; instructor SELECT is read-only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552754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SQL handout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4476" y="6318504"/>
            <a:ext cx="552754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3"/>
              </a:rPr>
              <a:t>Read-only instructor SELECT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28 Oct 2026  |  Fictional data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SQL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D6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EXERCISE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Exercise 02 | modify and verify both ways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Do | 20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Use only your assigned table suffix.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Run 03-modify-and-check.sql in MSSQL.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Keep GO between ALTER and later statements.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Rerun the SELECT in portal Query editor.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Expected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Four columns, including nullable Notes.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ID 1: Completed / Updated from VS Code.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ID 2: Needs review / NULL.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Optional: change ID 2 Notes in portal; read in MSSQL.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449824"/>
            <a:ext cx="11274552" cy="411480"/>
          </a:xfrm>
          <a:prstGeom prst="roundRect">
            <a:avLst>
              <a:gd name="adj" fmla="val 8000"/>
            </a:avLst>
          </a:prstGeom>
          <a:solidFill>
            <a:srgbClr val="11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545836"/>
            <a:ext cx="109728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rPr/>
              <a:t>No WHERE, no targeted update: pause and inspect before execution.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Section 7 and completion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18504"/>
            <a:ext cx="111648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SQL handout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28 Oct 2026  |  Fictional data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TROUBLESHOOTING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11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SQL: classify the error before changing anything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Connectivity / startup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Wrong hostname: copy from server Overview.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Timeout: verify approved route and current IP.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Paused serverless database: allow resume and retry.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Blank portal blade: a portal-loading issue, not proof of SQL denial.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Authentication /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Login failed: identity, tenant and database.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Permission denied: scoped SQL rights.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Wrong result: database, suffix and selected SQL text.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Invalid Notes column: retain the GO batch boundary.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Section 9 troubleshooting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111648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SQL handout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28 Oct 2026  |  Fictional data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STORAGE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11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Blob Storage: private files, not a public website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Resource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Account -&gt; container -&gt; blob.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A private container blocks anonymous reads.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Network rules and Entra data roles are separate.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This exercise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Tiny fictional .txt files only.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Storage Blob Data Contributor at assigned container.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CLI always uses --auth-mode login.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No keys, SAS or Function bindings.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Sections 1, 1A and 1B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111648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Blob handout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28 Oct 2026  |  Fictional data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1">
                <a:solidFill>
                  <a:srgbClr val="00838A"/>
                </a:solidFill>
                <a:latin typeface="Arial"/>
              </a:rPr>
              <a:t>DAY 1 / COST-AWARE LAB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800" b="1">
                <a:solidFill>
                  <a:srgbClr val="17365D"/>
                </a:solidFill>
                <a:latin typeface="Arial"/>
              </a:rPr>
              <a:t>Blob Storage | tiny files, appropriate access tiers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31536" cy="370332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0838A"/>
                </a:solidFill>
                <a:latin typeface="Arial"/>
              </a:rPr>
              <a:t>What drives cost?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5029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Stored bytes, operations and redundancy.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Retrieval and data transfer can add charges.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Cool, cold and archive may have minimum retention / early deletion charges.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828800"/>
            <a:ext cx="5431536" cy="370332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0838A"/>
                </a:solidFill>
                <a:latin typeface="Arial"/>
              </a:rPr>
              <a:t>Student cost-saving habits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2560320"/>
            <a:ext cx="5029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Use tiny fictional files in your assigned container.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Hot is appropriate for this short, frequently accessed lab.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Avoid repeated downloads and unnecessary copies.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Delete only your lab data after owner approval.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15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7365D"/>
                </a:solidFill>
                <a:latin typeface="Arial"/>
              </a:rPr>
              <a:t>Use approved existing resources. Ask before changing tiers, retention, capacity or shared settings.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6364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 b="0">
                <a:solidFill>
                  <a:srgbClr val="0066CC"/>
                </a:solidFill>
                <a:latin typeface="Arial"/>
                <a:hlinkClick r:id="rId2"/>
              </a:rPr>
              <a:t>Official service pricing / guidance (check current region and offer)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620256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900" b="0">
                <a:solidFill>
                  <a:srgbClr val="17365D"/>
                </a:solidFill>
                <a:latin typeface="Arial"/>
              </a:rPr>
              <a:t>LBS | Attendee edition | Cost tips are guidance, not a quotation or spending cap.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60196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17365D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STORAGE ACCESS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D6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Demo 04 | prepare access without widening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Portal checks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Account &gt; Networking: all / selected / disabled?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Selected networks: approved exact public IP only.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IAM: verify container-scoped data role.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Blob view: switch to Microsoft Entra user account.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Explain the boundaries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Private container != private endpoint.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If all networks allowed, an extra IP is not needed.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Never tighten shared account networking mid-demo.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Wait for role propagation; do not add broader roles.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Sections 1A-1B; network and IAM walkthroughs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111648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Blob handout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28 Oct 2026  |  Fictional data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STORAGE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D6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Demo 05 | portal upload -&gt; terminal download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Open your assigned private container.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Upload Samples\Storage\portal-note.txt.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Leave overwrite off; Refresh after success.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Confirm the file and nonzero byte length.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VS Code terminal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Sign Azure CLI in separately; confirm subscription.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Set $account and $container to assigned values.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List and download using --auth-mode login.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Compare source and downloaded SHA256 hashes.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Sections 2-6; copy exact commands from the handout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111648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Blob handout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28 Oct 2026  |  Fictional data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STORAGE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D6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EXERCISE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Exercise 03 | terminal upload -&gt; portal verify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Do | 20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Open and save vscode-note.txt.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Upload to your own container; no blind overwrite.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Check CLI exit code and list both names.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Refresh portal; inspect/download the new file.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Checkpoint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Refresh the assigned container; confirm the uploaded name.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Download; copy its real path from browser Downloads.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Get-FileHash: compare full SHA256 with the exact source.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Repeat for both directions; no blind overwrite or deletion.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Sections 7-8; repeat-run and cleanup guidance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111648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Blob handout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28 Oct 2026  |  Fictional data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FUNCTIONS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11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HTTP Function: code that has a cloud host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Local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HelloAzureFunction: project folder.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ApplicationStatus: the function name and route.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Core Tools runs the local Functions host.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Azurite is local development storage.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Cloud concepts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Function App: approved deployment target.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.NET 10 isolated runtime must match the project.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Function-level key protects this training endpoint.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This fixed JSON does not read SQL or Blob.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Names, prerequisites and Parts 3-5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111648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Function handout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28 Oct 2026  |  Fictional data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1">
                <a:solidFill>
                  <a:srgbClr val="00838A"/>
                </a:solidFill>
                <a:latin typeface="Arial"/>
              </a:rPr>
              <a:t>DAY 1 / COST-AWARE LAB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800" b="1">
                <a:solidFill>
                  <a:srgbClr val="17365D"/>
                </a:solidFill>
                <a:latin typeface="Arial"/>
              </a:rPr>
              <a:t>Azure Functions | local testing is not Azure shutdown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31536" cy="370332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0838A"/>
                </a:solidFill>
                <a:latin typeface="Arial"/>
              </a:rPr>
              <a:t>What drives cost?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5029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Hosting plan, executions and execution resources.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Always-ready instances can add baseline charges.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Host storage, logs and network services have separate costs.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828800"/>
            <a:ext cx="5431536" cy="370332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0838A"/>
                </a:solidFill>
                <a:latin typeface="Arial"/>
              </a:rPr>
              <a:t>Student cost-saving habits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2560320"/>
            <a:ext cx="5029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Build and test locally first; avoid repeated cloud calls.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Reuse the approved host; no duplicate plan.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Ctrl+C stops only the local server, not Azure charges.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Do not change shared scaling / always-ready settings.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15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7365D"/>
                </a:solidFill>
                <a:latin typeface="Arial"/>
              </a:rPr>
              <a:t>Use approved existing resources. Ask before changing tiers, retention, capacity or shared settings.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6364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 b="0">
                <a:solidFill>
                  <a:srgbClr val="0066CC"/>
                </a:solidFill>
                <a:latin typeface="Arial"/>
                <a:hlinkClick r:id="rId2"/>
              </a:rPr>
              <a:t>Official service pricing / guidance (check current region and offer)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620256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900" b="0">
                <a:solidFill>
                  <a:srgbClr val="17365D"/>
                </a:solidFill>
                <a:latin typeface="Arial"/>
              </a:rPr>
              <a:t>LBS | Attendee edition | Cost tips are guidance, not a quotation or spending cap.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60196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17365D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FUNCTIONS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D6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Demo 06 | build, host, then request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Terminal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Open HelloAzureFunction by itself.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Create local settings from supplied example if absent.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Build; start Azurite.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func start --port 7071; KEEP IT RUNNING.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Terminal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Request /api/ApplicationStatus on localhost:7071.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Check reference, Received, fictionalData and message.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After testing: Ctrl+C in terminal 1; wait for prompt.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Local host stops; Azure host and source code remain.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449824"/>
            <a:ext cx="11274552" cy="411480"/>
          </a:xfrm>
          <a:prstGeom prst="roundRect">
            <a:avLst>
              <a:gd name="adj" fmla="val 8000"/>
            </a:avLst>
          </a:prstGeom>
          <a:solidFill>
            <a:srgbClr val="11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545836"/>
            <a:ext cx="109728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rPr/>
              <a:t>Build alone is not an HTTP test. Verify your own local response; Ctrl+C stops only your local host.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Part 3: local settings, host and second-terminal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18504"/>
            <a:ext cx="111648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Function handout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28 Oct 2026  |  Fictional data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FUNCTIONS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D6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Demo 07 | publish only to an approved host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VS Code publishing route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Confirm target name, runtime and replacement approval.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Use the supplied Function project and publish task.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Choose the assigned Function App, not a Web App.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Wait for success, then verify the deployed function.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Cloud 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Get Function URL: choose default (Function key).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Not Host key or _master; paste into browser, not chat.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Keyed: expected JSON; Test/Run can show HTTP 200.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Remove ?code=...: expect HTTP 401, not a broken app.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Parts 4-5; test-only route if publish not approved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111648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Function handout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28 Oct 2026  |  Fictional data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FUNCTIONS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D6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EXERCISE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Exercise 04 | record local and cloud separately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Do | 20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Run the supplied local Function when tools are ready.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Publish only with target-owner approval.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Otherwise test the approved existing cloud endpoint.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Record status code and response fields, never keys.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Checkpoint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Local host: Passed / Blocked / Not run.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Publish: Passed / Not approved / Not run.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Cloud: expected response and keyless denial.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Website results are Not run in Function-only route.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Parts 3-5 and Function-related Part 8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111648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Function handout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28 Oct 2026  |  Fictional data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OBSERVABILITY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11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Log Analytics is the service; KQL is the language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Workspace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Holds queryable log tables.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Has a name, resource ID and Workspace ID GUID.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Query access is separate from Overview access.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KQL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Pipe operators transform tabular results.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where filters; project selects columns.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order by sorts; summarize aggregates.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A saved .kql file is not an ingested log.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Sections 1-3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111648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Logs / KQL handout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28 Oct 2026  |  Fictional data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1">
                <a:solidFill>
                  <a:srgbClr val="00838A"/>
                </a:solidFill>
                <a:latin typeface="Arial"/>
              </a:rPr>
              <a:t>DAY 1 / COST-AWARE LAB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800" b="1">
                <a:solidFill>
                  <a:srgbClr val="17365D"/>
                </a:solidFill>
                <a:latin typeface="Arial"/>
              </a:rPr>
              <a:t>Log Analytics | collect what you actually need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31536" cy="370332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0838A"/>
                </a:solidFill>
                <a:latin typeface="Arial"/>
              </a:rPr>
              <a:t>What drives cost?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5029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Log ingestion and retention beyond included allowances.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Some table plans charge for queries / search.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Export, alerts and other monitoring features may add cost.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828800"/>
            <a:ext cx="5431536" cy="370332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0838A"/>
                </a:solidFill>
                <a:latin typeface="Arial"/>
              </a:rPr>
              <a:t>Student cost-saving habits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2560320"/>
            <a:ext cx="5029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Use the supplied synthetic query; it ingests no rows.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For real logs, use a short time range and relevant scope.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Do not enable verbose logging or new collection just for practice.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Ask the owner before changing retention or caps.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15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7365D"/>
                </a:solidFill>
                <a:latin typeface="Arial"/>
              </a:rPr>
              <a:t>Use approved existing resources. Ask before changing tiers, retention, capacity or shared settings.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6364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 b="0">
                <a:solidFill>
                  <a:srgbClr val="0066CC"/>
                </a:solidFill>
                <a:latin typeface="Arial"/>
                <a:hlinkClick r:id="rId2"/>
              </a:rPr>
              <a:t>Official service pricing / guidance (check current region and offer)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620256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900" b="0">
                <a:solidFill>
                  <a:srgbClr val="17365D"/>
                </a:solidFill>
                <a:latin typeface="Arial"/>
              </a:rPr>
              <a:t>LBS | Attendee edition | Cost tips are guidance, not a quotation or spending cap.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60196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17365D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KQL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D6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Demo 08 | start with a predictable 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Portal Logs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Open assigned workspace; confirm query scope.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Close Welcome and Queries hub (top-right X).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Turn Agent off; select KQL mode above the editor.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Paste supplied query; Run; expect three ordered rows.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Explain the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LBS-DEMO-1001: Completed.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LBS-DEMO-1002: Needs review.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LBS-DEMO-1003: Received.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Rows are synthetic; no ingestion is proven.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Sections 2-3; no ADX cluster required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552754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Logs / KQL handout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4476" y="6318504"/>
            <a:ext cx="552754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3"/>
              </a:rPr>
              <a:t>Supplied KQL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28 Oct 2026  |  Fictional data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KQL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11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Read the pipeline from top to bottom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Supplied main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600">
                <a:solidFill>
                  <a:srgbClr val="18334D"/>
                </a:solidFill>
                <a:latin typeface="Consolas"/>
              </a:defRPr>
            </a:pPr>
            <a:r>
              <a:rPr/>
              <a:t>datatable(Reference:string, Status:string)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600">
                <a:solidFill>
                  <a:srgbClr val="18334D"/>
                </a:solidFill>
                <a:latin typeface="Consolas"/>
              </a:defRPr>
            </a:pPr>
            <a:r>
              <a:rPr/>
              <a:t>[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600">
                <a:solidFill>
                  <a:srgbClr val="18334D"/>
                </a:solidFill>
                <a:latin typeface="Consolas"/>
              </a:defRPr>
            </a:pPr>
            <a:r>
              <a:rPr/>
              <a:t>  "LBS-DEMO-1001", "Completed",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600">
                <a:solidFill>
                  <a:srgbClr val="18334D"/>
                </a:solidFill>
                <a:latin typeface="Consolas"/>
              </a:defRPr>
            </a:pPr>
            <a:r>
              <a:rPr/>
              <a:t>  "LBS-DEMO-1002", "Needs review",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600">
                <a:solidFill>
                  <a:srgbClr val="18334D"/>
                </a:solidFill>
                <a:latin typeface="Consolas"/>
              </a:defRPr>
            </a:pPr>
            <a:r>
              <a:rPr/>
              <a:t>  "LBS-DEMO-1003", "Received"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600">
                <a:solidFill>
                  <a:srgbClr val="18334D"/>
                </a:solidFill>
                <a:latin typeface="Consolas"/>
              </a:defRPr>
            </a:pPr>
            <a:r>
              <a:rPr/>
              <a:t>]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600">
                <a:solidFill>
                  <a:srgbClr val="18334D"/>
                </a:solidFill>
                <a:latin typeface="Consolas"/>
              </a:defRPr>
            </a:pPr>
            <a:r>
              <a:rPr/>
              <a:t>| order by Reference asc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Try only in a separate portal tab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Add a where filter for Completed: one row.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Restore the original before terminal comparison.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Keep supplied KQL and request JSON in sync.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The main script asserts exactly three rows.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Section 3; optional filter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552754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Logs / KQL handout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4476" y="6318504"/>
            <a:ext cx="552754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3"/>
              </a:rPr>
              <a:t>Supplied KQL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28 Oct 2026  |  Fictional data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KQL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D6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EXERCISE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Exercise 05 | same query from VS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Do | 15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Workspace Overview &gt; Essentials &gt; copy Workspace ID.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Not workspace name, Subscription ID or resource ID.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In PortalAndVsCodeBasics, use the signed-in CLI.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Run the supplied script with that GUID; compare results.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Checkpoint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Script prints three expected rows and PASS.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Compare with portal Logs results.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Record workspace and result time.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No workspace key, agent or new table needed.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Sections 4-5; exact script invocation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111648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Logs / KQL handout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28 Oct 2026  |  Fictional data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D6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EXERCISE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Optional | dummy tracker UI is not integration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Local-only UI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Open DummyDocumentTracker.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Run on localhost:5203 using the guide.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Check three records and detail buttons.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Say this explicitly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Fixed sample records, not SQL rows.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No upload/processing or Blob integration.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The real local scenario is a different project.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No website deployment required today.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Parts 6-8 only; optional local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111648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Function handout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28 Oct 2026  |  Fictional data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1">
                <a:solidFill>
                  <a:srgbClr val="00838A"/>
                </a:solidFill>
                <a:latin typeface="Arial"/>
              </a:rPr>
              <a:t>DAY 1 / COST-AWARE LAB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800" b="1">
                <a:solidFill>
                  <a:srgbClr val="17365D"/>
                </a:solidFill>
                <a:latin typeface="Arial"/>
              </a:rPr>
              <a:t>App Service / local websites | understand the hosting boundary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31536" cy="370332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0838A"/>
                </a:solidFill>
                <a:latin typeface="Arial"/>
              </a:rPr>
              <a:t>What drives cost?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5029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Paid App Service plans charge for allocated instances.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Stopping an app does not stop paid plan charges.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Related storage, monitoring and network services can still cost.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828800"/>
            <a:ext cx="5431536" cy="3703320"/>
          </a:xfrm>
          <a:prstGeom prst="roundRect">
            <a:avLst/>
          </a:prstGeom>
          <a:solidFill>
            <a:srgbClr val="F1F5F8"/>
          </a:solidFill>
          <a:ln>
            <a:solidFill>
              <a:srgbClr val="D6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0838A"/>
                </a:solidFill>
                <a:latin typeface="Arial"/>
              </a:rPr>
              <a:t>Student cost-saving habits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2560320"/>
            <a:ext cx="5029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Run the optional dummy UI locally; Azure hosting is not required.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Never create a paid Web App without approval.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The Function FC1 plan is not the website's hosting target.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7365D"/>
                </a:solidFill>
                <a:latin typeface="Arial"/>
              </a:rPr>
              <a:t>• Only the owner approves plan deletion or resizing.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15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7365D"/>
                </a:solidFill>
                <a:latin typeface="Arial"/>
              </a:rPr>
              <a:t>Use approved existing resources. Ask before changing tiers, retention, capacity or shared settings.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6364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 b="0">
                <a:solidFill>
                  <a:srgbClr val="0066CC"/>
                </a:solidFill>
                <a:latin typeface="Arial"/>
                <a:hlinkClick r:id="rId2"/>
              </a:rPr>
              <a:t>Official service pricing / guidance (check current region and offer)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620256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900" b="0">
                <a:solidFill>
                  <a:srgbClr val="17365D"/>
                </a:solidFill>
                <a:latin typeface="Arial"/>
              </a:rPr>
              <a:t>LBS | Attendee edition | Cost tips are guidance, not a quotation or spending cap.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60196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17365D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TROUBLESHOOTING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11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A repeatable troubleshooting ladder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Check in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1. Correct folder, file and tool?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2. Correct tenant, subscription and target?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3. Reachable network and current IP?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4. Correct identity and scoped permission?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Then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5. Exact error / CLI exit code?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6. Small read-only request first.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7. Make one approved change; retest.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8. Save evidence without sensitive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Check each service's troubleshooting 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552754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Student route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28 Oct 2026  |  Fictional data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RECAP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D6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EXERCISE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Day 1 exit ticket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Explain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Why are network and identity separate gates?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What executes when you save a SQL/KQL file?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How is a private container different from a private endpoint?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Demonstrate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Show one verified component in both tools.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Record a blocked step accurately.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Identify the correct guide and safe cleanup.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Tomorrow: messaging, real telemetry and the whole workflow.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Component checkpoints; retain your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111648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Student route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28 Oct 2026  |  Fictional data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200" b="1">
                <a:solidFill>
                  <a:srgbClr val="007F83"/>
                </a:solidFill>
                <a:latin typeface="Aptos"/>
              </a:defRPr>
            </a:pPr>
            <a:r>
              <a:rPr/>
              <a:t>DAY 1  /  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48088" y="283464"/>
            <a:ext cx="1883664" cy="347472"/>
          </a:xfrm>
          <a:prstGeom prst="roundRect">
            <a:avLst>
              <a:gd name="adj" fmla="val 8000"/>
            </a:avLst>
          </a:prstGeom>
          <a:solidFill>
            <a:srgbClr val="11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33756"/>
            <a:ext cx="16459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9536"/>
            <a:ext cx="11247120" cy="8412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900" b="1">
                <a:solidFill>
                  <a:srgbClr val="11243A"/>
                </a:solidFill>
                <a:latin typeface="Aptos"/>
              </a:defRPr>
            </a:pPr>
            <a:r>
              <a:rPr/>
              <a:t>Your Day 1 documents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Use the handouts for exact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Start Here: order and checkpoints.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SQL: firewall, MSSQL and modification scripts.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Blob: network/IAM and two-way file checks.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28800"/>
            <a:ext cx="5431536" cy="345643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011680"/>
            <a:ext cx="4956048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2100" b="1">
                <a:solidFill>
                  <a:srgbClr val="007F83"/>
                </a:solidFill>
                <a:latin typeface="Aptos"/>
              </a:defRPr>
            </a:pPr>
            <a:r>
              <a:rPr/>
              <a:t>Continue independently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633472"/>
            <a:ext cx="4956048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Function: local / approved publish / cloud checks.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Logs/KQL: workspace and matching synthetic query.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>
                <a:hlinkClick r:id="rId8"/>
              </a:rPr>
              <a:t>• Illustrated Day 1 quick reference: diagrams + checklist.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800">
                <a:solidFill>
                  <a:srgbClr val="18334D"/>
                </a:solidFill>
                <a:latin typeface="Aptos"/>
              </a:defRPr>
            </a:pPr>
            <a:r>
              <a:rPr/>
              <a:t>• Record your own Passed / Blocked / Not run results.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71032"/>
            <a:ext cx="1126540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0">
                <a:solidFill>
                  <a:srgbClr val="516579"/>
                </a:solidFill>
                <a:latin typeface="Aptos"/>
              </a:defRPr>
            </a:pPr>
            <a:r>
              <a:rPr/>
              <a:t>REFERENCE / Clickable links below; keep deck beside documents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18504"/>
            <a:ext cx="2145182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2"/>
              </a:rPr>
              <a:t>Student route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2110" y="6318504"/>
            <a:ext cx="2145182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3"/>
              </a:rPr>
              <a:t>SQL handout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67020" y="6318504"/>
            <a:ext cx="2145182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4"/>
              </a:rPr>
              <a:t>Blob handout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1931" y="6318504"/>
            <a:ext cx="2145182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5"/>
              </a:rPr>
              <a:t>Function handout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6841" y="6318504"/>
            <a:ext cx="2145182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007F83"/>
                </a:solidFill>
                <a:latin typeface="Aptos"/>
              </a:defRPr>
            </a:pPr>
            <a:r>
              <a:rPr u="sng">
                <a:hlinkClick r:id="rId6"/>
              </a:rPr>
              <a:t>Logs / KQL handout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900" b="0">
                <a:solidFill>
                  <a:srgbClr val="516579"/>
                </a:solidFill>
                <a:latin typeface="Aptos"/>
              </a:defRPr>
            </a:pPr>
            <a:r>
              <a:rPr/>
              <a:t>LBS  |  Azure developer training  |  28 Oct 2026  |  Fictional data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611112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defRPr sz="1100" b="1">
                <a:solidFill>
                  <a:srgbClr val="516579"/>
                </a:solidFill>
                <a:latin typeface="Aptos"/>
              </a:defRPr>
            </a:pPr>
            <a:r>
              <a:rPr/>
              <a:t>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LBS Azure Developer Training | Day 1</dc:title>
  <dc:subject>Individual component exercises, then realistic workflow and operations</dc:subject>
  <dc:creator>LBS Training</dc:creator>
  <cp:keywords>Azure, portal, VS Code, beginner, fictional data</cp:keywords>
  <dc:description>generated using python-pptx</dc:description>
  <cp:lastModifiedBy>LBS Training</cp:lastModifiedBy>
  <cp:revision>1</cp:revision>
  <dcterms:created xsi:type="dcterms:W3CDTF">2013-01-27T09:14:16Z</dcterms:created>
  <dcterms:modified xsi:type="dcterms:W3CDTF">2013-01-27T09:15:58Z</dcterms:modified>
  <cp:category/>
</cp:coreProperties>
</file>