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00_DAY_2_ORDER.docx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00_DAY_2_ORDER.docx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00_DAY_2_ORDER.docx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00_DAY_2_ORDER.docx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00_DAY_2_ORDER.docx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00_DAY_2_ORDER.docx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00_DAY_2_ORDER.docx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00_DAY_2_ORDER.docx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00_DAY_2_ORDER.docx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00_DAY_2_ORDER.docx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00_DAY_2_ORDER.docx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00_DAY_2_ORDER.docx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00_DAY_2_ORDER.docx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00_DAY_2_ORDER.docx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00_DAY_2_ORDER.docx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00_DAY_2_ORDER.docx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00_DAY_2_ORDER.docx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00_DAY_2_ORDER.docx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00_DAY_2_ORDER.docx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00_DAY_2_ORDER.docx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00_DAY_2_ORDER.docx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00_DAY_2_ORDER.docx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00_DAY_2_ORDER.docx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00_DAY_2_ORDER.docx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00_DAY_2_ORDER.docx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00_DAY_2_ORDER.docx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00_DAY_2_ORDER.docx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00_DAY_2_ORDER.docx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00_DAY_2_ORDER.docx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00_DAY_2_ORDER.docx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00_DAY_2_ORDER.docx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00_DAY_2_ORDER.docx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00_DAY_2_ORDER.docx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00_DAY_2_ORDER.docx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00838A"/>
                </a:solidFill>
                <a:latin typeface="Arial"/>
              </a:rPr>
              <a:t>DAY 2 / WELCOME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2700" b="1">
                <a:solidFill>
                  <a:srgbClr val="17365D"/>
                </a:solidFill>
                <a:latin typeface="Arial"/>
              </a:rPr>
              <a:t>Welcome: investigate, explain, then 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449824" cy="411480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1">
                <a:solidFill>
                  <a:srgbClr val="00838A"/>
                </a:solidFill>
                <a:latin typeface="Arial"/>
              </a:rPr>
              <a:t>Understand /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50292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09:45-17:30; Azure beginners, experienced developers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Cost Management and observability are today's priorities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Fictional data; approved scopes; no shared fault injection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28800"/>
            <a:ext cx="5449824" cy="411480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1168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1">
                <a:solidFill>
                  <a:srgbClr val="00838A"/>
                </a:solidFill>
                <a:latin typeface="Arial"/>
              </a:rPr>
              <a:t>Verify / boundaries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651760"/>
            <a:ext cx="50292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Explain -&gt; demonstrate -&gt; practise -&gt; verify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Record live / prepared query / offline review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Separate observations, hypotheses and verified fixes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63640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0066CC"/>
                </a:solidFill>
                <a:latin typeface="Arial"/>
                <a:hlinkClick r:id="rId2"/>
              </a:rPr>
              <a:t>Day 2 order / handouts: download the whole pack and keep its folder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601968"/>
            <a:ext cx="10607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17365D"/>
                </a:solidFill>
                <a:latin typeface="Arial"/>
              </a:rPr>
              <a:t>LBS | Student edition | Fictional data only | 09:45-17:30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836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17365D"/>
                </a:solidFill>
                <a:latin typeface="Arial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00838A"/>
                </a:solidFill>
                <a:latin typeface="Arial"/>
              </a:rPr>
              <a:t>DAY 2 /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2700" b="1">
                <a:solidFill>
                  <a:srgbClr val="17365D"/>
                </a:solidFill>
                <a:latin typeface="Arial"/>
              </a:rPr>
              <a:t>Today's route and protected practice time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449824" cy="411480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1">
                <a:solidFill>
                  <a:srgbClr val="00838A"/>
                </a:solidFill>
                <a:latin typeface="Arial"/>
              </a:rPr>
              <a:t>Understand /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50292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09:45 recap | 10:00 cost lab (75 min)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11:15 break | 11:30 Application Insights (75 min)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12:45 lunch | 13:30 KQL (75 min)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28800"/>
            <a:ext cx="5449824" cy="411480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1168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1">
                <a:solidFill>
                  <a:srgbClr val="00838A"/>
                </a:solidFill>
                <a:latin typeface="Arial"/>
              </a:rPr>
              <a:t>Verify / boundaries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651760"/>
            <a:ext cx="50292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14:45 break | 15:00 Service Bus (35 min)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15:35 local tracker (45 min) | 16:20 team exercise (40 min)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17:00 assessment and cleanup | 17:30 close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63640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0066CC"/>
                </a:solidFill>
                <a:latin typeface="Arial"/>
                <a:hlinkClick r:id="rId2"/>
              </a:rPr>
              <a:t>Day 2 order / handouts: download the whole pack and keep its folder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601968"/>
            <a:ext cx="10607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17365D"/>
                </a:solidFill>
                <a:latin typeface="Arial"/>
              </a:rPr>
              <a:t>LBS | Student edition | Fictional data only | 09:45-17:30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836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17365D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00838A"/>
                </a:solidFill>
                <a:latin typeface="Arial"/>
              </a:rPr>
              <a:t>DAY 2 /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2700" b="1">
                <a:solidFill>
                  <a:srgbClr val="17365D"/>
                </a:solidFill>
                <a:latin typeface="Arial"/>
              </a:rPr>
              <a:t>One fictional story, three independent evidence routes</a:t>
            </a:r>
          </a:p>
        </p:txBody>
      </p:sp>
      <p:pic>
        <p:nvPicPr>
          <p:cNvPr id="4" name="Picture 3" descr="day2-investigation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37360"/>
            <a:ext cx="10607040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63640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0066CC"/>
                </a:solidFill>
                <a:latin typeface="Arial"/>
                <a:hlinkClick r:id="rId3"/>
              </a:rPr>
              <a:t>Day 2 order / handouts: download the whole pack and keep its folder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601968"/>
            <a:ext cx="10607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17365D"/>
                </a:solidFill>
                <a:latin typeface="Arial"/>
              </a:rPr>
              <a:t>LBS | Student edition | Fictional data only | 09:45-17:30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836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17365D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00838A"/>
                </a:solidFill>
                <a:latin typeface="Arial"/>
              </a:rPr>
              <a:t>DAY 2 / COST /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2700" b="1">
                <a:solidFill>
                  <a:srgbClr val="17365D"/>
                </a:solidFill>
                <a:latin typeface="Arial"/>
              </a:rPr>
              <a:t>Cost: actual, amortised, forecast and estimate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449824" cy="411480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1">
                <a:solidFill>
                  <a:srgbClr val="00838A"/>
                </a:solidFill>
                <a:latin typeface="Arial"/>
              </a:rPr>
              <a:t>Understand /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50292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Actuals report available billing data, which can lag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Amortised costs allocate commitments over time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Forecast predicts; calculator estimates a proposed 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28800"/>
            <a:ext cx="5449824" cy="411480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1168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1">
                <a:solidFill>
                  <a:srgbClr val="00838A"/>
                </a:solidFill>
                <a:latin typeface="Arial"/>
              </a:rPr>
              <a:t>Verify / boundaries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651760"/>
            <a:ext cx="50292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Record scope, currency, dates and metric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Compare equal complete periods with consistent filters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A blank cost view is not proof of no charges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63640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0066CC"/>
                </a:solidFill>
                <a:latin typeface="Arial"/>
                <a:hlinkClick r:id="rId2"/>
              </a:rPr>
              <a:t>Day 2 order / handouts: download the whole pack and keep its folder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601968"/>
            <a:ext cx="10607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17365D"/>
                </a:solidFill>
                <a:latin typeface="Arial"/>
              </a:rPr>
              <a:t>LBS | Student edition | Fictional data only | 09:45-17:30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836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17365D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00838A"/>
                </a:solidFill>
                <a:latin typeface="Arial"/>
              </a:rPr>
              <a:t>DAY 2 / COST /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2700" b="1">
                <a:solidFill>
                  <a:srgbClr val="17365D"/>
                </a:solidFill>
                <a:latin typeface="Arial"/>
              </a:rPr>
              <a:t>Demo: Cost Management -&gt; Scope -&gt; Cost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449824" cy="411480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1">
                <a:solidFill>
                  <a:srgbClr val="00838A"/>
                </a:solidFill>
                <a:latin typeface="Arial"/>
              </a:rPr>
              <a:t>Understand /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50292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Confirm tenant and approved cost scope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Choose Services or a customisable view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Read dates, currency and cost metric before the chart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28800"/>
            <a:ext cx="5449824" cy="411480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1168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1">
                <a:solidFill>
                  <a:srgbClr val="00838A"/>
                </a:solidFill>
                <a:latin typeface="Arial"/>
              </a:rPr>
              <a:t>Verify / boundaries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651760"/>
            <a:ext cx="50292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Group by service, then resource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Compare equal periods; record filters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If denied, mark live access Blocked and use 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63640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0066CC"/>
                </a:solidFill>
                <a:latin typeface="Arial"/>
                <a:hlinkClick r:id="rId2"/>
              </a:rPr>
              <a:t>Day 2 order / handouts: download the whole pack and keep its folder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601968"/>
            <a:ext cx="10607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17365D"/>
                </a:solidFill>
                <a:latin typeface="Arial"/>
              </a:rPr>
              <a:t>LBS | Student edition | Fictional data only | 09:45-17:30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836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17365D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00838A"/>
                </a:solidFill>
                <a:latin typeface="Arial"/>
              </a:rPr>
              <a:t>DAY 2 / COST / EXERCISE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2700" b="1">
                <a:solidFill>
                  <a:srgbClr val="17365D"/>
                </a:solidFill>
                <a:latin typeface="Arial"/>
              </a:rPr>
              <a:t>Practice: explain the largest cost increase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449824" cy="411480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1">
                <a:solidFill>
                  <a:srgbClr val="00838A"/>
                </a:solidFill>
                <a:latin typeface="Arial"/>
              </a:rPr>
              <a:t>Understand /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50292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Open fictional-costs.csv if live data is unavailable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Sum each period separately; group by Service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Calculate absolute and percentage change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28800"/>
            <a:ext cx="5449824" cy="411480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1168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1">
                <a:solidFill>
                  <a:srgbClr val="00838A"/>
                </a:solidFill>
                <a:latin typeface="Arial"/>
              </a:rPr>
              <a:t>Verify / boundaries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651760"/>
            <a:ext cx="50292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Identify the main contributor and missing evidence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Propose one optimisation with risk and owner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Amounts are invented GBP values, not Azure prices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63640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0066CC"/>
                </a:solidFill>
                <a:latin typeface="Arial"/>
                <a:hlinkClick r:id="rId2"/>
              </a:rPr>
              <a:t>Day 2 order / handouts: download the whole pack and keep its folder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601968"/>
            <a:ext cx="10607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17365D"/>
                </a:solidFill>
                <a:latin typeface="Arial"/>
              </a:rPr>
              <a:t>LBS | Student edition | Fictional data only | 09:45-17:30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836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17365D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00838A"/>
                </a:solidFill>
                <a:latin typeface="Arial"/>
              </a:rPr>
              <a:t>DAY 2 / COST /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2700" b="1">
                <a:solidFill>
                  <a:srgbClr val="17365D"/>
                </a:solidFill>
                <a:latin typeface="Arial"/>
              </a:rPr>
              <a:t>Mandatory budget design; optional real creation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449824" cy="411480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1">
                <a:solidFill>
                  <a:srgbClr val="00838A"/>
                </a:solidFill>
                <a:latin typeface="Arial"/>
              </a:rPr>
              <a:t>Understand /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50292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Specify scope, currency, period, amount and owner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Choose approved recipients and notification thresholds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Preview in Budgets only if access permits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28800"/>
            <a:ext cx="5449824" cy="411480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1168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1">
                <a:solidFill>
                  <a:srgbClr val="00838A"/>
                </a:solidFill>
                <a:latin typeface="Arial"/>
              </a:rPr>
              <a:t>Verify / boundaries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651760"/>
            <a:ext cx="50292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No real creation without approval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Budget notifications do not automatically stop spend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Design, created budget and fired notification are different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63640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0066CC"/>
                </a:solidFill>
                <a:latin typeface="Arial"/>
                <a:hlinkClick r:id="rId2"/>
              </a:rPr>
              <a:t>Day 2 order / handouts: download the whole pack and keep its folder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601968"/>
            <a:ext cx="10607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17365D"/>
                </a:solidFill>
                <a:latin typeface="Arial"/>
              </a:rPr>
              <a:t>LBS | Student edition | Fictional data only | 09:45-17:30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836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17365D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00838A"/>
                </a:solidFill>
                <a:latin typeface="Arial"/>
              </a:rPr>
              <a:t>DAY 2 / COST /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2700" b="1">
                <a:solidFill>
                  <a:srgbClr val="17365D"/>
                </a:solidFill>
                <a:latin typeface="Arial"/>
              </a:rPr>
              <a:t>Cost decisions must preserve the service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449824" cy="411480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1">
                <a:solidFill>
                  <a:srgbClr val="00838A"/>
                </a:solidFill>
                <a:latin typeface="Arial"/>
              </a:rPr>
              <a:t>Understand /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50292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App Service plan can charge while app is stopped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SQL storage and monitoring may continue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Access tier savings depend on retrieval and retention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28800"/>
            <a:ext cx="5449824" cy="411480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1168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1">
                <a:solidFill>
                  <a:srgbClr val="00838A"/>
                </a:solidFill>
                <a:latin typeface="Arial"/>
              </a:rPr>
              <a:t>Verify / boundaries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651760"/>
            <a:ext cx="50292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Do not disable security or required monitoring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Owner reviews changes and dependencies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Keep a resource-by-resource cleanup proposal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63640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0066CC"/>
                </a:solidFill>
                <a:latin typeface="Arial"/>
                <a:hlinkClick r:id="rId2"/>
              </a:rPr>
              <a:t>Day 2 order / handouts: download the whole pack and keep its folder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601968"/>
            <a:ext cx="10607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17365D"/>
                </a:solidFill>
                <a:latin typeface="Arial"/>
              </a:rPr>
              <a:t>LBS | Student edition | Fictional data only | 09:45-17:30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836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17365D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00838A"/>
                </a:solidFill>
                <a:latin typeface="Arial"/>
              </a:rPr>
              <a:t>DAY 2 / OBSERVABILITY /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2700" b="1">
                <a:solidFill>
                  <a:srgbClr val="17365D"/>
                </a:solidFill>
                <a:latin typeface="Arial"/>
              </a:rPr>
              <a:t>Application Insights, workspace and application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449824" cy="411480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1">
                <a:solidFill>
                  <a:srgbClr val="00838A"/>
                </a:solidFill>
                <a:latin typeface="Arial"/>
              </a:rPr>
              <a:t>Understand /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50292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Requests describe incoming operations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Dependencies describe outgoing calls when collected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Workspace stores/query scope; component identifies app telemetry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28800"/>
            <a:ext cx="5449824" cy="411480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1168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1">
                <a:solidFill>
                  <a:srgbClr val="00838A"/>
                </a:solidFill>
                <a:latin typeface="Arial"/>
              </a:rPr>
              <a:t>Verify / boundaries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651760"/>
            <a:ext cx="50292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A connection string alone does not prove instrumentation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Local tracker is not connected to Azure Monitor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Use a prepared instrumented app or labelled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63640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0066CC"/>
                </a:solidFill>
                <a:latin typeface="Arial"/>
                <a:hlinkClick r:id="rId2"/>
              </a:rPr>
              <a:t>Day 2 order / handouts: download the whole pack and keep its folder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601968"/>
            <a:ext cx="10607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17365D"/>
                </a:solidFill>
                <a:latin typeface="Arial"/>
              </a:rPr>
              <a:t>LBS | Student edition | Fictional data only | 09:45-17:30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836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17365D"/>
                </a:solidFill>
                <a:latin typeface="Arial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00838A"/>
                </a:solidFill>
                <a:latin typeface="Arial"/>
              </a:rPr>
              <a:t>DAY 2 / OBSERVABILITY /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2700" b="1">
                <a:solidFill>
                  <a:srgbClr val="17365D"/>
                </a:solidFill>
                <a:latin typeface="Arial"/>
              </a:rPr>
              <a:t>Demo: navigate to an operation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449824" cy="411480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1">
                <a:solidFill>
                  <a:srgbClr val="00838A"/>
                </a:solidFill>
                <a:latin typeface="Arial"/>
              </a:rPr>
              <a:t>Understand /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50292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Confirm assigned component and linked workspace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Inspect Performance / Failures in a bounded window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Record UTC request time and actual endpoint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28800"/>
            <a:ext cx="5449824" cy="411480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1168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1">
                <a:solidFill>
                  <a:srgbClr val="00838A"/>
                </a:solidFill>
                <a:latin typeface="Arial"/>
              </a:rPr>
              <a:t>Verify / boundaries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651760"/>
            <a:ext cx="50292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Open one request and transaction details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Inspect duration, status and operation ID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No configuration changes or shared failure injection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63640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0066CC"/>
                </a:solidFill>
                <a:latin typeface="Arial"/>
                <a:hlinkClick r:id="rId2"/>
              </a:rPr>
              <a:t>Day 2 order / handouts: download the whole pack and keep its folder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601968"/>
            <a:ext cx="10607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17365D"/>
                </a:solidFill>
                <a:latin typeface="Arial"/>
              </a:rPr>
              <a:t>LBS | Student edition | Fictional data only | 09:45-17:30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836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17365D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00838A"/>
                </a:solidFill>
                <a:latin typeface="Arial"/>
              </a:rPr>
              <a:t>DAY 2 / OBSERVABILITY /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2700" b="1">
                <a:solidFill>
                  <a:srgbClr val="17365D"/>
                </a:solidFill>
                <a:latin typeface="Arial"/>
              </a:rPr>
              <a:t>Read a request without overclaiming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449824" cy="411480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1">
                <a:solidFill>
                  <a:srgbClr val="00838A"/>
                </a:solidFill>
                <a:latin typeface="Arial"/>
              </a:rPr>
              <a:t>Understand /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50292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Business status is not HTTP result code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A successful request can still be slow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A health endpoint may not query the database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28800"/>
            <a:ext cx="5449824" cy="411480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1168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1">
                <a:solidFill>
                  <a:srgbClr val="00838A"/>
                </a:solidFill>
                <a:latin typeface="Arial"/>
              </a:rPr>
              <a:t>Verify / boundaries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651760"/>
            <a:ext cx="50292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Explain actual row, time, source and scope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Live Metrics and stored logs can update differently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Absence of failure rows is not proof of health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63640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0066CC"/>
                </a:solidFill>
                <a:latin typeface="Arial"/>
                <a:hlinkClick r:id="rId2"/>
              </a:rPr>
              <a:t>Day 2 order / handouts: download the whole pack and keep its folder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601968"/>
            <a:ext cx="10607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17365D"/>
                </a:solidFill>
                <a:latin typeface="Arial"/>
              </a:rPr>
              <a:t>LBS | Student edition | Fictional data only | 09:45-17:30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836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17365D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00838A"/>
                </a:solidFill>
                <a:latin typeface="Arial"/>
              </a:rPr>
              <a:t>DAY 2 / OBSERVABILITY /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2700" b="1">
                <a:solidFill>
                  <a:srgbClr val="17365D"/>
                </a:solidFill>
                <a:latin typeface="Arial"/>
              </a:rPr>
              <a:t>Missing telemetry: investigate the collection path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449824" cy="411480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1">
                <a:solidFill>
                  <a:srgbClr val="00838A"/>
                </a:solidFill>
                <a:latin typeface="Arial"/>
              </a:rPr>
              <a:t>Understand /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50292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Check endpoint, time, component and workspace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Check approved instrumentation with the owner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Verify dependency call occurred and is supported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28800"/>
            <a:ext cx="5449824" cy="411480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1168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1">
                <a:solidFill>
                  <a:srgbClr val="00838A"/>
                </a:solidFill>
                <a:latin typeface="Arial"/>
              </a:rPr>
              <a:t>Verify / boundaries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651760"/>
            <a:ext cx="50292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Wait for ingestion; retry bounded reads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No duplicate SDK, broad role or forced load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Use prepared dataset; record live status honestly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63640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0066CC"/>
                </a:solidFill>
                <a:latin typeface="Arial"/>
                <a:hlinkClick r:id="rId2"/>
              </a:rPr>
              <a:t>Day 2 order / handouts: download the whole pack and keep its folder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601968"/>
            <a:ext cx="10607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17365D"/>
                </a:solidFill>
                <a:latin typeface="Arial"/>
              </a:rPr>
              <a:t>LBS | Student edition | Fictional data only | 09:45-17:30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836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17365D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00838A"/>
                </a:solidFill>
                <a:latin typeface="Arial"/>
              </a:rPr>
              <a:t>DAY 2 / OBSERVABILITY / 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2700" b="1">
                <a:solidFill>
                  <a:srgbClr val="17365D"/>
                </a:solidFill>
                <a:latin typeface="Arial"/>
              </a:rPr>
              <a:t>Observability cost: useful signal, bounded volume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449824" cy="411480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1">
                <a:solidFill>
                  <a:srgbClr val="00838A"/>
                </a:solidFill>
                <a:latin typeface="Arial"/>
              </a:rPr>
              <a:t>Understand /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50292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Ingestion, retention, alerts and exports can charge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Duplicate instrumentation can duplicate volume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Caps may interrupt visibility; not a complete spend guarantee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28800"/>
            <a:ext cx="5449824" cy="411480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1168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1">
                <a:solidFill>
                  <a:srgbClr val="00838A"/>
                </a:solidFill>
                <a:latin typeface="Arial"/>
              </a:rPr>
              <a:t>Verify / boundaries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651760"/>
            <a:ext cx="50292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Five harmless requests, not a load test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No documents, secrets or bodies in evidence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Retention/sampling changes require owner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63640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0066CC"/>
                </a:solidFill>
                <a:latin typeface="Arial"/>
                <a:hlinkClick r:id="rId2"/>
              </a:rPr>
              <a:t>Day 2 order / handouts: download the whole pack and keep its folder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601968"/>
            <a:ext cx="10607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17365D"/>
                </a:solidFill>
                <a:latin typeface="Arial"/>
              </a:rPr>
              <a:t>LBS | Student edition | Fictional data only | 09:45-17:30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836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17365D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00838A"/>
                </a:solidFill>
                <a:latin typeface="Arial"/>
              </a:rPr>
              <a:t>DAY 2 / KQL / ORIENTATION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2700" b="1">
                <a:solidFill>
                  <a:srgbClr val="17365D"/>
                </a:solidFill>
                <a:latin typeface="Arial"/>
              </a:rPr>
              <a:t>KQL mode and schema come before the query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449824" cy="411480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1">
                <a:solidFill>
                  <a:srgbClr val="00838A"/>
                </a:solidFill>
                <a:latin typeface="Arial"/>
              </a:rPr>
              <a:t>Understand /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50292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Logs -&gt; close hub -&gt; Agent off -&gt; KQL mode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Workspace: AppRequests / AppDependencies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Application Insights: requests / dependencies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28800"/>
            <a:ext cx="5449824" cy="411480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1168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1">
                <a:solidFill>
                  <a:srgbClr val="00838A"/>
                </a:solidFill>
                <a:latin typeface="Arial"/>
              </a:rPr>
              <a:t>Verify / boundaries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651760"/>
            <a:ext cx="50292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Use matching query directory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Live workspace files need component resource ID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Prepared files need no live app; set historical time range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63640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0066CC"/>
                </a:solidFill>
                <a:latin typeface="Arial"/>
                <a:hlinkClick r:id="rId2"/>
              </a:rPr>
              <a:t>Day 2 order / handouts: download the whole pack and keep its folder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601968"/>
            <a:ext cx="10607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17365D"/>
                </a:solidFill>
                <a:latin typeface="Arial"/>
              </a:rPr>
              <a:t>LBS | Student edition | Fictional data only | 09:45-17:30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836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17365D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00838A"/>
                </a:solidFill>
                <a:latin typeface="Arial"/>
              </a:rPr>
              <a:t>DAY 2 / KQL / FIRST QUERY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2700" b="1">
                <a:solidFill>
                  <a:srgbClr val="17365D"/>
                </a:solidFill>
                <a:latin typeface="Arial"/>
              </a:rPr>
              <a:t>Level 1: first request rows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449824" cy="411480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1">
                <a:solidFill>
                  <a:srgbClr val="00838A"/>
                </a:solidFill>
                <a:latin typeface="Arial"/>
              </a:rPr>
              <a:t>Understand /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50292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Start with AppRequests | take 10 conceptually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Add approved app filter and bounded time range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Run complete 01-first-requests.kql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28800"/>
            <a:ext cx="5449824" cy="411480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1168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1">
                <a:solidFill>
                  <a:srgbClr val="00838A"/>
                </a:solidFill>
                <a:latin typeface="Arial"/>
              </a:rPr>
              <a:t>Verify / boundaries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651760"/>
            <a:ext cx="50292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Prepared: five rows; live counts vary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Read Name, Success, result and duration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Save query text locally if central saving is unavailable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63640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0066CC"/>
                </a:solidFill>
                <a:latin typeface="Arial"/>
                <a:hlinkClick r:id="rId2"/>
              </a:rPr>
              <a:t>Day 2 order / handouts: download the whole pack and keep its folder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601968"/>
            <a:ext cx="10607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17365D"/>
                </a:solidFill>
                <a:latin typeface="Arial"/>
              </a:rPr>
              <a:t>LBS | Student edition | Fictional data only | 09:45-17:30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836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17365D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00838A"/>
                </a:solidFill>
                <a:latin typeface="Arial"/>
              </a:rPr>
              <a:t>DAY 2 / KQL / SCHEMA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2700" b="1">
                <a:solidFill>
                  <a:srgbClr val="17365D"/>
                </a:solidFill>
                <a:latin typeface="Arial"/>
              </a:rPr>
              <a:t>Duration and correlation names differ by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449824" cy="411480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1">
                <a:solidFill>
                  <a:srgbClr val="00838A"/>
                </a:solidFill>
                <a:latin typeface="Arial"/>
              </a:rPr>
              <a:t>Understand /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50292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Workspace: TimeGenerated, DurationMs, OperationId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Resource: timestamp, duration, operation_Id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Resource duration / 1ms gives numeric milliseconds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28800"/>
            <a:ext cx="5449824" cy="411480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1168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1">
                <a:solidFill>
                  <a:srgbClr val="00838A"/>
                </a:solidFill>
                <a:latin typeface="Arial"/>
              </a:rPr>
              <a:t>Verify / boundaries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651760"/>
            <a:ext cx="50292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Supplied resource files normalise column names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Do not mix schemas or assume all fields are strings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Stored row count can differ from traffic under sampling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63640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0066CC"/>
                </a:solidFill>
                <a:latin typeface="Arial"/>
                <a:hlinkClick r:id="rId2"/>
              </a:rPr>
              <a:t>Day 2 order / handouts: download the whole pack and keep its folder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601968"/>
            <a:ext cx="10607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17365D"/>
                </a:solidFill>
                <a:latin typeface="Arial"/>
              </a:rPr>
              <a:t>LBS | Student edition | Fictional data only | 09:45-17:30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836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17365D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00838A"/>
                </a:solidFill>
                <a:latin typeface="Arial"/>
              </a:rPr>
              <a:t>DAY 2 / KQL / FAILURES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2700" b="1">
                <a:solidFill>
                  <a:srgbClr val="17365D"/>
                </a:solidFill>
                <a:latin typeface="Arial"/>
              </a:rPr>
              <a:t>Level 2: filter failed requests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449824" cy="411480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1">
                <a:solidFill>
                  <a:srgbClr val="00838A"/>
                </a:solidFill>
                <a:latin typeface="Arial"/>
              </a:rPr>
              <a:t>Understand /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50292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Run complete 02-failed-requests.kql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Filter Success == false after normalisation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Read request, result code, duration and operation 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28800"/>
            <a:ext cx="5449824" cy="411480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1168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1">
                <a:solidFill>
                  <a:srgbClr val="00838A"/>
                </a:solidFill>
                <a:latin typeface="Arial"/>
              </a:rPr>
              <a:t>Verify / boundaries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651760"/>
            <a:ext cx="50292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Prepared rows: POST /documents and GET /private-status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Live can return no matching rows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A business Needs review outcome is not automatically HTTP failure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63640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0066CC"/>
                </a:solidFill>
                <a:latin typeface="Arial"/>
                <a:hlinkClick r:id="rId2"/>
              </a:rPr>
              <a:t>Day 2 order / handouts: download the whole pack and keep its folder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601968"/>
            <a:ext cx="10607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17365D"/>
                </a:solidFill>
                <a:latin typeface="Arial"/>
              </a:rPr>
              <a:t>LBS | Student edition | Fictional data only | 09:45-17:30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836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17365D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00838A"/>
                </a:solidFill>
                <a:latin typeface="Arial"/>
              </a:rPr>
              <a:t>DAY 2 / KQL / CORRELATION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2700" b="1">
                <a:solidFill>
                  <a:srgbClr val="17365D"/>
                </a:solidFill>
                <a:latin typeface="Arial"/>
              </a:rPr>
              <a:t>Level 3: slow dependency and related request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449824" cy="411480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1">
                <a:solidFill>
                  <a:srgbClr val="00838A"/>
                </a:solidFill>
                <a:latin typeface="Arial"/>
              </a:rPr>
              <a:t>Understand /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50292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Run 03-slow-dependency-correlation.kql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Teaching threshold: dependency duration &gt; 1000 ms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leftouter join relates requests by OperationId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28800"/>
            <a:ext cx="5449824" cy="411480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1168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1">
                <a:solidFill>
                  <a:srgbClr val="00838A"/>
                </a:solidFill>
                <a:latin typeface="Arial"/>
              </a:rPr>
              <a:t>Verify / boundaries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651760"/>
            <a:ext cx="50292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Prepared: op-003 and op-004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Slow failure and slow success need separate reasoning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Correlation guides next check; it does not prove root cause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63640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0066CC"/>
                </a:solidFill>
                <a:latin typeface="Arial"/>
                <a:hlinkClick r:id="rId2"/>
              </a:rPr>
              <a:t>Day 2 order / handouts: download the whole pack and keep its folder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601968"/>
            <a:ext cx="10607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17365D"/>
                </a:solidFill>
                <a:latin typeface="Arial"/>
              </a:rPr>
              <a:t>LBS | Student edition | Fictional data only | 09:45-17:30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836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17365D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00838A"/>
                </a:solidFill>
                <a:latin typeface="Arial"/>
              </a:rPr>
              <a:t>DAY 2 / KQL / FALLBACK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2700" b="1">
                <a:solidFill>
                  <a:srgbClr val="17365D"/>
                </a:solidFill>
                <a:latin typeface="Arial"/>
              </a:rPr>
              <a:t>Prepared data is a learning route, not live proof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449824" cy="411480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1">
                <a:solidFill>
                  <a:srgbClr val="00838A"/>
                </a:solidFill>
                <a:latin typeface="Arial"/>
              </a:rPr>
              <a:t>Understand /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50292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Five requests, two failures, three dependencies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Fixed 28 October 2026 10:00-10:04 UTC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Run each whole Prepared file separately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28800"/>
            <a:ext cx="5449824" cy="411480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1168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1">
                <a:solidFill>
                  <a:srgbClr val="00838A"/>
                </a:solidFill>
                <a:latin typeface="Arial"/>
              </a:rPr>
              <a:t>Verify / boundaries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651760"/>
            <a:ext cx="50292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No ingestion, persistent table or app instrumentation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Offline CSV predictions are not KQL execution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Always record which route you completed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63640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0066CC"/>
                </a:solidFill>
                <a:latin typeface="Arial"/>
                <a:hlinkClick r:id="rId2"/>
              </a:rPr>
              <a:t>Day 2 order / handouts: download the whole pack and keep its folder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601968"/>
            <a:ext cx="10607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17365D"/>
                </a:solidFill>
                <a:latin typeface="Arial"/>
              </a:rPr>
              <a:t>LBS | Student edition | Fictional data only | 09:45-17:30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836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17365D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00838A"/>
                </a:solidFill>
                <a:latin typeface="Arial"/>
              </a:rPr>
              <a:t>DAY 2 / KQL /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2700" b="1">
                <a:solidFill>
                  <a:srgbClr val="17365D"/>
                </a:solidFill>
                <a:latin typeface="Arial"/>
              </a:rPr>
              <a:t>Incident note: observed -&gt; hypothesis -&gt; next check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449824" cy="411480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1">
                <a:solidFill>
                  <a:srgbClr val="00838A"/>
                </a:solidFill>
                <a:latin typeface="Arial"/>
              </a:rPr>
              <a:t>Understand /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50292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Record app/source, UTC window and operation ID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Write request/dependency durations and status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State evidence separately from suggested cause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28800"/>
            <a:ext cx="5449824" cy="411480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1168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1">
                <a:solidFill>
                  <a:srgbClr val="00838A"/>
                </a:solidFill>
                <a:latin typeface="Arial"/>
              </a:rPr>
              <a:t>Verify / boundaries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651760"/>
            <a:ext cx="50292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Next check is bounded and read-only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Approved fixes and recovery verification are separate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Protect diagnostic value while considering 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63640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0066CC"/>
                </a:solidFill>
                <a:latin typeface="Arial"/>
                <a:hlinkClick r:id="rId2"/>
              </a:rPr>
              <a:t>Day 2 order / handouts: download the whole pack and keep its folder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601968"/>
            <a:ext cx="10607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17365D"/>
                </a:solidFill>
                <a:latin typeface="Arial"/>
              </a:rPr>
              <a:t>LBS | Student edition | Fictional data only | 09:45-17:30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836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17365D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00838A"/>
                </a:solidFill>
                <a:latin typeface="Arial"/>
              </a:rPr>
              <a:t>DAY 2 / MESSAGING /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2700" b="1">
                <a:solidFill>
                  <a:srgbClr val="17365D"/>
                </a:solidFill>
                <a:latin typeface="Arial"/>
              </a:rPr>
              <a:t>Service Bus: hand work off without waiting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449824" cy="411480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1">
                <a:solidFill>
                  <a:srgbClr val="00838A"/>
                </a:solidFill>
                <a:latin typeface="Arial"/>
              </a:rPr>
              <a:t>Understand /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50292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Namespace contains queues; queue carries work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Producer sends; consumer receives and settles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Use tiny references, not document bodies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28800"/>
            <a:ext cx="5449824" cy="411480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1168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1">
                <a:solidFill>
                  <a:srgbClr val="00838A"/>
                </a:solidFill>
                <a:latin typeface="Arial"/>
              </a:rPr>
              <a:t>Verify / boundaries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651760"/>
            <a:ext cx="50292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Send is not business completion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Delivery can repeat; design idempotent effects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DLQ needs owner-approved investigation and replay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63640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0066CC"/>
                </a:solidFill>
                <a:latin typeface="Arial"/>
                <a:hlinkClick r:id="rId2"/>
              </a:rPr>
              <a:t>Day 2 order / handouts: download the whole pack and keep its folder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601968"/>
            <a:ext cx="10607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17365D"/>
                </a:solidFill>
                <a:latin typeface="Arial"/>
              </a:rPr>
              <a:t>LBS | Student edition | Fictional data only | 09:45-17:30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836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17365D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00838A"/>
                </a:solidFill>
                <a:latin typeface="Arial"/>
              </a:rPr>
              <a:t>DAY 2 / MESSAGING /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2700" b="1">
                <a:solidFill>
                  <a:srgbClr val="17365D"/>
                </a:solidFill>
                <a:latin typeface="Arial"/>
              </a:rPr>
              <a:t>Demo: Explorer send -&gt; peek -&gt; receive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449824" cy="411480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1">
                <a:solidFill>
                  <a:srgbClr val="00838A"/>
                </a:solidFill>
                <a:latin typeface="Arial"/>
              </a:rPr>
              <a:t>Understand /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50292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Use an isolated assigned queue with no consumer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Send one fictional message using approved data access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Peek inspects without settlement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28800"/>
            <a:ext cx="5449824" cy="411480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1168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1">
                <a:solidFill>
                  <a:srgbClr val="00838A"/>
                </a:solidFill>
                <a:latin typeface="Arial"/>
              </a:rPr>
              <a:t>Verify / boundaries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651760"/>
            <a:ext cx="50292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PeekLock requires Complete; ReceiveAndDelete is destructive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Check the actual offered mode before use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No Function trigger or local tracker 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63640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0066CC"/>
                </a:solidFill>
                <a:latin typeface="Arial"/>
                <a:hlinkClick r:id="rId2"/>
              </a:rPr>
              <a:t>Day 2 order / handouts: download the whole pack and keep its folder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601968"/>
            <a:ext cx="10607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17365D"/>
                </a:solidFill>
                <a:latin typeface="Arial"/>
              </a:rPr>
              <a:t>LBS | Student edition | Fictional data only | 09:45-17:30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836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17365D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00838A"/>
                </a:solidFill>
                <a:latin typeface="Arial"/>
              </a:rPr>
              <a:t>DAY 2 / MESSAGING /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2700" b="1">
                <a:solidFill>
                  <a:srgbClr val="17365D"/>
                </a:solidFill>
                <a:latin typeface="Arial"/>
              </a:rPr>
              <a:t>Queue practice and safe cleanup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449824" cy="411480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1">
                <a:solidFill>
                  <a:srgbClr val="00838A"/>
                </a:solidFill>
                <a:latin typeface="Arial"/>
              </a:rPr>
              <a:t>Understand /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50292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Inspect your own message and record ID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Settle only your authorised test message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Refresh counts; allow for update delay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28800"/>
            <a:ext cx="5449824" cy="411480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1168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1">
                <a:solidFill>
                  <a:srgbClr val="00838A"/>
                </a:solidFill>
                <a:latin typeface="Arial"/>
              </a:rPr>
              <a:t>Verify / boundaries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651760"/>
            <a:ext cx="50292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Do not purge or use master/shared access keys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Do not create/upgrade namespace for a failed permission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Tier/capacity and operations can charge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63640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0066CC"/>
                </a:solidFill>
                <a:latin typeface="Arial"/>
                <a:hlinkClick r:id="rId2"/>
              </a:rPr>
              <a:t>Day 2 order / handouts: download the whole pack and keep its folder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601968"/>
            <a:ext cx="10607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17365D"/>
                </a:solidFill>
                <a:latin typeface="Arial"/>
              </a:rPr>
              <a:t>LBS | Student edition | Fictional data only | 09:45-17:30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836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17365D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00838A"/>
                </a:solidFill>
                <a:latin typeface="Arial"/>
              </a:rPr>
              <a:t>DAY 2 / LOCAL SCENARIO /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2700" b="1">
                <a:solidFill>
                  <a:srgbClr val="17365D"/>
                </a:solidFill>
                <a:latin typeface="Arial"/>
              </a:rPr>
              <a:t>Local tracker: what is actually implemented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449824" cy="411480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1">
                <a:solidFill>
                  <a:srgbClr val="00838A"/>
                </a:solidFill>
                <a:latin typeface="Arial"/>
              </a:rPr>
              <a:t>Understand /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50292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Development-only localhost website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In-memory records and background queue/worker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No Azure SQL, Blob, Service Bus or telemetry connection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28800"/>
            <a:ext cx="5449824" cy="411480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1168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1">
                <a:solidFill>
                  <a:srgbClr val="00838A"/>
                </a:solidFill>
                <a:latin typeface="Arial"/>
              </a:rPr>
              <a:t>Verify / boundaries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651760"/>
            <a:ext cx="50292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Completed means training fields validated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Needs review is an expected business result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No real documents; no public binding or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63640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0066CC"/>
                </a:solidFill>
                <a:latin typeface="Arial"/>
                <a:hlinkClick r:id="rId2"/>
              </a:rPr>
              <a:t>Day 2 order / handouts: download the whole pack and keep its folder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601968"/>
            <a:ext cx="10607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17365D"/>
                </a:solidFill>
                <a:latin typeface="Arial"/>
              </a:rPr>
              <a:t>LBS | Student edition | Fictional data only | 09:45-17:30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836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17365D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00838A"/>
                </a:solidFill>
                <a:latin typeface="Arial"/>
              </a:rPr>
              <a:t>DAY 2 / LOCAL SCENARIO /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2700" b="1">
                <a:solidFill>
                  <a:srgbClr val="17365D"/>
                </a:solidFill>
                <a:latin typeface="Arial"/>
              </a:rPr>
              <a:t>Run checks, then start the local website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449824" cy="411480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1">
                <a:solidFill>
                  <a:srgbClr val="00838A"/>
                </a:solidFill>
                <a:latin typeface="Arial"/>
              </a:rPr>
              <a:t>Understand /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50292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Use .NET 10 SDK and the actual project folder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Run Checks with the absolute SampleData directory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Expect 14 PASS lines and exit code 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28800"/>
            <a:ext cx="5449824" cy="411480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1168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1">
                <a:solidFill>
                  <a:srgbClr val="00838A"/>
                </a:solidFill>
                <a:latin typeface="Arial"/>
              </a:rPr>
              <a:t>Verify / boundaries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651760"/>
            <a:ext cx="50292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Start at localhost:5193 in Development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Check healthz and readyz separately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These endpoints do not prove Azure connectivity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63640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0066CC"/>
                </a:solidFill>
                <a:latin typeface="Arial"/>
                <a:hlinkClick r:id="rId2"/>
              </a:rPr>
              <a:t>Day 2 order / handouts: download the whole pack and keep its folder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601968"/>
            <a:ext cx="10607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17365D"/>
                </a:solidFill>
                <a:latin typeface="Arial"/>
              </a:rPr>
              <a:t>LBS | Student edition | Fictional data only | 09:45-17:30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836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17365D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00838A"/>
                </a:solidFill>
                <a:latin typeface="Arial"/>
              </a:rPr>
              <a:t>DAY 2 / LOCAL SCENARIO / EXERCISE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2700" b="1">
                <a:solidFill>
                  <a:srgbClr val="17365D"/>
                </a:solidFill>
                <a:latin typeface="Arial"/>
              </a:rPr>
              <a:t>Practice four documents; explain each outcome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449824" cy="411480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1">
                <a:solidFill>
                  <a:srgbClr val="00838A"/>
                </a:solidFill>
                <a:latin typeface="Arial"/>
              </a:rPr>
              <a:t>Understand /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50292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Valid application -&gt; Completed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Missing type -&gt; Needs review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Reference mismatch -&gt; Needs review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28800"/>
            <a:ext cx="5449824" cy="411480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1168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1">
                <a:solidFill>
                  <a:srgbClr val="00838A"/>
                </a:solidFill>
                <a:latin typeface="Arial"/>
              </a:rPr>
              <a:t>Verify / boundaries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651760"/>
            <a:ext cx="50292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Unsupported type -&gt; Needs review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Refresh Queued/Processing until terminal outcome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Stop own host; in-memory records are temporary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63640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0066CC"/>
                </a:solidFill>
                <a:latin typeface="Arial"/>
                <a:hlinkClick r:id="rId2"/>
              </a:rPr>
              <a:t>Day 2 order / handouts: download the whole pack and keep its folder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601968"/>
            <a:ext cx="10607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17365D"/>
                </a:solidFill>
                <a:latin typeface="Arial"/>
              </a:rPr>
              <a:t>LBS | Student edition | Fictional data only | 09:45-17:30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836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17365D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00838A"/>
                </a:solidFill>
                <a:latin typeface="Arial"/>
              </a:rPr>
              <a:t>DAY 2 / TEAM EXERCISE /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2700" b="1">
                <a:solidFill>
                  <a:srgbClr val="17365D"/>
                </a:solidFill>
                <a:latin typeface="Arial"/>
              </a:rPr>
              <a:t>Capstone: a failed submission and a higher bill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449824" cy="411480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1">
                <a:solidFill>
                  <a:srgbClr val="00838A"/>
                </a:solidFill>
                <a:latin typeface="Arial"/>
              </a:rPr>
              <a:t>Understand /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50292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Use fictional evidence or assigned authorised live mode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Identify failure and a slow dependency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Compare equal-period costs by service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28800"/>
            <a:ext cx="5449824" cy="411480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1168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1">
                <a:solidFill>
                  <a:srgbClr val="00838A"/>
                </a:solidFill>
                <a:latin typeface="Arial"/>
              </a:rPr>
              <a:t>Verify / boundaries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651760"/>
            <a:ext cx="50292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Do not assume the cost change caused the request failure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No fault injection or configuration changes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40 minutes: investigate, challenge, hand 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63640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0066CC"/>
                </a:solidFill>
                <a:latin typeface="Arial"/>
                <a:hlinkClick r:id="rId2"/>
              </a:rPr>
              <a:t>Day 2 order / handouts: download the whole pack and keep its folder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601968"/>
            <a:ext cx="10607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17365D"/>
                </a:solidFill>
                <a:latin typeface="Arial"/>
              </a:rPr>
              <a:t>LBS | Student edition | Fictional data only | 09:45-17:30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836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17365D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00838A"/>
                </a:solidFill>
                <a:latin typeface="Arial"/>
              </a:rPr>
              <a:t>DAY 2 / TEAM EXERCISE /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2700" b="1">
                <a:solidFill>
                  <a:srgbClr val="17365D"/>
                </a:solidFill>
                <a:latin typeface="Arial"/>
              </a:rPr>
              <a:t>Handover: evidence, trade-off and owner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449824" cy="411480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1">
                <a:solidFill>
                  <a:srgbClr val="00838A"/>
                </a:solidFill>
                <a:latin typeface="Arial"/>
              </a:rPr>
              <a:t>Understand /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50292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Observation, operation ID and time range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Cost totals/delta and largest contributor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One hypothesis and one alternative explanation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28800"/>
            <a:ext cx="5449824" cy="411480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1168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1">
                <a:solidFill>
                  <a:srgbClr val="00838A"/>
                </a:solidFill>
                <a:latin typeface="Arial"/>
              </a:rPr>
              <a:t>Verify / boundaries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651760"/>
            <a:ext cx="50292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Next safe check and named owner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Optimisation benefit plus security/availability risk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Recovery and savings need independent verification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63640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0066CC"/>
                </a:solidFill>
                <a:latin typeface="Arial"/>
                <a:hlinkClick r:id="rId2"/>
              </a:rPr>
              <a:t>Day 2 order / handouts: download the whole pack and keep its folder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601968"/>
            <a:ext cx="10607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17365D"/>
                </a:solidFill>
                <a:latin typeface="Arial"/>
              </a:rPr>
              <a:t>LBS | Student edition | Fictional data only | 09:45-17:30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836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17365D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00838A"/>
                </a:solidFill>
                <a:latin typeface="Arial"/>
              </a:rPr>
              <a:t>DAY 2 / REFERENCE / AWARENESS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2700" b="1">
                <a:solidFill>
                  <a:srgbClr val="17365D"/>
                </a:solidFill>
                <a:latin typeface="Arial"/>
              </a:rPr>
              <a:t>Security and networking: keep the independent checks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449824" cy="411480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1">
                <a:solidFill>
                  <a:srgbClr val="00838A"/>
                </a:solidFill>
                <a:latin typeface="Arial"/>
              </a:rPr>
              <a:t>Understand /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50292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Network route, authentication and authorisation differ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Management roles are not universal data permissions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Use assigned app, queue and cost scopes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28800"/>
            <a:ext cx="5449824" cy="411480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1168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1">
                <a:solidFill>
                  <a:srgbClr val="00838A"/>
                </a:solidFill>
                <a:latin typeface="Arial"/>
              </a:rPr>
              <a:t>Verify / boundaries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651760"/>
            <a:ext cx="50292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No Owner role as a troubleshooting shortcut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No keys or personal data in notes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Optional identity/network handouts remain references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63640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0066CC"/>
                </a:solidFill>
                <a:latin typeface="Arial"/>
                <a:hlinkClick r:id="rId2"/>
              </a:rPr>
              <a:t>Day 2 order / handouts: download the whole pack and keep its folder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601968"/>
            <a:ext cx="10607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17365D"/>
                </a:solidFill>
                <a:latin typeface="Arial"/>
              </a:rPr>
              <a:t>LBS | Student edition | Fictional data only | 09:45-17:30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836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17365D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00838A"/>
                </a:solidFill>
                <a:latin typeface="Arial"/>
              </a:rPr>
              <a:t>DAY 2 / REFERENCE / AWARENESS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2700" b="1">
                <a:solidFill>
                  <a:srgbClr val="17365D"/>
                </a:solidFill>
                <a:latin typeface="Arial"/>
              </a:rPr>
              <a:t>IaC, CI/CD and integration: what comes next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449824" cy="411480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1">
                <a:solidFill>
                  <a:srgbClr val="00838A"/>
                </a:solidFill>
                <a:latin typeface="Arial"/>
              </a:rPr>
              <a:t>Understand /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50292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Versioned infrastructure can make deployments repeatable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Pipelines can build/test and deploy approved changes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Managed identity still needs scoped permissions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28800"/>
            <a:ext cx="5449824" cy="411480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1168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1">
                <a:solidFill>
                  <a:srgbClr val="00838A"/>
                </a:solidFill>
                <a:latin typeface="Arial"/>
              </a:rPr>
              <a:t>Verify / boundaries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651760"/>
            <a:ext cx="50292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Awareness only: no extra unprepared lab today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Target design is not a tested cloud implementation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Local tracker needs security, persistence and integration before hosting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63640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0066CC"/>
                </a:solidFill>
                <a:latin typeface="Arial"/>
                <a:hlinkClick r:id="rId2"/>
              </a:rPr>
              <a:t>Day 2 order / handouts: download the whole pack and keep its folder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601968"/>
            <a:ext cx="10607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17365D"/>
                </a:solidFill>
                <a:latin typeface="Arial"/>
              </a:rPr>
              <a:t>LBS | Student edition | Fictional data only | 09:45-17:30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836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17365D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00838A"/>
                </a:solidFill>
                <a:latin typeface="Arial"/>
              </a:rPr>
              <a:t>DAY 2 /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2700" b="1">
                <a:solidFill>
                  <a:srgbClr val="17365D"/>
                </a:solidFill>
                <a:latin typeface="Arial"/>
              </a:rPr>
              <a:t>Before/after knowledge check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449824" cy="411480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1">
                <a:solidFill>
                  <a:srgbClr val="00838A"/>
                </a:solidFill>
                <a:latin typeface="Arial"/>
              </a:rPr>
              <a:t>Understand /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50292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Can you explain estimate vs actual vs forecast?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Does a budget stop spending?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How do workspace/resource query schemas differ?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28800"/>
            <a:ext cx="5449824" cy="411480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1168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1">
                <a:solidFill>
                  <a:srgbClr val="00838A"/>
                </a:solidFill>
                <a:latin typeface="Arial"/>
              </a:rPr>
              <a:t>Verify / boundaries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651760"/>
            <a:ext cx="50292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Can a success be slow? Does correlation prove cause?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Does Peek remove a message?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Which results were live, prepared or offline?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63640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0066CC"/>
                </a:solidFill>
                <a:latin typeface="Arial"/>
                <a:hlinkClick r:id="rId2"/>
              </a:rPr>
              <a:t>Day 2 order / handouts: download the whole pack and keep its folder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601968"/>
            <a:ext cx="10607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17365D"/>
                </a:solidFill>
                <a:latin typeface="Arial"/>
              </a:rPr>
              <a:t>LBS | Student edition | Fictional data only | 09:45-17:30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836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17365D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00838A"/>
                </a:solidFill>
                <a:latin typeface="Arial"/>
              </a:rPr>
              <a:t>DAY 2 / CLEANUP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2700" b="1">
                <a:solidFill>
                  <a:srgbClr val="17365D"/>
                </a:solidFill>
                <a:latin typeface="Arial"/>
              </a:rPr>
              <a:t>Cleanup is resource-specific, not one big delete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449824" cy="411480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1">
                <a:solidFill>
                  <a:srgbClr val="00838A"/>
                </a:solidFill>
                <a:latin typeface="Arial"/>
              </a:rPr>
              <a:t>Understand /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50292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Stop only your own local host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Settle only your disposable message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Remove approved temporary budget only with owner agreement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28800"/>
            <a:ext cx="5449824" cy="411480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1168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1">
                <a:solidFill>
                  <a:srgbClr val="00838A"/>
                </a:solidFill>
                <a:latin typeface="Arial"/>
              </a:rPr>
              <a:t>Verify / boundaries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651760"/>
            <a:ext cx="50292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Do not delete shared resource groups or retained logs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App plans/supporting resources can still charge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Record owner and next action for each exception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63640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0066CC"/>
                </a:solidFill>
                <a:latin typeface="Arial"/>
                <a:hlinkClick r:id="rId2"/>
              </a:rPr>
              <a:t>Day 2 order / handouts: download the whole pack and keep its folder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601968"/>
            <a:ext cx="10607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17365D"/>
                </a:solidFill>
                <a:latin typeface="Arial"/>
              </a:rPr>
              <a:t>LBS | Student edition | Fictional data only | 09:45-17:30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836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17365D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00838A"/>
                </a:solidFill>
                <a:latin typeface="Arial"/>
              </a:rPr>
              <a:t>DAY 2 /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2700" b="1">
                <a:solidFill>
                  <a:srgbClr val="17365D"/>
                </a:solidFill>
                <a:latin typeface="Arial"/>
              </a:rPr>
              <a:t>Exit record and useful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449824" cy="411480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1">
                <a:solidFill>
                  <a:srgbClr val="00838A"/>
                </a:solidFill>
                <a:latin typeface="Arial"/>
              </a:rPr>
              <a:t>Understand /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50292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Show one reproducible query and an explained result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Present one cost proposal with risk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Record Passed / Blocked / Not run for each route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28800"/>
            <a:ext cx="5449824" cy="411480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1168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1">
                <a:solidFill>
                  <a:srgbClr val="00838A"/>
                </a:solidFill>
                <a:latin typeface="Arial"/>
              </a:rPr>
              <a:t>Verify / boundaries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651760"/>
            <a:ext cx="50292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No score substitutes for practical access evidence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Keep useful non-secret query text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Prepare missing live integration separately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63640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0066CC"/>
                </a:solidFill>
                <a:latin typeface="Arial"/>
                <a:hlinkClick r:id="rId2"/>
              </a:rPr>
              <a:t>Day 2 order / handouts: download the whole pack and keep its folder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601968"/>
            <a:ext cx="10607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17365D"/>
                </a:solidFill>
                <a:latin typeface="Arial"/>
              </a:rPr>
              <a:t>LBS | Student edition | Fictional data only | 09:45-17:30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836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17365D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00838A"/>
                </a:solidFill>
                <a:latin typeface="Arial"/>
              </a:rPr>
              <a:t>DAY 2 / 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2700" b="1">
                <a:solidFill>
                  <a:srgbClr val="17365D"/>
                </a:solidFill>
                <a:latin typeface="Arial"/>
              </a:rPr>
              <a:t>Thank you - evidence before 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449824" cy="411480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1">
                <a:solidFill>
                  <a:srgbClr val="00838A"/>
                </a:solidFill>
                <a:latin typeface="Arial"/>
              </a:rPr>
              <a:t>Understand /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50292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We inspected cost, requests, dependencies and messages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We practised realistic outcomes without unsafe changes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We distinguished working components from target designs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28800"/>
            <a:ext cx="5449824" cy="411480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1168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1">
                <a:solidFill>
                  <a:srgbClr val="00838A"/>
                </a:solidFill>
                <a:latin typeface="Arial"/>
              </a:rPr>
              <a:t>Verify / boundaries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651760"/>
            <a:ext cx="50292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Use the revised Day 2 order and whole folder structure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Bring scoped questions and honest limitations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7365D"/>
                </a:solidFill>
                <a:latin typeface="Arial"/>
              </a:rPr>
              <a:t>Finish at 17:30; leave shared services unchanged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63640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0066CC"/>
                </a:solidFill>
                <a:latin typeface="Arial"/>
                <a:hlinkClick r:id="rId2"/>
              </a:rPr>
              <a:t>Day 2 order / handouts: download the whole pack and keep its folder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601968"/>
            <a:ext cx="10607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17365D"/>
                </a:solidFill>
                <a:latin typeface="Arial"/>
              </a:rPr>
              <a:t>LBS | Student edition | Fictional data only | 09:45-17:30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836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17365D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LBS Training</dc:creator>
  <cp:keywords/>
  <dc:description>generated using python-pptx</dc:description>
  <cp:lastModifiedBy>LBS Training</cp:lastModifiedBy>
  <cp:revision>1</cp:revision>
  <dcterms:created xsi:type="dcterms:W3CDTF">2013-01-27T09:14:16Z</dcterms:created>
  <dcterms:modified xsi:type="dcterms:W3CDTF">2013-01-27T09:15:58Z</dcterms:modified>
  <cp:category/>
</cp:coreProperties>
</file>