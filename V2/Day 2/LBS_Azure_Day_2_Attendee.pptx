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86" r:id="rId10"/>
    <p:sldId id="261" r:id="rId13"/>
    <p:sldId id="262" r:id="rId14"/>
    <p:sldId id="263" r:id="rId15"/>
    <p:sldId id="287" r:id="rId38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88" r:id="rId39"/>
    <p:sldId id="285" r:id="rId37"/>
    <p:sldId id="272" r:id="rId24"/>
    <p:sldId id="273" r:id="rId25"/>
    <p:sldId id="274" r:id="rId26"/>
    <p:sldId id="275" r:id="rId27"/>
    <p:sldId id="276" r:id="rId28"/>
    <p:sldId id="289" r:id="rId40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19.xml"/><Relationship Id="rId38" Type="http://schemas.openxmlformats.org/officeDocument/2006/relationships/slide" Target="slides/slide9.xml"/><Relationship Id="rId39" Type="http://schemas.openxmlformats.org/officeDocument/2006/relationships/slide" Target="slides/slide18.xml"/><Relationship Id="rId40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hyperlink" Target="../Day 1/Basic_Lab_00_START_HERE.docx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azure/service-bus-messaging/explorer" TargetMode="External"/><Relationship Id="rId3" Type="http://schemas.openxmlformats.org/officeDocument/2006/relationships/hyperlink" Target="https://learn.microsoft.com/azure/service-bus-messaging/service-bus-dotnet-get-started-with-queues" TargetMode="External"/><Relationship Id="rId4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zure.microsoft.com/pricing/details/service-bus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01_Service_Bus_Portal_Lab.docx" TargetMode="External"/><Relationship Id="rId3" Type="http://schemas.openxmlformats.org/officeDocument/2006/relationships/hyperlink" Target="https://learn.microsoft.com/azure/service-bus-messaging/service-bus-dotnet-get-started-with-queues" TargetMode="Externa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01_Service_Bus_Portal_Lab.docx" TargetMode="External"/><Relationship Id="rId3" Type="http://schemas.openxmlformats.org/officeDocument/2006/relationships/hyperlink" Target="https://learn.microsoft.com/azure/service-bus-messaging/service-bus-dotnet-get-started-with-queues" TargetMode="Externa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Day 1/Basic_Lab_03_Log_Analytics_Portal_And_VS_Code.docx" TargetMode="External"/><Relationship Id="rId3" Type="http://schemas.openxmlformats.org/officeDocument/2006/relationships/hyperlink" Target="https://learn.microsoft.com/azure/azure-monitor/app/app-insights-overview" TargetMode="Externa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azure/azure-monitor/fundamentals/best-practices-cos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Day 1/Basic_Lab_03_Log_Analytics_Portal_And_VS_Code.docx" TargetMode="External"/><Relationship Id="rId3" Type="http://schemas.openxmlformats.org/officeDocument/2006/relationships/hyperlink" Target="02_Application_Insights_Portal_Lab.docx" TargetMode="External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Day 1/Basic_Lab_03_Log_Analytics_Portal_And_VS_Code.docx" TargetMode="External"/><Relationship Id="rId3" Type="http://schemas.openxmlformats.org/officeDocument/2006/relationships/hyperlink" Target="https://learn.microsoft.com/azure/data-explorer/kusto/query/tutorials/learn-common-operators" TargetMode="External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LBS_Document_Tracker_Setup_And_Testing.docx" TargetMode="External"/><Relationship Id="rId3" Type="http://schemas.openxmlformats.org/officeDocument/2006/relationships/hyperlink" Target="../Labs/LbsDocumentTracker/README.md" TargetMode="External"/><Relationship Id="rId4" Type="http://schemas.openxmlformats.org/officeDocument/2006/relationships/hyperlink" Target="../Labs/LbsDocumentTracker/SampleData/cases.json" TargetMode="External"/><Relationship Id="rId5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LBS_Document_Tracker_Setup_And_Testing.docx" TargetMode="External"/><Relationship Id="rId3" Type="http://schemas.openxmlformats.org/officeDocument/2006/relationships/hyperlink" Target="../Labs/LbsDocumentTracker/README.md" TargetMode="External"/><Relationship Id="rId4" Type="http://schemas.openxmlformats.org/officeDocument/2006/relationships/hyperlink" Target="../Labs/LbsDocumentTracker/SampleData/cases.json" TargetMode="External"/><Relationship Id="rId5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Labs/LbsDocumentTracker/README.md" TargetMode="External"/><Relationship Id="rId3" Type="http://schemas.openxmlformats.org/officeDocument/2006/relationships/hyperlink" Target="../Labs/LbsDocumentTracker/SampleData/cases.json" TargetMode="External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Labs/LbsDocumentTracker/Architecture.svg" TargetMode="External"/><Relationship Id="rId3" Type="http://schemas.openxmlformats.org/officeDocument/2006/relationships/hyperlink" Target="../Labs/LbsDocumentTracker/README.md" TargetMode="External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Labs/LbsDocumentTracker/README.md" TargetMode="External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tra/identity/managed-identities-azure-resources/overview" TargetMode="External"/><Relationship Id="rId3" Type="http://schemas.openxmlformats.org/officeDocument/2006/relationships/hyperlink" Target="../Labs/LbsDocumentTracker/README.md" TargetMode="External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zure.microsoft.com/pricing/calculator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Labs/LbsDocumentTracker/README.md" TargetMode="External"/><Relationship Id="rId3" Type="http://schemas.openxmlformats.org/officeDocument/2006/relationships/hyperlink" Target="../Labs/LbsDocumentTracker/Architecture.svg" TargetMode="External"/><Relationship Id="rId4" Type="http://schemas.openxmlformats.org/officeDocument/2006/relationships/hyperlink" Target="../Labs/LbsDocumentTracker/SampleData/cases.json" TargetMode="External"/><Relationship Id="rId5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Labs/LbsDocumentTracker/README.md" TargetMode="External"/><Relationship Id="rId3" Type="http://schemas.openxmlformats.org/officeDocument/2006/relationships/hyperlink" Target="../Labs/LbsDocumentTracker/Architecture.svg" TargetMode="External"/><Relationship Id="rId4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azure/azure-functions/functions-how-to-github-actions" TargetMode="External"/><Relationship Id="rId3" Type="http://schemas.openxmlformats.org/officeDocument/2006/relationships/hyperlink" Target="https://learn.microsoft.com/azure/developer/github/connect-from-azure-openid-connect" TargetMode="External"/><Relationship Id="rId4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azure/azure-functions/functions-how-to-github-actions" TargetMode="External"/><Relationship Id="rId3" Type="http://schemas.openxmlformats.org/officeDocument/2006/relationships/hyperlink" Target="https://learn.microsoft.com/azure/developer/github/connect-from-azure-openid-connect" TargetMode="External"/><Relationship Id="rId4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azure/cost-management-billing/costs/quick-acm-cost-analysis" TargetMode="External"/><Relationship Id="rId3" Type="http://schemas.openxmlformats.org/officeDocument/2006/relationships/hyperlink" Target="https://learn.microsoft.com/azure/cost-management-billing/costs/tutorial-acm-create-budgets" TargetMode="External"/><Relationship Id="rId4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azure/cost-management-billing/costs/tutorial-acm-create-budgets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azure/cost-management-billing/costs/quick-acm-cost-analysis" TargetMode="External"/><Relationship Id="rId3" Type="http://schemas.openxmlformats.org/officeDocument/2006/relationships/hyperlink" Target="https://learn.microsoft.com/azure/cost-management-billing/costs/tutorial-acm-create-budgets" TargetMode="External"/><Relationship Id="rId5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azure/azure-resource-manager/bicep/overview" TargetMode="External"/><Relationship Id="rId3" Type="http://schemas.openxmlformats.org/officeDocument/2006/relationships/hyperlink" Target="https://learn.microsoft.com/azure/azure-resource-manager/bicep/deploy-what-if" TargetMode="External"/><Relationship Id="rId4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azure/azure-resource-manager/bicep/overview" TargetMode="External"/><Relationship Id="rId3" Type="http://schemas.openxmlformats.org/officeDocument/2006/relationships/hyperlink" Target="https://learn.microsoft.com/azure/azure-resource-manager/bicep/deploy-what-if" TargetMode="External"/><Relationship Id="rId4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cli/azure/get-started-with-azure-cli" TargetMode="External"/><Relationship Id="rId3" Type="http://schemas.openxmlformats.org/officeDocument/2006/relationships/hyperlink" Target="https://learn.microsoft.com/powershell/azure/get-started-azureps" TargetMode="External"/><Relationship Id="rId4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cli/azure/get-started-with-azure-cli" TargetMode="External"/><Relationship Id="rId3" Type="http://schemas.openxmlformats.org/officeDocument/2006/relationships/hyperlink" Target="https://learn.microsoft.com/powershell/azure/get-started-azureps" TargetMode="External"/><Relationship Id="rId4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Day 1/Basic_Lab_00_START_HERE.docx" TargetMode="External"/><Relationship Id="rId4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hyperlink" Target="../Day 1/Basic_Lab_00_START_HERE.docx" TargetMode="External"/><Relationship Id="rId4" Type="http://schemas.openxmlformats.org/officeDocument/2006/relationships/hyperlink" Target="../Labs/LbsDocumentTracker/README.md" TargetMode="External"/><Relationship Id="rId5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Day 1/Basic_Lab_00_START_HERE.docx" TargetMode="External"/><Relationship Id="rId3" Type="http://schemas.openxmlformats.org/officeDocument/2006/relationships/hyperlink" Target="../Labs/LbsDocumentTracker/README.md" TargetMode="External"/><Relationship Id="rId6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WELCOME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Day 2 | connect the components, then operate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Today's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Service Bus and real telemetry as individual services.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 realistic document-processing scenario.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Evidence of success, failure and recovery.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After the 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CI/CD and cost management essentials.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Optional Bicep / ARM and CLI / PowerShell.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Know what is implemented versus target architecture.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49824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545836"/>
            <a:ext cx="109728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rPr/>
              <a:t>Prepared-demo deck: new Azure integration and automation are not yet implemented.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Day 2 route and integration readiness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Student route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Priorities: core first, optional detail last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Protected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Remaining services: 60-75 min.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Whole-workflow demo + discussion: about 90 min.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Failure/recovery verification and attendee questions.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Delivery / operations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CI/CD + cost essentials: about 45 min.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IaC / CLI / PowerShell extras: 30-45 min if time.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Use remaining time for practice, Q&amp;A and cleanup.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MESSAGING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Why put a queue between upload and processing?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Synchronous 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Browser waits for every downstream operation.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 slow dependency lengthens the response.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Retries can duplicate work without safeguards.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Asynchronous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Accept, persist and acknowledge the upload.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Worker processes independently.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Status tells the user what happened.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Delivery, retries and duplicates need explicit design.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SERVICE BUS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Queue vocabulary you must distinguish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Message lifecycle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Send: put a work notification on the queue.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Peek: inspect without settling the message.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Receive with lock: attempt processing.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Complete: acknowledge successful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Failure handling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Abandon / lock expiry allows redelivery.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Duplicate delivery requires idempotent processing.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Dead-letter is for delivery/processing problems.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Needs review is a business outcome, not automatically a dead letter.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Microsoft reference; Basic tier supports queues, not 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Microsoft: Service Bus Explorer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Microsoft: Service Bus .NET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00838A"/>
                </a:solidFill>
                <a:latin typeface="Arial"/>
              </a:rPr>
              <a:t>DAY 2 / COST-AWARE LAB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17365D"/>
                </a:solidFill>
                <a:latin typeface="Arial"/>
              </a:rPr>
              <a:t>Service Bus | small messages, right tier, bounded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What drives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Tier and messaging operations affect billing.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Standard and Premium have capacity / baseline elements.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Premium capacity can cost even when the queue is idle.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Student cost-saving habits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Use the assigned queue and a few fictional messages.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Send references, not document bodies.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Avoid endless receive loops and unnecessary repeated peeks.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Do not create namespaces or upgrade tiers without approval.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7365D"/>
                </a:solidFill>
                <a:latin typeface="Arial"/>
              </a:rPr>
              <a:t>Use approved existing resources. Ask before changing tiers, retention, capacity or shared settings.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636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66CC"/>
                </a:solidFill>
                <a:latin typeface="Arial"/>
                <a:hlinkClick r:id="rId2"/>
              </a:rPr>
              <a:t>Official service pricing / guidance (check current region and offer)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20256"/>
            <a:ext cx="10058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900" b="0">
                <a:solidFill>
                  <a:srgbClr val="17365D"/>
                </a:solidFill>
                <a:latin typeface="Arial"/>
              </a:rPr>
              <a:t>LBS | Attendee edition | Cost tips are guidance, not a quotation or spending cap.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17365D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SERVICE BUS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09 | portal queue -&gt; VS Code client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Portal | prepared queue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Confirm assigned namespace, queue and data role.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Send a fictional reference-only test message.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Peek and inspect the message without completing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VS Code | prepared .NET 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Use Entra identity; no connection-string shortcut.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Receive with a lock; print safe reference/message ID.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Complete only after successful handling.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Check portal queue state after the client exits.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49824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545836"/>
            <a:ext cx="109728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rPr/>
              <a:t>PREPARATION REQUIRED | Do not improvise writes to a shared queue.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Supplied portal lab; a .NET receive/complete client still needs preparation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Service Bus portal lab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Microsoft: Service Bus .NET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SERVICE BUS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Exercise 06 | trace one message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Do only after rehearsal | 15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Use your assigned queue and fictional reference.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Send -&gt; peek -&gt; receive -&gt; complete.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Record client settlement and portal observation.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Discuss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What happens if the receiver exits before completion?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Why can the same message be processed again?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How would you avoid two status updates?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prepared client/access? Use a discussion, not a pretend pass.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Supplied portal lab; prepare .NET client and scoped access before this extension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Service Bus portal lab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Microsoft: Service Bus .NET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TELEMETRY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Application Insights + Log Analytics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Application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Application requests, dependencies and failures.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Operations are linked with correlation identifiers.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Instrumentation must actually be configured.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Log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Workspace stores and queries relevant tables.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Confirm resource scope before choosing schema.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AppRequests in workspace; requests may appear in AI scope.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Day 1 synthetic KQL is not proof of ingestion.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Logs guide section 6; optional real telemetry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Logs / KQL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Microsoft: Application Insights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00838A"/>
                </a:solidFill>
                <a:latin typeface="Arial"/>
              </a:rPr>
              <a:t>DAY 2 / COST-AWARE LAB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17365D"/>
                </a:solidFill>
                <a:latin typeface="Arial"/>
              </a:rPr>
              <a:t>Application Insights | useful telemetry, not unlimited logging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What drives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Telemetry volume and the workspace retention policy.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Extra tests, alerts and data exports may add charges.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Duplicate instrumentation can duplicate telemetry volume.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Student cost-saving habits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Generate a few known requests, not a load test.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Use scoped queries and short time windows.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Avoid document bodies, secrets and noisy debug logs.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Owner reviews sampling and caps; caps can hide incidents.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7365D"/>
                </a:solidFill>
                <a:latin typeface="Arial"/>
              </a:rPr>
              <a:t>Use approved existing resources. Ask before changing tiers, retention, capacity or shared settings.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636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66CC"/>
                </a:solidFill>
                <a:latin typeface="Arial"/>
                <a:hlinkClick r:id="rId2"/>
              </a:rPr>
              <a:t>Official service pricing / guidance (check current region and offer)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20256"/>
            <a:ext cx="10058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900" b="0">
                <a:solidFill>
                  <a:srgbClr val="17365D"/>
                </a:solidFill>
                <a:latin typeface="Arial"/>
              </a:rPr>
              <a:t>LBS | Attendee edition | Cost tips are guidance, not a quotation or spending cap.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17365D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TELEMETRY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10 | invoke, then find the 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Generate a known event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Use the approved Function endpoint.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Record UTC request time; keep key private.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Confirm the response before searching telemetry.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Find it in the portal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Open the linked workspace; inspect Tables.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If AppRequests exists, use a short time filter.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Confirm actual AppRoleName; inspect matching rows.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Allow ingestion delay; zero rows != missing table.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49824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545836"/>
            <a:ext cx="109728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rPr/>
              <a:t>A 200 response does not itself prove a request was collected in this workspace.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Logs guide section 6; instrumentation/real data still needs rehearsal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Logs / KQL handout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App Insights portal 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KQL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Exercise 07 | useful operators on real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Workspace query | confirm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AppRequests</a:t>
            </a:r>
          </a:p>
          <a:p>
            <a:pPr>
              <a:lnSpc>
                <a:spcPct val="100000"/>
              </a:lnSpc>
              <a:spcAft>
                <a:spcPts val="3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| where TimeGenerated &gt; ago(1h)</a:t>
            </a:r>
          </a:p>
          <a:p>
            <a:pPr>
              <a:lnSpc>
                <a:spcPct val="100000"/>
              </a:lnSpc>
              <a:spcAft>
                <a:spcPts val="3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| where AppRoleName =~ "fristAzureFunctionApp"</a:t>
            </a:r>
          </a:p>
          <a:p>
            <a:pPr>
              <a:lnSpc>
                <a:spcPct val="100000"/>
              </a:lnSpc>
              <a:spcAft>
                <a:spcPts val="3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| summarize Requests=count() by ResultCode</a:t>
            </a:r>
          </a:p>
          <a:p>
            <a:pPr>
              <a:lnSpc>
                <a:spcPct val="100000"/>
              </a:lnSpc>
              <a:spcAft>
                <a:spcPts val="3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| order by Requests desc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Questions and checks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Run only after confirming the role/table.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Which result codes appear?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Use project / take to inspect a small sample.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Missing data? Record it; do not invent a chart.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Section 6 plus Microsoft KQL tutorial; counts will vary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Logs / KQL handout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Microsoft: KQL tutorial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SCENARIO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A fictional document check, not a lending decision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User journey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Submit a fictional application reference + text file.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See processing status and a useful outcome.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Valid format -&gt; Completed.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Missing/mismatched fields -&gt; Needs review.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Safety 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customer, personal or financial data.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Training marker is not a privacy detector.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Current tracker accepts small UTF-8 .txt files.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credit scoring or identity verification.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Real-world training scenario and SampleData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3648456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Tracker setup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15384" y="6318504"/>
            <a:ext cx="3648456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Tracker README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73568" y="6318504"/>
            <a:ext cx="3648456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4"/>
              </a:rPr>
              <a:t>Fictional test cases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LOCAL SCENARIO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11 | the working local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Start locally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Open Labs\LbsDocumentTracker.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Use README Development-only startup commands.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Open localhost:5193; explain in-memory state.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Submit sample 1001, then sample 1002.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Prove the outcomes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1001: Completed.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1002: Needs review; explain missing document type.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Inspect dashboard and detail page.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Restart loses data: persistence is not implemented.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49824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545836"/>
            <a:ext cx="109728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rPr/>
              <a:t>IMPLEMENTED LOCAL DEMO | No Azure clients, no authentication; never host as-is.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README Run locally; SampleData/cases.json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18504"/>
            <a:ext cx="3648456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Tracker setup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5384" y="6318504"/>
            <a:ext cx="3648456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Tracker README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6318504"/>
            <a:ext cx="3648456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4"/>
              </a:rPr>
              <a:t>Fictional test cases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LOCAL SCENARIO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Exercise 08 | explain both validation outcomes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Do | 15-20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Run supplied local scenario checks or use the UI.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Try one valid and one invalid fictional case.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Use the exact file/reference pairing.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Capture status only, not document contents.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Checkpoint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Explain format rejection versus business Needs review.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Name what disappears on restart.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Identify the current in-memory queue/store.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Explain why this starter cannot be cloud-hosted unchanged.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Run scenario checks; expected outcomes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Tracker README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Fictional test cases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TARGET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From local memory to an Azure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Target data path | NOT implemented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Authenticated website accepts the upload.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Private Blob holds file; SQL holds state.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Durable dispatch queues a reference.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Function validates and updates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Target operational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Scoped managed identities reach dependencies.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Correlation links request, message and worker.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Retries are safe and observability is bounded.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Approved hosting is separate from the FC1 Function plan.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49824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545836"/>
            <a:ext cx="109728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rPr/>
              <a:t>TARGET DESIGN | Resource existence is not application integration.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Solid local path vs dashed Azure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Local / target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Tracker README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RELIABILITY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The dangerous gap: stored, but not queued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Failure sequence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Upload is stored successfully.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SQL status is written.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Queue send fails or process crashes.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Without recovery, work remains stranded.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Design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Use a durable dispatch / outbox strategy.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Track dispatch state; retry safely.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Worker uses a stable idempotency key.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Complete the message only after durable outcome.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Next Azure milestone; durable dispatch requirement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11164824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Tracker README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IDENTITY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The application is not the instructor's account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Separate identities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Attendee: exercises and approved deployment.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Web app: scoped SQL/Blob/queue operations.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Worker: scoped receive/read/update operations.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Pipeline: only approved deployment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Do not carry shortcuts forward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Function key is not end-user sign-in.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secrets embedded in code or templates.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Network reachability still applies to identities.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database-wide or subscription-wide grant by default.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Identity design before hosting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Microsoft: managed identities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Tracker README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00838A"/>
                </a:solidFill>
                <a:latin typeface="Arial"/>
              </a:rPr>
              <a:t>DAY 2 / COST-AWARE LAB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17365D"/>
                </a:solidFill>
                <a:latin typeface="Arial"/>
              </a:rPr>
              <a:t>Identity and networking | secure does not mean cost-free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What drives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Basic role assignment is not a reason to buy more capacity.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Premium identity features can require licences.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Private endpoints, gateways, firewalls and traffic may incur charges.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Student cost-saving habits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Use existing approved identities and network paths.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Do not disable security to save money.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Do not deploy a new gateway / firewall for a small lab.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Have the owner review security, dependencies and pricing together.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7365D"/>
                </a:solidFill>
                <a:latin typeface="Arial"/>
              </a:rPr>
              <a:t>Use approved existing resources. Ask before changing tiers, retention, capacity or shared settings.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636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66CC"/>
                </a:solidFill>
                <a:latin typeface="Arial"/>
                <a:hlinkClick r:id="rId2"/>
              </a:rPr>
              <a:t>Official service pricing / guidance (check current region and offer)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20256"/>
            <a:ext cx="10058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900" b="0">
                <a:solidFill>
                  <a:srgbClr val="17365D"/>
                </a:solidFill>
                <a:latin typeface="Arial"/>
              </a:rPr>
              <a:t>LBS | Attendee edition | Cost tips are guidance, not a quotation or spending cap.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17365D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838A"/>
                </a:solidFill>
                <a:latin typeface="Arial"/>
              </a:rPr>
              <a:t>DAY 2 / FOUNDATIONS / VISUAL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7365D"/>
                </a:solidFill>
                <a:latin typeface="Arial"/>
              </a:rPr>
              <a:t>Security | check the network, identity and permissions</a:t>
            </a:r>
          </a:p>
        </p:txBody>
      </p:sp>
      <p:pic>
        <p:nvPicPr>
          <p:cNvPr id="4" name="Picture 3" descr="azure-security-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463040"/>
            <a:ext cx="11384280" cy="5059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05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36578"/>
                </a:solidFill>
                <a:latin typeface="Arial"/>
              </a:rPr>
              <a:t>LBS | Azure developer training | 28 Oct 2026 | Simplified teaching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36578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12 | whole workflow, one reference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Only with the prepared Azure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Show architecture and target identities first.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Submit one approved fictional file.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Observe Blob + SQL, then message + worker.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Refresh user status; find correlated telemetry.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Evidence to show side by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Portal: exact container/table/queue evidence.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VS Code: relevant code and safe logs.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One reference connects the evidence chain.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Compare expected and actual states, not just HTTP 200.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49824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545836"/>
            <a:ext cx="109728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rPr/>
              <a:t>NOT LIVE-READY | If unprepared, use Demo 11 + architecture discussion instead.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Target-design references only; Azure integration runbook not yet 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18504"/>
            <a:ext cx="3648456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Tracker README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5384" y="6318504"/>
            <a:ext cx="3648456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Local / target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6318504"/>
            <a:ext cx="3648456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4"/>
              </a:rPr>
              <a:t>Fictional test cases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Exercise 09 | acceptance checklist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Success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Authorised user can submit fictional data.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File and state persist in assigned stores.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Work reaches a durable outcome.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UI and data evidence agree.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Recovery / protection 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duplicate processing outcome on redelivery.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Queue/send failure has a recovery route.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Other users' files/status cannot be accessed.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keys, raw document text or sensitive IDs in logs.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Design exercise until integrated implementation exists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Tracker README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Local / target 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CI/CD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A pipeline repeats what you have already 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Continuous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Commit / pull request triggers checks.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Restore -&gt; build -&gt; tests -&gt; package.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Fail visibly; keep deployable artifact traceable.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Controlled deployment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Approve environment and exact target.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Authenticate with federated workload identity.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Deploy artifact -&gt; run smoke test.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Retain a known-good rollback strategy.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Official references; no course pipeline implemented yet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Microsoft: Functions + GitHub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Microsoft: GitHub OIDC to Azure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CI/CD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13 | a safe pipeline walkthrough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Prepared repository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Point to trigger, jobs, tests and artifact.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Explain OIDC federation and scoped Azure role.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Show environment approval before deployment.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Inspect run logs without exposing credentials.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Prove the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Commit/run -&gt; artifact -&gt; deployment identity.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Smoke test confirms expected app behaviour.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Show how a failed test blocks release.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Explain rollback; do not assume every plan supports slots.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49824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545836"/>
            <a:ext cx="109728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rPr/>
              <a:t>PREPARATION REQUIRED | No live push/deployment is authorised by the deck.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Microsoft walkthroughs; pipeline demo requires separate preparation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Microsoft: Functions + GitHub Actions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Microsoft: GitHub OIDC to Azure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COST MANAGEMENT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Cost visibility is not an automatic spending cap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Read the bill with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Scope: approved subscription / resource group.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Filter by service, date and resource.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Compare actual and forecast; data can be delayed.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Use tags and ownership to explain spend.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Control the training footprint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Budget alerts notify; they do not stop spend.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Choose approved tiers before provisioning.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Stopping a host may not remove all charges.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Cleanup has an owner; shared resources are not disposable.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Official Cost Analysis and budgets guidance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Microsoft: Cost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Microsoft: budgets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00838A"/>
                </a:solidFill>
                <a:latin typeface="Arial"/>
              </a:rPr>
              <a:t>DAY 2 / COST-AWARE LAB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17365D"/>
                </a:solidFill>
                <a:latin typeface="Arial"/>
              </a:rPr>
              <a:t>Course-wide cost checklist | alerts are not a hard cap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What drives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Idle compute and supporting resources can still charge.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Pricing varies by region, tier, currency and agreement.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Budgets notify; they do not automatically stop spending.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828800"/>
            <a:ext cx="5431536" cy="3703320"/>
          </a:xfrm>
          <a:prstGeom prst="roundRect">
            <a:avLst/>
          </a:prstGeom>
          <a:solidFill>
            <a:srgbClr val="F1F5F8"/>
          </a:solidFill>
          <a:ln>
            <a:solidFill>
              <a:srgbClr val="D6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0838A"/>
                </a:solidFill>
                <a:latin typeface="Arial"/>
              </a:rPr>
              <a:t>Student cost-saving habits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56032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Check scope and date filters in Cost Analysis.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Tag ownership where permitted and record what you create.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Agree a cleanup owner and date before creating anything.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7365D"/>
                </a:solidFill>
                <a:latin typeface="Arial"/>
              </a:rPr>
              <a:t>• No resource deletion or budget changes without approval.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7365D"/>
                </a:solidFill>
                <a:latin typeface="Arial"/>
              </a:rPr>
              <a:t>Use approved existing resources. Ask before changing tiers, retention, capacity or shared settings.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636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0">
                <a:solidFill>
                  <a:srgbClr val="0066CC"/>
                </a:solidFill>
                <a:latin typeface="Arial"/>
                <a:hlinkClick r:id="rId2"/>
              </a:rPr>
              <a:t>Official service pricing / guidance (check current region and offer)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20256"/>
            <a:ext cx="10058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900" b="0">
                <a:solidFill>
                  <a:srgbClr val="17365D"/>
                </a:solidFill>
                <a:latin typeface="Arial"/>
              </a:rPr>
              <a:t>LBS | Attendee edition | Cost tips are guidance, not a quotation or spending cap.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000" b="0">
                <a:solidFill>
                  <a:srgbClr val="17365D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COST MANAGEMENT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14 | inspect cost without changing policy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Open Cost Management at authorised scope.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Select a date range and resource-group filter.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Group by service/resource; compare actual vs forecast.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Review budget concept; create only if approved.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Attendee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Which resources continue charging when idle?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What belongs to this lab versus shared hosting?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What can be deleted safely, by whom?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cost access? Explain with a labelled example, not invented live figures.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Official references; budget creation is optional and requires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3648456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Microsoft: Cost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15384" y="6318504"/>
            <a:ext cx="3648456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Microsoft: budgets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INFRASTRUCTURE AS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Bicep and ARM: two views of Azure deployment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Bicep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Declarative resource definitions.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Parameters express environment differences.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Build compiles Bicep into ARM JSON.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application binary is produced by Bicep build.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ARM deployment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Azure Resource Manager applies resource changes.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Validate and what-if before approved deployment.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Review role, scope, region, SKU and cost.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 what-if is a preview, not a guarantee of harmlessness.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Optional topic; no new course IaC template included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Microsoft: Bicep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Microsoft: what-if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INFRASTRUCTURE AS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15 | inspect before you deploy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Prepared template walkthrough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Open a reviewed training .bicep file.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Explain parameters and generated ARM JSON.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Build/lint; validate at the intended scope.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Review what-if additions, changes and deletions.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Decision checkpoint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Correct subscription/group/region?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No embedded credentials or broad network access?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Expected cost and role assignments approved?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Only then deploy; otherwise stop at preview.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49824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545836"/>
            <a:ext cx="1097280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rPr/>
              <a:t>OPTIONAL | Do not invent infrastructure live or treat a compiled file as a deployment.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Official guidance; prepared template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Microsoft: Bicep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Microsoft: what-if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AUTOMATION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PowerShell terminal != Azure PowerShell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Azure CLI | 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Commands can run inside PowerShell.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Own sign-in/session: az login.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JSON/TSV output; check $LASTEXITCODE.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Already used in Blob and KQL labs.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Azure PowerShell | Az 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Cmdlets such as Connect-AzAccount.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Own context; inspect before running commands.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Returns PowerShell objects.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Install only through approved tooling process.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Official getting-started references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Microsoft: Azure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Microsoft: Azure PowerShell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AUTOMATION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Demo 16 | same read-only lookup, two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Azure 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az account show --query name -o tsv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az group show --name "Training"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Check subscription before resource lookup.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600">
                <a:solidFill>
                  <a:srgbClr val="18334D"/>
                </a:solidFill>
                <a:latin typeface="Consolas"/>
              </a:defRPr>
            </a:pPr>
            <a:r>
              <a:rPr/>
              <a:t>No create / delete commands in this demo.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Azure PowerShell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Get-AzContext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Get-AzResourceGroup -Name "Training"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Requires approved Az module and sign-in.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Compare the returned group/location.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Official references; replace group with your assigned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Microsoft: Azure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4476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Microsoft: Azure PowerShell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OPERATING TIPS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Tips that prevent the most classroom failures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Before commands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Open the correct folder and a fresh terminal.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Quote paths; replace placeholders.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Check context and current IP.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Keep a read-only check ready.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Before declaring success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Check native exit codes and expected output.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Distinguish no rows from a missing table.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Separate local, cloud, UI and automation evidence.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Record Blocked honestly and keep a fallback.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Component troubleshooting; evidence boundaries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5527548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Student route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CLOSE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D6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Finish with a plan, not leftover resources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Attendee exit ticket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Trace one reference across the target workflow.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Explain idempotency and durable dispatch.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Name one pipeline and one cost safeguard.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Identify what remains to be implemented.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Instructor cleanup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Stop only your own local processes.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Remove temporary data/rules only with approval.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Do not delete shared hosting, SQL or workspaces.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Keep evidence and assign follow-up owners.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Cleanup guidance and readiness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15384" y="6318504"/>
            <a:ext cx="3648456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Student route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73568" y="6318504"/>
            <a:ext cx="3648456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4"/>
              </a:rPr>
              <a:t>Tracker README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28016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8686800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200" b="1">
                <a:solidFill>
                  <a:srgbClr val="007F83"/>
                </a:solidFill>
                <a:latin typeface="Aptos"/>
              </a:defRPr>
            </a:pPr>
            <a:r>
              <a:rPr/>
              <a:t>DAY 2  /  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48088" y="283464"/>
            <a:ext cx="1883664" cy="347472"/>
          </a:xfrm>
          <a:prstGeom prst="roundRect">
            <a:avLst>
              <a:gd name="adj" fmla="val 8000"/>
            </a:avLst>
          </a:prstGeom>
          <a:solidFill>
            <a:srgbClr val="11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333756"/>
            <a:ext cx="164592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59536"/>
            <a:ext cx="11247120" cy="84124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900" b="1">
                <a:solidFill>
                  <a:srgbClr val="11243A"/>
                </a:solidFill>
                <a:latin typeface="Aptos"/>
              </a:defRPr>
            </a:pPr>
            <a:r>
              <a:rPr/>
              <a:t>Reference map | prepared versus planned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Existing local documents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Start Here and individual component handouts.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Tracker setup guide, README and sample cases.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Architecture distinguishes local from target.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Record your own exercise results and limitations.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28800"/>
            <a:ext cx="5431536" cy="3456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011680"/>
            <a:ext cx="4956048" cy="56692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2100" b="1">
                <a:solidFill>
                  <a:srgbClr val="007F83"/>
                </a:solidFill>
                <a:latin typeface="Aptos"/>
              </a:defRPr>
            </a:pPr>
            <a:r>
              <a:rPr/>
              <a:t>Official references for planned demos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633472"/>
            <a:ext cx="4956048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Service Bus and real telemetry.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GitHub Actions / OIDC and cost budgets.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Bicep / what-if and CLI / Az PowerShell.</a:t>
            </a:r>
          </a:p>
          <a:p>
            <a:pPr>
              <a:lnSpc>
                <a:spcPct val="100000"/>
              </a:lnSpc>
              <a:spcAft>
                <a:spcPts val="600"/>
              </a:spcAft>
              <a:defRPr sz="1800">
                <a:solidFill>
                  <a:srgbClr val="18334D"/>
                </a:solidFill>
                <a:latin typeface="Aptos"/>
              </a:defRPr>
            </a:pPr>
            <a:r>
              <a:rPr/>
              <a:t>• Official tutorials are not completed course labs.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71032"/>
            <a:ext cx="11265408" cy="274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0">
                <a:solidFill>
                  <a:srgbClr val="516579"/>
                </a:solidFill>
                <a:latin typeface="Aptos"/>
              </a:defRPr>
            </a:pPr>
            <a:r>
              <a:rPr/>
              <a:t>REFERENCE / Each demo/exercise slide has its own clickable references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18504"/>
            <a:ext cx="270891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2"/>
              </a:rPr>
              <a:t>Student route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5838" y="6318504"/>
            <a:ext cx="270891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007F83"/>
                </a:solidFill>
                <a:latin typeface="Aptos"/>
              </a:defRPr>
            </a:pPr>
            <a:r>
              <a:rPr u="sng">
                <a:hlinkClick r:id="rId3"/>
              </a:rPr>
              <a:t>Tracker README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629400"/>
            <a:ext cx="9784080" cy="16459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900" b="0">
                <a:solidFill>
                  <a:srgbClr val="516579"/>
                </a:solidFill>
                <a:latin typeface="Aptos"/>
              </a:defRPr>
            </a:pPr>
            <a:r>
              <a:rPr/>
              <a:t>LBS  |  Azure developer training  |  28 Oct 2026  |  Fictional data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611112"/>
            <a:ext cx="54864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defRPr sz="1100" b="1">
                <a:solidFill>
                  <a:srgbClr val="516579"/>
                </a:solidFill>
                <a:latin typeface="Aptos"/>
              </a:defRPr>
            </a:pPr>
            <a:r>
              <a:rPr/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LBS Azure Developer Training | Day 2</dc:title>
  <dc:subject>Individual component exercises, then realistic workflow and operations</dc:subject>
  <dc:creator>LBS Training</dc:creator>
  <cp:keywords>Azure, portal, VS Code, beginner, fictional data</cp:keywords>
  <dc:description>generated using python-pptx</dc:description>
  <cp:lastModifiedBy>LBS Training</cp:lastModifiedBy>
  <cp:revision>1</cp:revision>
  <dcterms:created xsi:type="dcterms:W3CDTF">2013-01-27T09:14:16Z</dcterms:created>
  <dcterms:modified xsi:type="dcterms:W3CDTF">2013-01-27T09:15:58Z</dcterms:modified>
  <cp:category/>
</cp:coreProperties>
</file>